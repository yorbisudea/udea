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6858000" cx="12192000"/>
  <p:notesSz cx="6858000" cy="12192000"/>
  <p:embeddedFontLst>
    <p:embeddedFont>
      <p:font typeface="Roboto"/>
      <p:regular r:id="rId38"/>
      <p:bold r:id="rId39"/>
      <p:italic r:id="rId40"/>
      <p:boldItalic r:id="rId41"/>
    </p:embeddedFont>
    <p:embeddedFont>
      <p:font typeface="Montserrat"/>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6" roundtripDataSignature="AMtx7mi5Xiar9u1HV8o+bLvR70CnAX2d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A3FA55-D003-4504-8CD8-5BCD379B2466}">
  <a:tblStyle styleId="{2CA3FA55-D003-4504-8CD8-5BCD379B246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38C2099B-79C9-4A69-BC85-5F42607CA374}"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4.xml"/><Relationship Id="rId42" Type="http://schemas.openxmlformats.org/officeDocument/2006/relationships/font" Target="fonts/Montserrat-regular.fntdata"/><Relationship Id="rId41" Type="http://schemas.openxmlformats.org/officeDocument/2006/relationships/font" Target="fonts/Roboto-boldItalic.fntdata"/><Relationship Id="rId22" Type="http://schemas.openxmlformats.org/officeDocument/2006/relationships/slide" Target="slides/slide16.xml"/><Relationship Id="rId44" Type="http://schemas.openxmlformats.org/officeDocument/2006/relationships/font" Target="fonts/Montserrat-italic.fntdata"/><Relationship Id="rId21" Type="http://schemas.openxmlformats.org/officeDocument/2006/relationships/slide" Target="slides/slide15.xml"/><Relationship Id="rId43" Type="http://schemas.openxmlformats.org/officeDocument/2006/relationships/font" Target="fonts/Montserrat-bold.fntdata"/><Relationship Id="rId24" Type="http://schemas.openxmlformats.org/officeDocument/2006/relationships/slide" Target="slides/slide18.xml"/><Relationship Id="rId46" Type="http://customschemas.google.com/relationships/presentationmetadata" Target="metadata"/><Relationship Id="rId23" Type="http://schemas.openxmlformats.org/officeDocument/2006/relationships/slide" Target="slides/slide17.xml"/><Relationship Id="rId45" Type="http://schemas.openxmlformats.org/officeDocument/2006/relationships/font" Target="fonts/Montserrat-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bold.fntdata"/><Relationship Id="rId16" Type="http://schemas.openxmlformats.org/officeDocument/2006/relationships/slide" Target="slides/slide10.xml"/><Relationship Id="rId38" Type="http://schemas.openxmlformats.org/officeDocument/2006/relationships/font" Target="fonts/Robo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 name="Shape 9"/>
        <p:cNvGrpSpPr/>
        <p:nvPr/>
      </p:nvGrpSpPr>
      <p:grpSpPr>
        <a:xfrm>
          <a:off x="0" y="0"/>
          <a:ext cx="0" cy="0"/>
          <a:chOff x="0" y="0"/>
          <a:chExt cx="0" cy="0"/>
        </a:xfrm>
      </p:grpSpPr>
      <p:sp>
        <p:nvSpPr>
          <p:cNvPr id="10" name="Google Shape;1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 name="Google Shape;1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2" name="Google Shape;1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 name="Google Shape;4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47" name="Google Shape;4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36" name="Google Shape;13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86323efb1_2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g3a86323efb1_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61" name="Google Shape;161;g3a86323efb1_2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86323efb1_1_23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a86323efb1_1_23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866401fb7_1_4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866401fb7_1_4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866401fb7_1_0: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a866401fb7_1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99" name="Google Shape;199;g3a866401fb7_1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866401fb7_1_86: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g3a866401fb7_1_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227" name="Google Shape;227;g3a866401fb7_1_8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a86323efb1_2_137: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290" name="Google Shape;290;g3a86323efb1_2_137: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291" name="Google Shape;291;g3a86323efb1_2_137: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866401fb7_1_51: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g3a866401fb7_1_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315" name="Google Shape;315;g3a866401fb7_1_5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a86323efb1_2_50: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338" name="Google Shape;338;g3a86323efb1_2_50: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339" name="Google Shape;339;g3a86323efb1_2_50: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86323efb1_2_180: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8" name="Google Shape;418;g3a86323efb1_2_180: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419" name="Google Shape;419;g3a86323efb1_2_18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a866401fb7_1_217: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446" name="Google Shape;446;g3a866401fb7_1_217: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447" name="Google Shape;447;g3a866401fb7_1_217: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a86323efb1_2_216:notes"/>
          <p:cNvSpPr txBox="1"/>
          <p:nvPr>
            <p:ph idx="1" type="body"/>
          </p:nvPr>
        </p:nvSpPr>
        <p:spPr>
          <a:xfrm>
            <a:off x="914400" y="5867400"/>
            <a:ext cx="7315200" cy="480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g3a86323efb1_2_216: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a866401fb7_1_28: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3a866401fb7_1_28: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La curva ROC grafica TPR vs FPR para todos los umbrales.</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AUC = 1.0 → modelo perfecto. AUC = 0.5 → aleatorio.</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Se marca el umbral óptimo de Youden: max(TPR − FPR).</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En seguridad vial, maximizar Recall de Muertos es prioritario sobre Precisión.</a:t>
            </a:r>
            <a:endParaRPr/>
          </a:p>
        </p:txBody>
      </p:sp>
      <p:sp>
        <p:nvSpPr>
          <p:cNvPr id="550" name="Google Shape;550;g3a866401fb7_1_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5:notes"/>
          <p:cNvSpPr/>
          <p:nvPr>
            <p:ph idx="2" type="sldImg"/>
          </p:nvPr>
        </p:nvSpPr>
        <p:spPr>
          <a:xfrm>
            <a:off x="-1166813" y="0"/>
            <a:ext cx="5334001"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1" name="Google Shape;56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562" name="Google Shape;562;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e266ac69b1_2_1: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583" name="Google Shape;583;g3e266ac69b1_2_1: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584" name="Google Shape;584;g3e266ac69b1_2_1: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e266ac69b1_2_97: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597" name="Google Shape;597;g3e266ac69b1_2_97: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598" name="Google Shape;598;g3e266ac69b1_2_97: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19: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7" name="Google Shape;677;p19: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678" name="Google Shape;678;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1:notes"/>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2" name="Google Shape;702;p2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228600" lvl="0" marL="457200" rtl="0" algn="l">
              <a:lnSpc>
                <a:spcPct val="100000"/>
              </a:lnSpc>
              <a:spcBef>
                <a:spcPts val="0"/>
              </a:spcBef>
              <a:spcAft>
                <a:spcPts val="0"/>
              </a:spcAft>
              <a:buSzPts val="1100"/>
              <a:buNone/>
            </a:pPr>
            <a:r>
              <a:t/>
            </a:r>
            <a:endParaRPr/>
          </a:p>
        </p:txBody>
      </p:sp>
      <p:sp>
        <p:nvSpPr>
          <p:cNvPr id="703" name="Google Shape;703;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e266ac69b1_2_81:notes"/>
          <p:cNvSpPr/>
          <p:nvPr>
            <p:ph idx="2" type="sldImg"/>
          </p:nvPr>
        </p:nvSpPr>
        <p:spPr>
          <a:xfrm>
            <a:off x="-635000" y="914400"/>
            <a:ext cx="81279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1" name="Google Shape;731;g3e266ac69b1_2_81: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La curva ROC grafica TPR vs FPR para todos los umbrales.</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AUC = 1.0 → modelo perfecto. AUC = 0.5 → aleatorio.</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Se marca el umbral óptimo de Youden: max(TPR − FPR).</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En seguridad vial, maximizar Recall de Muertos es prioritario sobre Precisión.</a:t>
            </a:r>
            <a:endParaRPr/>
          </a:p>
        </p:txBody>
      </p:sp>
      <p:sp>
        <p:nvSpPr>
          <p:cNvPr id="732" name="Google Shape;732;g3e266ac69b1_2_8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86323efb1_2_25:notes"/>
          <p:cNvSpPr/>
          <p:nvPr>
            <p:ph idx="2" type="sldImg"/>
          </p:nvPr>
        </p:nvSpPr>
        <p:spPr>
          <a:xfrm>
            <a:off x="-1166813" y="0"/>
            <a:ext cx="5334000" cy="3000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3" name="Google Shape;743;g3a86323efb1_2_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744" name="Google Shape;744;g3a86323efb1_2_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a86323efb1_1_84: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763" name="Google Shape;763;g3a86323efb1_1_84: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764" name="Google Shape;764;g3a86323efb1_1_84: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a86323efb1_1_56: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851" name="Google Shape;851;g3a86323efb1_1_56: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852" name="Google Shape;852;g3a86323efb1_1_56: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a86323efb1_1_236: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877" name="Google Shape;877;g3a86323efb1_1_236: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878" name="Google Shape;878;g3a86323efb1_1_236: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a86323efb1_1_287:notes"/>
          <p:cNvSpPr txBox="1"/>
          <p:nvPr>
            <p:ph idx="1" type="body"/>
          </p:nvPr>
        </p:nvSpPr>
        <p:spPr>
          <a:xfrm>
            <a:off x="914400" y="5867400"/>
            <a:ext cx="7315200" cy="480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3a86323efb1_1_287: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3a86323efb1_1_378:notes"/>
          <p:cNvSpPr txBox="1"/>
          <p:nvPr>
            <p:ph idx="1" type="body"/>
          </p:nvPr>
        </p:nvSpPr>
        <p:spPr>
          <a:xfrm>
            <a:off x="914400" y="5867400"/>
            <a:ext cx="7315200" cy="480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g3a86323efb1_1_378: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p22:notes"/>
          <p:cNvSpPr/>
          <p:nvPr>
            <p:ph idx="2" type="sldImg"/>
          </p:nvPr>
        </p:nvSpPr>
        <p:spPr>
          <a:xfrm>
            <a:off x="-635000" y="914400"/>
            <a:ext cx="8128000"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0" name="Google Shape;1050;p22:notes"/>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La curva ROC grafica TPR vs FPR para todos los umbrales.</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AUC = 1.0 → modelo perfecto. AUC = 0.5 → aleatorio.</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Se marca el umbral óptimo de Youden: max(TPR − FPR).</a:t>
            </a:r>
            <a:endParaRPr sz="1050">
              <a:solidFill>
                <a:schemeClr val="dk1"/>
              </a:solidFill>
              <a:latin typeface="Calibri"/>
              <a:ea typeface="Calibri"/>
              <a:cs typeface="Calibri"/>
              <a:sym typeface="Calibri"/>
            </a:endParaRPr>
          </a:p>
          <a:p>
            <a:pPr indent="-342900" lvl="0" marL="342900" rtl="0" algn="l">
              <a:spcBef>
                <a:spcPts val="0"/>
              </a:spcBef>
              <a:spcAft>
                <a:spcPts val="0"/>
              </a:spcAft>
              <a:buClr>
                <a:srgbClr val="1E293B"/>
              </a:buClr>
              <a:buSzPts val="1050"/>
              <a:buFont typeface="Calibri"/>
              <a:buChar char="•"/>
            </a:pPr>
            <a:r>
              <a:rPr lang="en-US" sz="1050">
                <a:solidFill>
                  <a:srgbClr val="1E293B"/>
                </a:solidFill>
                <a:latin typeface="Calibri"/>
                <a:ea typeface="Calibri"/>
                <a:cs typeface="Calibri"/>
                <a:sym typeface="Calibri"/>
              </a:rPr>
              <a:t>En seguridad vial, maximizar Recall de Muertos es prioritario sobre Precisión.</a:t>
            </a:r>
            <a:endParaRPr/>
          </a:p>
        </p:txBody>
      </p:sp>
      <p:sp>
        <p:nvSpPr>
          <p:cNvPr id="1051" name="Google Shape;1051;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a86323efb1_1_466:notes"/>
          <p:cNvSpPr/>
          <p:nvPr>
            <p:ph idx="2" type="sldImg"/>
          </p:nvPr>
        </p:nvSpPr>
        <p:spPr>
          <a:xfrm>
            <a:off x="914400" y="1524000"/>
            <a:ext cx="7315200" cy="4114800"/>
          </a:xfrm>
          <a:custGeom>
            <a:rect b="b" l="l" r="r" t="t"/>
            <a:pathLst>
              <a:path extrusionOk="0" h="120000" w="120000">
                <a:moveTo>
                  <a:pt x="0" y="0"/>
                </a:moveTo>
                <a:lnTo>
                  <a:pt x="120000" y="0"/>
                </a:lnTo>
                <a:lnTo>
                  <a:pt x="120000" y="120000"/>
                </a:lnTo>
                <a:lnTo>
                  <a:pt x="0" y="120000"/>
                </a:lnTo>
                <a:close/>
              </a:path>
            </a:pathLst>
          </a:custGeom>
          <a:noFill/>
          <a:ln cap="flat" cmpd="sng" w="16925">
            <a:solidFill>
              <a:srgbClr val="000000"/>
            </a:solidFill>
            <a:prstDash val="solid"/>
            <a:round/>
            <a:headEnd len="sm" w="sm" type="none"/>
            <a:tailEnd len="sm" w="sm" type="none"/>
          </a:ln>
        </p:spPr>
      </p:sp>
      <p:sp>
        <p:nvSpPr>
          <p:cNvPr id="1062" name="Google Shape;1062;g3a86323efb1_1_466:notes"/>
          <p:cNvSpPr txBox="1"/>
          <p:nvPr>
            <p:ph idx="1" type="body"/>
          </p:nvPr>
        </p:nvSpPr>
        <p:spPr>
          <a:xfrm>
            <a:off x="914400" y="5867400"/>
            <a:ext cx="7315200" cy="4800900"/>
          </a:xfrm>
          <a:prstGeom prst="rect">
            <a:avLst/>
          </a:prstGeom>
          <a:noFill/>
          <a:ln>
            <a:noFill/>
          </a:ln>
        </p:spPr>
        <p:txBody>
          <a:bodyPr anchorCtr="0" anchor="t" bIns="60925" lIns="121900" spcFirstLastPara="1" rIns="121900" wrap="square" tIns="60925">
            <a:noAutofit/>
          </a:bodyPr>
          <a:lstStyle/>
          <a:p>
            <a:pPr indent="0" lvl="0" marL="0" rtl="0" algn="l">
              <a:spcBef>
                <a:spcPts val="0"/>
              </a:spcBef>
              <a:spcAft>
                <a:spcPts val="0"/>
              </a:spcAft>
              <a:buNone/>
            </a:pPr>
            <a:r>
              <a:t/>
            </a:r>
            <a:endParaRPr/>
          </a:p>
        </p:txBody>
      </p:sp>
      <p:sp>
        <p:nvSpPr>
          <p:cNvPr id="1063" name="Google Shape;1063;g3a86323efb1_1_466:notes"/>
          <p:cNvSpPr txBox="1"/>
          <p:nvPr>
            <p:ph idx="12" type="sldNum"/>
          </p:nvPr>
        </p:nvSpPr>
        <p:spPr>
          <a:xfrm>
            <a:off x="5179484" y="11580284"/>
            <a:ext cx="3962400" cy="611700"/>
          </a:xfrm>
          <a:prstGeom prst="rect">
            <a:avLst/>
          </a:prstGeom>
          <a:noFill/>
          <a:ln>
            <a:noFill/>
          </a:ln>
        </p:spPr>
        <p:txBody>
          <a:bodyPr anchorCtr="0" anchor="b" bIns="60925" lIns="121900" spcFirstLastPara="1" rIns="121900" wrap="square" tIns="60925">
            <a:noAutofit/>
          </a:bodyPr>
          <a:lstStyle/>
          <a:p>
            <a:pPr indent="0" lvl="0" marL="0" rtl="0" algn="r">
              <a:spcBef>
                <a:spcPts val="0"/>
              </a:spcBef>
              <a:spcAft>
                <a:spcPts val="0"/>
              </a:spcAft>
              <a:buNone/>
            </a:pPr>
            <a:fld id="{00000000-1234-1234-1234-123412341234}" type="slidenum">
              <a:rPr lang="en-US" sz="1900"/>
              <a:t>‹#›</a:t>
            </a:fld>
            <a:endParaRPr sz="19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3e1c05bb847_1_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6" name="Google Shape;1096;g3e1c05bb847_1_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097" name="Google Shape;1097;g3e1c05bb847_1_5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e1bc356872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0" name="Google Shape;1130;g3e1bc356872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sz="1200">
              <a:solidFill>
                <a:schemeClr val="dk1"/>
              </a:solidFill>
              <a:latin typeface="Arial"/>
              <a:ea typeface="Arial"/>
              <a:cs typeface="Arial"/>
              <a:sym typeface="Arial"/>
            </a:endParaRPr>
          </a:p>
        </p:txBody>
      </p:sp>
      <p:sp>
        <p:nvSpPr>
          <p:cNvPr id="1131" name="Google Shape;1131;g3e1bc356872_0_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8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 name="Shape 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 name="Shape 7"/>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3.png"/><Relationship Id="rId10" Type="http://schemas.openxmlformats.org/officeDocument/2006/relationships/image" Target="../media/image7.png"/><Relationship Id="rId9"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9.png"/><Relationship Id="rId7" Type="http://schemas.openxmlformats.org/officeDocument/2006/relationships/image" Target="../media/image8.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png"/><Relationship Id="rId4" Type="http://schemas.openxmlformats.org/officeDocument/2006/relationships/image" Target="../media/image24.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 name="Shape 13"/>
        <p:cNvGrpSpPr/>
        <p:nvPr/>
      </p:nvGrpSpPr>
      <p:grpSpPr>
        <a:xfrm>
          <a:off x="0" y="0"/>
          <a:ext cx="0" cy="0"/>
          <a:chOff x="0" y="0"/>
          <a:chExt cx="0" cy="0"/>
        </a:xfrm>
      </p:grpSpPr>
      <p:pic>
        <p:nvPicPr>
          <p:cNvPr descr="preencoded.png" id="14" name="Google Shape;14;p1"/>
          <p:cNvPicPr preferRelativeResize="0"/>
          <p:nvPr/>
        </p:nvPicPr>
        <p:blipFill rotWithShape="1">
          <a:blip r:embed="rId3">
            <a:alphaModFix/>
          </a:blip>
          <a:srcRect b="-1" l="0" r="0" t="-1"/>
          <a:stretch/>
        </p:blipFill>
        <p:spPr>
          <a:xfrm>
            <a:off x="0" y="0"/>
            <a:ext cx="12191695" cy="6858000"/>
          </a:xfrm>
          <a:prstGeom prst="rect">
            <a:avLst/>
          </a:prstGeom>
          <a:noFill/>
          <a:ln>
            <a:noFill/>
          </a:ln>
        </p:spPr>
      </p:pic>
      <p:pic>
        <p:nvPicPr>
          <p:cNvPr descr="preencoded.png" id="15" name="Google Shape;15;p1"/>
          <p:cNvPicPr preferRelativeResize="0"/>
          <p:nvPr/>
        </p:nvPicPr>
        <p:blipFill rotWithShape="1">
          <a:blip r:embed="rId3">
            <a:alphaModFix/>
          </a:blip>
          <a:srcRect b="-1" l="0" r="0" t="-1"/>
          <a:stretch/>
        </p:blipFill>
        <p:spPr>
          <a:xfrm>
            <a:off x="0" y="0"/>
            <a:ext cx="12191695" cy="6858000"/>
          </a:xfrm>
          <a:prstGeom prst="rect">
            <a:avLst/>
          </a:prstGeom>
          <a:noFill/>
          <a:ln>
            <a:noFill/>
          </a:ln>
        </p:spPr>
      </p:pic>
      <p:pic>
        <p:nvPicPr>
          <p:cNvPr descr="preencoded.png" id="16" name="Google Shape;16;p1"/>
          <p:cNvPicPr preferRelativeResize="0"/>
          <p:nvPr/>
        </p:nvPicPr>
        <p:blipFill rotWithShape="1">
          <a:blip r:embed="rId4">
            <a:alphaModFix amt="10000"/>
          </a:blip>
          <a:srcRect b="-1" l="0" r="0" t="-1"/>
          <a:stretch/>
        </p:blipFill>
        <p:spPr>
          <a:xfrm>
            <a:off x="0" y="0"/>
            <a:ext cx="12191695" cy="6858000"/>
          </a:xfrm>
          <a:prstGeom prst="rect">
            <a:avLst/>
          </a:prstGeom>
          <a:noFill/>
          <a:ln>
            <a:noFill/>
          </a:ln>
        </p:spPr>
      </p:pic>
      <p:pic>
        <p:nvPicPr>
          <p:cNvPr descr="preencoded.png" id="17" name="Google Shape;17;p1"/>
          <p:cNvPicPr preferRelativeResize="0"/>
          <p:nvPr/>
        </p:nvPicPr>
        <p:blipFill rotWithShape="1">
          <a:blip r:embed="rId5">
            <a:alphaModFix/>
          </a:blip>
          <a:srcRect b="-1" l="0" r="0" t="-1"/>
          <a:stretch/>
        </p:blipFill>
        <p:spPr>
          <a:xfrm>
            <a:off x="0" y="0"/>
            <a:ext cx="12191695" cy="6858000"/>
          </a:xfrm>
          <a:prstGeom prst="rect">
            <a:avLst/>
          </a:prstGeom>
          <a:noFill/>
          <a:ln>
            <a:noFill/>
          </a:ln>
        </p:spPr>
      </p:pic>
      <p:sp>
        <p:nvSpPr>
          <p:cNvPr id="18" name="Google Shape;18;p1"/>
          <p:cNvSpPr txBox="1"/>
          <p:nvPr/>
        </p:nvSpPr>
        <p:spPr>
          <a:xfrm>
            <a:off x="771454" y="841520"/>
            <a:ext cx="10649100" cy="110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3600"/>
              <a:buFont typeface="Montserrat"/>
              <a:buNone/>
            </a:pPr>
            <a:r>
              <a:rPr b="1" i="0" lang="en-US" sz="3600" u="none" cap="none" strike="noStrike">
                <a:solidFill>
                  <a:srgbClr val="FFFFFF"/>
                </a:solidFill>
                <a:latin typeface="Montserrat"/>
                <a:ea typeface="Montserrat"/>
                <a:cs typeface="Montserrat"/>
                <a:sym typeface="Montserrat"/>
              </a:rPr>
              <a:t> Accidentabilidad Vial en el </a:t>
            </a:r>
            <a:r>
              <a:rPr b="1" i="0" lang="en-US" sz="3600" u="none" cap="none" strike="noStrike">
                <a:solidFill>
                  <a:srgbClr val="FBBF24"/>
                </a:solidFill>
                <a:latin typeface="Montserrat"/>
                <a:ea typeface="Montserrat"/>
                <a:cs typeface="Montserrat"/>
                <a:sym typeface="Montserrat"/>
              </a:rPr>
              <a:t>Municipio de Envigado</a:t>
            </a:r>
            <a:endParaRPr b="0" i="0" sz="3600" u="none" cap="none" strike="noStrike">
              <a:solidFill>
                <a:schemeClr val="dk1"/>
              </a:solidFill>
              <a:latin typeface="Calibri"/>
              <a:ea typeface="Calibri"/>
              <a:cs typeface="Calibri"/>
              <a:sym typeface="Calibri"/>
            </a:endParaRPr>
          </a:p>
        </p:txBody>
      </p:sp>
      <p:sp>
        <p:nvSpPr>
          <p:cNvPr id="19" name="Google Shape;19;p1"/>
          <p:cNvSpPr txBox="1"/>
          <p:nvPr/>
        </p:nvSpPr>
        <p:spPr>
          <a:xfrm>
            <a:off x="0" y="2151125"/>
            <a:ext cx="12191700" cy="1105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1100"/>
              <a:buFont typeface="Arial"/>
              <a:buNone/>
            </a:pPr>
            <a:r>
              <a:rPr b="1" i="0" lang="en-US" sz="2500" u="none" cap="none" strike="noStrike">
                <a:solidFill>
                  <a:srgbClr val="94A3B8"/>
                </a:solidFill>
                <a:latin typeface="Montserrat"/>
                <a:ea typeface="Montserrat"/>
                <a:cs typeface="Montserrat"/>
                <a:sym typeface="Montserrat"/>
              </a:rPr>
              <a:t>Especialización en Analítica y Ciencia de Datos </a:t>
            </a:r>
            <a:endParaRPr b="1" sz="2500">
              <a:solidFill>
                <a:srgbClr val="94A3B8"/>
              </a:solidFill>
              <a:latin typeface="Montserrat"/>
              <a:ea typeface="Montserrat"/>
              <a:cs typeface="Montserrat"/>
              <a:sym typeface="Montserrat"/>
            </a:endParaRPr>
          </a:p>
          <a:p>
            <a:pPr indent="0" lvl="0" marL="0" marR="0" rtl="0" algn="ctr">
              <a:lnSpc>
                <a:spcPct val="100000"/>
              </a:lnSpc>
              <a:spcBef>
                <a:spcPts val="0"/>
              </a:spcBef>
              <a:spcAft>
                <a:spcPts val="0"/>
              </a:spcAft>
              <a:buClr>
                <a:schemeClr val="dk1"/>
              </a:buClr>
              <a:buSzPts val="1100"/>
              <a:buFont typeface="Arial"/>
              <a:buNone/>
            </a:pPr>
            <a:r>
              <a:rPr b="1" i="0" lang="en-US" sz="2500" u="none" cap="none" strike="noStrike">
                <a:solidFill>
                  <a:srgbClr val="94A3B8"/>
                </a:solidFill>
                <a:latin typeface="Montserrat"/>
                <a:ea typeface="Montserrat"/>
                <a:cs typeface="Montserrat"/>
                <a:sym typeface="Montserrat"/>
              </a:rPr>
              <a:t>Aprendizaje Automático I</a:t>
            </a:r>
            <a:endParaRPr b="1" i="0" sz="2500" u="none" cap="none" strike="noStrike">
              <a:solidFill>
                <a:srgbClr val="94A3B8"/>
              </a:solidFill>
              <a:latin typeface="Montserrat"/>
              <a:ea typeface="Montserrat"/>
              <a:cs typeface="Montserrat"/>
              <a:sym typeface="Montserrat"/>
            </a:endParaRPr>
          </a:p>
        </p:txBody>
      </p:sp>
      <p:sp>
        <p:nvSpPr>
          <p:cNvPr id="20" name="Google Shape;20;p1"/>
          <p:cNvSpPr/>
          <p:nvPr/>
        </p:nvSpPr>
        <p:spPr>
          <a:xfrm>
            <a:off x="2376526" y="3397947"/>
            <a:ext cx="1572000" cy="990300"/>
          </a:xfrm>
          <a:prstGeom prst="roundRect">
            <a:avLst>
              <a:gd fmla="val 21308"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 name="Google Shape;21;p1"/>
          <p:cNvSpPr txBox="1"/>
          <p:nvPr/>
        </p:nvSpPr>
        <p:spPr>
          <a:xfrm>
            <a:off x="2633472" y="3597287"/>
            <a:ext cx="1058100" cy="37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BBF24"/>
              </a:buClr>
              <a:buSzPts val="2400"/>
              <a:buFont typeface="Montserrat"/>
              <a:buNone/>
            </a:pPr>
            <a:r>
              <a:rPr b="1" i="0" lang="en-US" sz="2400" u="none" cap="none" strike="noStrike">
                <a:solidFill>
                  <a:srgbClr val="FBBF24"/>
                </a:solidFill>
                <a:latin typeface="Montserrat"/>
                <a:ea typeface="Montserrat"/>
                <a:cs typeface="Montserrat"/>
                <a:sym typeface="Montserrat"/>
              </a:rPr>
              <a:t>9,326</a:t>
            </a:r>
            <a:endParaRPr b="0" i="0" sz="2400" u="none" cap="none" strike="noStrike">
              <a:solidFill>
                <a:schemeClr val="dk1"/>
              </a:solidFill>
              <a:latin typeface="Calibri"/>
              <a:ea typeface="Calibri"/>
              <a:cs typeface="Calibri"/>
              <a:sym typeface="Calibri"/>
            </a:endParaRPr>
          </a:p>
        </p:txBody>
      </p:sp>
      <p:sp>
        <p:nvSpPr>
          <p:cNvPr id="22" name="Google Shape;22;p1"/>
          <p:cNvSpPr txBox="1"/>
          <p:nvPr/>
        </p:nvSpPr>
        <p:spPr>
          <a:xfrm>
            <a:off x="2578608" y="4016996"/>
            <a:ext cx="1167600" cy="171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ontserrat"/>
              <a:buNone/>
            </a:pPr>
            <a:r>
              <a:rPr b="0" i="0" lang="en-US" sz="1000" u="none" cap="none" strike="noStrike">
                <a:solidFill>
                  <a:srgbClr val="94A3B8"/>
                </a:solidFill>
                <a:latin typeface="Montserrat"/>
                <a:ea typeface="Montserrat"/>
                <a:cs typeface="Montserrat"/>
                <a:sym typeface="Montserrat"/>
              </a:rPr>
              <a:t>Total Registros</a:t>
            </a:r>
            <a:endParaRPr b="0" i="0" sz="1000" u="none" cap="none" strike="noStrike">
              <a:solidFill>
                <a:schemeClr val="dk1"/>
              </a:solidFill>
              <a:latin typeface="Calibri"/>
              <a:ea typeface="Calibri"/>
              <a:cs typeface="Calibri"/>
              <a:sym typeface="Calibri"/>
            </a:endParaRPr>
          </a:p>
        </p:txBody>
      </p:sp>
      <p:sp>
        <p:nvSpPr>
          <p:cNvPr id="23" name="Google Shape;23;p1"/>
          <p:cNvSpPr/>
          <p:nvPr/>
        </p:nvSpPr>
        <p:spPr>
          <a:xfrm>
            <a:off x="4230014" y="3397947"/>
            <a:ext cx="1200600" cy="990300"/>
          </a:xfrm>
          <a:prstGeom prst="roundRect">
            <a:avLst>
              <a:gd fmla="val 21308"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 name="Google Shape;24;p1"/>
          <p:cNvSpPr txBox="1"/>
          <p:nvPr/>
        </p:nvSpPr>
        <p:spPr>
          <a:xfrm>
            <a:off x="4487875" y="3597287"/>
            <a:ext cx="685800" cy="37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BBF24"/>
              </a:buClr>
              <a:buSzPts val="2400"/>
              <a:buFont typeface="Montserrat"/>
              <a:buNone/>
            </a:pPr>
            <a:r>
              <a:rPr b="1" i="0" lang="en-US" sz="2400" u="none" cap="none" strike="noStrike">
                <a:solidFill>
                  <a:srgbClr val="FBBF24"/>
                </a:solidFill>
                <a:latin typeface="Montserrat"/>
                <a:ea typeface="Montserrat"/>
                <a:cs typeface="Montserrat"/>
                <a:sym typeface="Montserrat"/>
              </a:rPr>
              <a:t>28</a:t>
            </a:r>
            <a:endParaRPr b="0" i="0" sz="2400" u="none" cap="none" strike="noStrike">
              <a:solidFill>
                <a:schemeClr val="dk1"/>
              </a:solidFill>
              <a:latin typeface="Calibri"/>
              <a:ea typeface="Calibri"/>
              <a:cs typeface="Calibri"/>
              <a:sym typeface="Calibri"/>
            </a:endParaRPr>
          </a:p>
        </p:txBody>
      </p:sp>
      <p:sp>
        <p:nvSpPr>
          <p:cNvPr id="25" name="Google Shape;25;p1"/>
          <p:cNvSpPr txBox="1"/>
          <p:nvPr/>
        </p:nvSpPr>
        <p:spPr>
          <a:xfrm>
            <a:off x="4467758" y="4016996"/>
            <a:ext cx="726000" cy="171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ontserrat"/>
              <a:buNone/>
            </a:pPr>
            <a:r>
              <a:rPr b="0" i="0" lang="en-US" sz="1000" u="none" cap="none" strike="noStrike">
                <a:solidFill>
                  <a:srgbClr val="94A3B8"/>
                </a:solidFill>
                <a:latin typeface="Montserrat"/>
                <a:ea typeface="Montserrat"/>
                <a:cs typeface="Montserrat"/>
                <a:sym typeface="Montserrat"/>
              </a:rPr>
              <a:t>Variables</a:t>
            </a:r>
            <a:endParaRPr b="0" i="0" sz="1000" u="none" cap="none" strike="noStrike">
              <a:solidFill>
                <a:schemeClr val="dk1"/>
              </a:solidFill>
              <a:latin typeface="Calibri"/>
              <a:ea typeface="Calibri"/>
              <a:cs typeface="Calibri"/>
              <a:sym typeface="Calibri"/>
            </a:endParaRPr>
          </a:p>
        </p:txBody>
      </p:sp>
      <p:sp>
        <p:nvSpPr>
          <p:cNvPr id="26" name="Google Shape;26;p1"/>
          <p:cNvSpPr/>
          <p:nvPr/>
        </p:nvSpPr>
        <p:spPr>
          <a:xfrm>
            <a:off x="5710428" y="3397947"/>
            <a:ext cx="1686300" cy="990300"/>
          </a:xfrm>
          <a:prstGeom prst="roundRect">
            <a:avLst>
              <a:gd fmla="val 21308"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 name="Google Shape;27;p1"/>
          <p:cNvSpPr txBox="1"/>
          <p:nvPr/>
        </p:nvSpPr>
        <p:spPr>
          <a:xfrm>
            <a:off x="5967374" y="3597287"/>
            <a:ext cx="1172400" cy="37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BBF24"/>
              </a:buClr>
              <a:buSzPts val="2400"/>
              <a:buFont typeface="Montserrat"/>
              <a:buNone/>
            </a:pPr>
            <a:r>
              <a:rPr b="1" i="0" lang="en-US" sz="2400" u="none" cap="none" strike="noStrike">
                <a:solidFill>
                  <a:srgbClr val="FBBF24"/>
                </a:solidFill>
                <a:latin typeface="Montserrat"/>
                <a:ea typeface="Montserrat"/>
                <a:cs typeface="Montserrat"/>
                <a:sym typeface="Montserrat"/>
              </a:rPr>
              <a:t>8</a:t>
            </a:r>
            <a:endParaRPr b="0" i="0" sz="2400" u="none" cap="none" strike="noStrike">
              <a:solidFill>
                <a:schemeClr val="dk1"/>
              </a:solidFill>
              <a:latin typeface="Calibri"/>
              <a:ea typeface="Calibri"/>
              <a:cs typeface="Calibri"/>
              <a:sym typeface="Calibri"/>
            </a:endParaRPr>
          </a:p>
        </p:txBody>
      </p:sp>
      <p:sp>
        <p:nvSpPr>
          <p:cNvPr id="28" name="Google Shape;28;p1"/>
          <p:cNvSpPr txBox="1"/>
          <p:nvPr/>
        </p:nvSpPr>
        <p:spPr>
          <a:xfrm>
            <a:off x="5930798" y="4016996"/>
            <a:ext cx="1244400" cy="171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ontserrat"/>
              <a:buNone/>
            </a:pPr>
            <a:r>
              <a:rPr b="0" i="0" lang="en-US" sz="1000" u="none" cap="none" strike="noStrike">
                <a:solidFill>
                  <a:srgbClr val="94A3B8"/>
                </a:solidFill>
                <a:latin typeface="Montserrat"/>
                <a:ea typeface="Montserrat"/>
                <a:cs typeface="Montserrat"/>
                <a:sym typeface="Montserrat"/>
              </a:rPr>
              <a:t>Años Analizados</a:t>
            </a:r>
            <a:endParaRPr b="0" i="0" sz="1000" u="none" cap="none" strike="noStrike">
              <a:solidFill>
                <a:schemeClr val="dk1"/>
              </a:solidFill>
              <a:latin typeface="Calibri"/>
              <a:ea typeface="Calibri"/>
              <a:cs typeface="Calibri"/>
              <a:sym typeface="Calibri"/>
            </a:endParaRPr>
          </a:p>
        </p:txBody>
      </p:sp>
      <p:sp>
        <p:nvSpPr>
          <p:cNvPr id="29" name="Google Shape;29;p1"/>
          <p:cNvSpPr/>
          <p:nvPr/>
        </p:nvSpPr>
        <p:spPr>
          <a:xfrm>
            <a:off x="7678217" y="3397947"/>
            <a:ext cx="1742700" cy="990300"/>
          </a:xfrm>
          <a:prstGeom prst="roundRect">
            <a:avLst>
              <a:gd fmla="val 21308"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 name="Google Shape;30;p1"/>
          <p:cNvSpPr txBox="1"/>
          <p:nvPr/>
        </p:nvSpPr>
        <p:spPr>
          <a:xfrm>
            <a:off x="7935163" y="3597287"/>
            <a:ext cx="1229100" cy="372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BBF24"/>
              </a:buClr>
              <a:buSzPts val="2400"/>
              <a:buFont typeface="Montserrat"/>
              <a:buNone/>
            </a:pPr>
            <a:r>
              <a:rPr b="1" i="0" lang="en-US" sz="2400" u="none" cap="none" strike="noStrike">
                <a:solidFill>
                  <a:srgbClr val="FBBF24"/>
                </a:solidFill>
                <a:latin typeface="Montserrat"/>
                <a:ea typeface="Montserrat"/>
                <a:cs typeface="Montserrat"/>
                <a:sym typeface="Montserrat"/>
              </a:rPr>
              <a:t>98.6%</a:t>
            </a:r>
            <a:endParaRPr b="0" i="0" sz="2400" u="none" cap="none" strike="noStrike">
              <a:solidFill>
                <a:schemeClr val="dk1"/>
              </a:solidFill>
              <a:latin typeface="Calibri"/>
              <a:ea typeface="Calibri"/>
              <a:cs typeface="Calibri"/>
              <a:sym typeface="Calibri"/>
            </a:endParaRPr>
          </a:p>
        </p:txBody>
      </p:sp>
      <p:sp>
        <p:nvSpPr>
          <p:cNvPr id="31" name="Google Shape;31;p1"/>
          <p:cNvSpPr txBox="1"/>
          <p:nvPr/>
        </p:nvSpPr>
        <p:spPr>
          <a:xfrm>
            <a:off x="7926019" y="4016996"/>
            <a:ext cx="1246200" cy="171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1000"/>
              <a:buFont typeface="Montserrat"/>
              <a:buNone/>
            </a:pPr>
            <a:r>
              <a:rPr b="0" i="0" lang="en-US" sz="1000" u="none" cap="none" strike="noStrike">
                <a:solidFill>
                  <a:srgbClr val="94A3B8"/>
                </a:solidFill>
                <a:latin typeface="Montserrat"/>
                <a:ea typeface="Montserrat"/>
                <a:cs typeface="Montserrat"/>
                <a:sym typeface="Montserrat"/>
              </a:rPr>
              <a:t>Datos Completos</a:t>
            </a:r>
            <a:endParaRPr b="0" i="0" sz="1000" u="none" cap="none" strike="noStrike">
              <a:solidFill>
                <a:schemeClr val="dk1"/>
              </a:solidFill>
              <a:latin typeface="Calibri"/>
              <a:ea typeface="Calibri"/>
              <a:cs typeface="Calibri"/>
              <a:sym typeface="Calibri"/>
            </a:endParaRPr>
          </a:p>
        </p:txBody>
      </p:sp>
      <p:pic>
        <p:nvPicPr>
          <p:cNvPr descr="preencoded.png" id="32" name="Google Shape;32;p1"/>
          <p:cNvPicPr preferRelativeResize="0"/>
          <p:nvPr/>
        </p:nvPicPr>
        <p:blipFill rotWithShape="1">
          <a:blip r:embed="rId6">
            <a:alphaModFix/>
          </a:blip>
          <a:srcRect b="0" l="-1064" r="-1064" t="0"/>
          <a:stretch/>
        </p:blipFill>
        <p:spPr>
          <a:xfrm>
            <a:off x="4928616" y="5265877"/>
            <a:ext cx="219456" cy="171907"/>
          </a:xfrm>
          <a:prstGeom prst="rect">
            <a:avLst/>
          </a:prstGeom>
          <a:noFill/>
          <a:ln>
            <a:noFill/>
          </a:ln>
        </p:spPr>
      </p:pic>
      <p:sp>
        <p:nvSpPr>
          <p:cNvPr id="33" name="Google Shape;33;p1"/>
          <p:cNvSpPr txBox="1"/>
          <p:nvPr/>
        </p:nvSpPr>
        <p:spPr>
          <a:xfrm>
            <a:off x="5088636" y="5257258"/>
            <a:ext cx="1938600" cy="21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300"/>
              <a:buFont typeface="Montserrat"/>
              <a:buNone/>
            </a:pPr>
            <a:r>
              <a:rPr b="1" i="0" lang="en-US" sz="1300" u="none" cap="none" strike="noStrike">
                <a:solidFill>
                  <a:srgbClr val="FFFFFF"/>
                </a:solidFill>
                <a:latin typeface="Montserrat"/>
                <a:ea typeface="Montserrat"/>
                <a:cs typeface="Montserrat"/>
                <a:sym typeface="Montserrat"/>
              </a:rPr>
              <a:t>Equipo de Análisis</a:t>
            </a:r>
            <a:endParaRPr b="0" i="0" sz="1300" u="none" cap="none" strike="noStrike">
              <a:solidFill>
                <a:schemeClr val="dk1"/>
              </a:solidFill>
              <a:latin typeface="Calibri"/>
              <a:ea typeface="Calibri"/>
              <a:cs typeface="Calibri"/>
              <a:sym typeface="Calibri"/>
            </a:endParaRPr>
          </a:p>
        </p:txBody>
      </p:sp>
      <p:sp>
        <p:nvSpPr>
          <p:cNvPr id="34" name="Google Shape;34;p1"/>
          <p:cNvSpPr/>
          <p:nvPr/>
        </p:nvSpPr>
        <p:spPr>
          <a:xfrm>
            <a:off x="657575" y="4805174"/>
            <a:ext cx="10477200" cy="1468200"/>
          </a:xfrm>
          <a:prstGeom prst="roundRect">
            <a:avLst>
              <a:gd fmla="val 15899" name="adj"/>
            </a:avLst>
          </a:prstGeom>
          <a:solidFill>
            <a:srgbClr val="FFFFFF">
              <a:alpha val="10196"/>
            </a:srgbClr>
          </a:solidFill>
          <a:ln cap="flat" cmpd="sng" w="12700">
            <a:solidFill>
              <a:srgbClr val="FFFFFF">
                <a:alpha val="200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5" name="Google Shape;35;p1"/>
          <p:cNvGrpSpPr/>
          <p:nvPr/>
        </p:nvGrpSpPr>
        <p:grpSpPr>
          <a:xfrm>
            <a:off x="4404225" y="5619940"/>
            <a:ext cx="3187800" cy="462152"/>
            <a:chOff x="2305151" y="5700737"/>
            <a:chExt cx="3187800" cy="343046"/>
          </a:xfrm>
        </p:grpSpPr>
        <p:sp>
          <p:nvSpPr>
            <p:cNvPr id="36" name="Google Shape;36;p1"/>
            <p:cNvSpPr txBox="1"/>
            <p:nvPr/>
          </p:nvSpPr>
          <p:spPr>
            <a:xfrm>
              <a:off x="2305151" y="5700737"/>
              <a:ext cx="3187800" cy="14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Montserrat"/>
                <a:buNone/>
              </a:pPr>
              <a:r>
                <a:rPr b="1" i="0" lang="en-US" sz="1800" u="none" cap="none" strike="noStrike">
                  <a:solidFill>
                    <a:srgbClr val="FFFFFF"/>
                  </a:solidFill>
                  <a:latin typeface="Montserrat"/>
                  <a:ea typeface="Montserrat"/>
                  <a:cs typeface="Montserrat"/>
                  <a:sym typeface="Montserrat"/>
                </a:rPr>
                <a:t>Yorbis Aragon Bedoya</a:t>
              </a:r>
              <a:endParaRPr b="0" i="0" sz="1800" u="none" cap="none" strike="noStrike">
                <a:solidFill>
                  <a:schemeClr val="dk1"/>
                </a:solidFill>
                <a:latin typeface="Calibri"/>
                <a:ea typeface="Calibri"/>
                <a:cs typeface="Calibri"/>
                <a:sym typeface="Calibri"/>
              </a:endParaRPr>
            </a:p>
          </p:txBody>
        </p:sp>
        <p:sp>
          <p:nvSpPr>
            <p:cNvPr id="37" name="Google Shape;37;p1"/>
            <p:cNvSpPr txBox="1"/>
            <p:nvPr/>
          </p:nvSpPr>
          <p:spPr>
            <a:xfrm>
              <a:off x="2305151" y="5900083"/>
              <a:ext cx="2269800" cy="14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ontserrat"/>
                <a:buNone/>
              </a:pPr>
              <a:r>
                <a:rPr lang="en-US" sz="1300">
                  <a:solidFill>
                    <a:srgbClr val="94A3B8"/>
                  </a:solidFill>
                  <a:latin typeface="Montserrat"/>
                  <a:ea typeface="Montserrat"/>
                  <a:cs typeface="Montserrat"/>
                  <a:sym typeface="Montserrat"/>
                </a:rPr>
                <a:t>ID: 1038103291</a:t>
              </a:r>
              <a:endParaRPr b="0" i="0" sz="1600" u="none" cap="none" strike="noStrike">
                <a:solidFill>
                  <a:schemeClr val="dk1"/>
                </a:solidFill>
                <a:latin typeface="Calibri"/>
                <a:ea typeface="Calibri"/>
                <a:cs typeface="Calibri"/>
                <a:sym typeface="Calibri"/>
              </a:endParaRPr>
            </a:p>
          </p:txBody>
        </p:sp>
      </p:grpSp>
      <p:grpSp>
        <p:nvGrpSpPr>
          <p:cNvPr id="38" name="Google Shape;38;p1"/>
          <p:cNvGrpSpPr/>
          <p:nvPr/>
        </p:nvGrpSpPr>
        <p:grpSpPr>
          <a:xfrm>
            <a:off x="1447092" y="5619825"/>
            <a:ext cx="2866200" cy="462150"/>
            <a:chOff x="3226342" y="5619825"/>
            <a:chExt cx="2866200" cy="462150"/>
          </a:xfrm>
        </p:grpSpPr>
        <p:sp>
          <p:nvSpPr>
            <p:cNvPr id="39" name="Google Shape;39;p1"/>
            <p:cNvSpPr txBox="1"/>
            <p:nvPr/>
          </p:nvSpPr>
          <p:spPr>
            <a:xfrm>
              <a:off x="3226342" y="5619825"/>
              <a:ext cx="2866200" cy="18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Montserrat"/>
                <a:buNone/>
              </a:pPr>
              <a:r>
                <a:rPr b="1" i="0" lang="en-US" sz="1800" u="none" cap="none" strike="noStrike">
                  <a:solidFill>
                    <a:srgbClr val="FFFFFF"/>
                  </a:solidFill>
                  <a:latin typeface="Montserrat"/>
                  <a:ea typeface="Montserrat"/>
                  <a:cs typeface="Montserrat"/>
                  <a:sym typeface="Montserrat"/>
                </a:rPr>
                <a:t>Santiago Piedrahita</a:t>
              </a:r>
              <a:endParaRPr b="0" i="0" sz="1800" u="none" cap="none" strike="noStrike">
                <a:solidFill>
                  <a:schemeClr val="dk1"/>
                </a:solidFill>
                <a:latin typeface="Calibri"/>
                <a:ea typeface="Calibri"/>
                <a:cs typeface="Calibri"/>
                <a:sym typeface="Calibri"/>
              </a:endParaRPr>
            </a:p>
          </p:txBody>
        </p:sp>
        <p:sp>
          <p:nvSpPr>
            <p:cNvPr id="40" name="Google Shape;40;p1"/>
            <p:cNvSpPr txBox="1"/>
            <p:nvPr/>
          </p:nvSpPr>
          <p:spPr>
            <a:xfrm>
              <a:off x="3226350" y="5819175"/>
              <a:ext cx="2666100" cy="26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ontserrat"/>
                <a:buNone/>
              </a:pPr>
              <a:r>
                <a:rPr b="0" i="0" lang="en-US" sz="1300" u="none" cap="none" strike="noStrike">
                  <a:solidFill>
                    <a:srgbClr val="94A3B8"/>
                  </a:solidFill>
                  <a:latin typeface="Montserrat"/>
                  <a:ea typeface="Montserrat"/>
                  <a:cs typeface="Montserrat"/>
                  <a:sym typeface="Montserrat"/>
                </a:rPr>
                <a:t>ID: 1040328162</a:t>
              </a:r>
              <a:endParaRPr b="0" i="0" sz="1300" u="none" cap="none" strike="noStrike">
                <a:solidFill>
                  <a:schemeClr val="dk1"/>
                </a:solidFill>
                <a:latin typeface="Calibri"/>
                <a:ea typeface="Calibri"/>
                <a:cs typeface="Calibri"/>
                <a:sym typeface="Calibri"/>
              </a:endParaRPr>
            </a:p>
          </p:txBody>
        </p:sp>
      </p:grpSp>
      <p:grpSp>
        <p:nvGrpSpPr>
          <p:cNvPr id="41" name="Google Shape;41;p1"/>
          <p:cNvGrpSpPr/>
          <p:nvPr/>
        </p:nvGrpSpPr>
        <p:grpSpPr>
          <a:xfrm>
            <a:off x="7787367" y="5547223"/>
            <a:ext cx="3347400" cy="525752"/>
            <a:chOff x="7795242" y="5628135"/>
            <a:chExt cx="3347400" cy="525752"/>
          </a:xfrm>
        </p:grpSpPr>
        <p:sp>
          <p:nvSpPr>
            <p:cNvPr id="42" name="Google Shape;42;p1"/>
            <p:cNvSpPr txBox="1"/>
            <p:nvPr/>
          </p:nvSpPr>
          <p:spPr>
            <a:xfrm>
              <a:off x="7795242" y="5628135"/>
              <a:ext cx="3347400" cy="25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Montserrat"/>
                <a:buNone/>
              </a:pPr>
              <a:r>
                <a:rPr b="1" i="0" lang="en-US" sz="1800" u="none" cap="none" strike="noStrike">
                  <a:solidFill>
                    <a:srgbClr val="FFFFFF"/>
                  </a:solidFill>
                  <a:latin typeface="Montserrat"/>
                  <a:ea typeface="Montserrat"/>
                  <a:cs typeface="Montserrat"/>
                  <a:sym typeface="Montserrat"/>
                </a:rPr>
                <a:t>Jose Manuel Candamil</a:t>
              </a:r>
              <a:endParaRPr b="0" i="0" sz="1800" u="none" cap="none" strike="noStrike">
                <a:solidFill>
                  <a:schemeClr val="dk1"/>
                </a:solidFill>
                <a:latin typeface="Calibri"/>
                <a:ea typeface="Calibri"/>
                <a:cs typeface="Calibri"/>
                <a:sym typeface="Calibri"/>
              </a:endParaRPr>
            </a:p>
          </p:txBody>
        </p:sp>
        <p:sp>
          <p:nvSpPr>
            <p:cNvPr id="43" name="Google Shape;43;p1"/>
            <p:cNvSpPr txBox="1"/>
            <p:nvPr/>
          </p:nvSpPr>
          <p:spPr>
            <a:xfrm>
              <a:off x="7796450" y="5900087"/>
              <a:ext cx="1742700" cy="253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ontserrat"/>
                <a:buNone/>
              </a:pPr>
              <a:r>
                <a:rPr lang="en-US" sz="1300">
                  <a:solidFill>
                    <a:srgbClr val="94A3B8"/>
                  </a:solidFill>
                  <a:latin typeface="Montserrat"/>
                  <a:ea typeface="Montserrat"/>
                  <a:cs typeface="Montserrat"/>
                  <a:sym typeface="Montserrat"/>
                </a:rPr>
                <a:t>ID: 1017144516</a:t>
              </a:r>
              <a:endParaRPr b="0" i="0" sz="16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2"/>
          <p:cNvSpPr/>
          <p:nvPr/>
        </p:nvSpPr>
        <p:spPr>
          <a:xfrm>
            <a:off x="0" y="0"/>
            <a:ext cx="12191695"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0" name="Google Shape;50;p2"/>
          <p:cNvPicPr preferRelativeResize="0"/>
          <p:nvPr/>
        </p:nvPicPr>
        <p:blipFill rotWithShape="1">
          <a:blip r:embed="rId3">
            <a:alphaModFix/>
          </a:blip>
          <a:srcRect b="-1" l="0" r="0" t="-1"/>
          <a:stretch/>
        </p:blipFill>
        <p:spPr>
          <a:xfrm>
            <a:off x="0" y="0"/>
            <a:ext cx="12191695" cy="6858000"/>
          </a:xfrm>
          <a:prstGeom prst="rect">
            <a:avLst/>
          </a:prstGeom>
          <a:noFill/>
          <a:ln>
            <a:noFill/>
          </a:ln>
        </p:spPr>
      </p:pic>
      <p:sp>
        <p:nvSpPr>
          <p:cNvPr id="51" name="Google Shape;51;p2"/>
          <p:cNvSpPr txBox="1"/>
          <p:nvPr/>
        </p:nvSpPr>
        <p:spPr>
          <a:xfrm>
            <a:off x="809244" y="190195"/>
            <a:ext cx="5143500"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Montserrat"/>
              <a:buNone/>
            </a:pPr>
            <a:r>
              <a:rPr b="1" i="0" lang="en-US" sz="2100" u="none" cap="none" strike="noStrike">
                <a:solidFill>
                  <a:srgbClr val="FFFFFF"/>
                </a:solidFill>
                <a:latin typeface="Montserrat"/>
                <a:ea typeface="Montserrat"/>
                <a:cs typeface="Montserrat"/>
                <a:sym typeface="Montserrat"/>
              </a:rPr>
              <a:t> Descripción del Conjunto de Datos </a:t>
            </a:r>
            <a:endParaRPr b="0" i="0" sz="2100" u="none" cap="none" strike="noStrike">
              <a:solidFill>
                <a:schemeClr val="dk1"/>
              </a:solidFill>
              <a:latin typeface="Calibri"/>
              <a:ea typeface="Calibri"/>
              <a:cs typeface="Calibri"/>
              <a:sym typeface="Calibri"/>
            </a:endParaRPr>
          </a:p>
        </p:txBody>
      </p:sp>
      <p:pic>
        <p:nvPicPr>
          <p:cNvPr descr="preencoded.png" id="52" name="Google Shape;52;p2"/>
          <p:cNvPicPr preferRelativeResize="0"/>
          <p:nvPr/>
        </p:nvPicPr>
        <p:blipFill rotWithShape="1">
          <a:blip r:embed="rId4">
            <a:alphaModFix/>
          </a:blip>
          <a:srcRect b="0" l="-881" r="-881" t="0"/>
          <a:stretch/>
        </p:blipFill>
        <p:spPr>
          <a:xfrm>
            <a:off x="381305" y="252374"/>
            <a:ext cx="237744" cy="267005"/>
          </a:xfrm>
          <a:prstGeom prst="rect">
            <a:avLst/>
          </a:prstGeom>
          <a:noFill/>
          <a:ln>
            <a:noFill/>
          </a:ln>
        </p:spPr>
      </p:pic>
      <p:sp>
        <p:nvSpPr>
          <p:cNvPr id="53" name="Google Shape;53;p2"/>
          <p:cNvSpPr txBox="1"/>
          <p:nvPr/>
        </p:nvSpPr>
        <p:spPr>
          <a:xfrm>
            <a:off x="381305" y="629107"/>
            <a:ext cx="5391302" cy="2002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00"/>
              <a:buFont typeface="Roboto"/>
              <a:buNone/>
            </a:pPr>
            <a:r>
              <a:rPr b="0" i="0" lang="en-US" sz="1000" u="none" cap="none" strike="noStrike">
                <a:solidFill>
                  <a:srgbClr val="94A3B8"/>
                </a:solidFill>
                <a:latin typeface="Roboto"/>
                <a:ea typeface="Roboto"/>
                <a:cs typeface="Roboto"/>
                <a:sym typeface="Roboto"/>
              </a:rPr>
              <a:t>Análisis de siniestralidad vial en Envigado - Período 2018-2025</a:t>
            </a:r>
            <a:endParaRPr b="0" i="0" sz="1000" u="none" cap="none" strike="noStrike">
              <a:solidFill>
                <a:schemeClr val="dk1"/>
              </a:solidFill>
              <a:latin typeface="Calibri"/>
              <a:ea typeface="Calibri"/>
              <a:cs typeface="Calibri"/>
              <a:sym typeface="Calibri"/>
            </a:endParaRPr>
          </a:p>
        </p:txBody>
      </p:sp>
      <p:sp>
        <p:nvSpPr>
          <p:cNvPr id="54" name="Google Shape;54;p2"/>
          <p:cNvSpPr txBox="1"/>
          <p:nvPr/>
        </p:nvSpPr>
        <p:spPr>
          <a:xfrm>
            <a:off x="10939882" y="252374"/>
            <a:ext cx="873252" cy="17190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Total registros</a:t>
            </a:r>
            <a:endParaRPr b="0" i="0" sz="900" u="none" cap="none" strike="noStrike">
              <a:solidFill>
                <a:schemeClr val="dk1"/>
              </a:solidFill>
              <a:latin typeface="Calibri"/>
              <a:ea typeface="Calibri"/>
              <a:cs typeface="Calibri"/>
              <a:sym typeface="Calibri"/>
            </a:endParaRPr>
          </a:p>
        </p:txBody>
      </p:sp>
      <p:sp>
        <p:nvSpPr>
          <p:cNvPr id="55" name="Google Shape;55;p2"/>
          <p:cNvSpPr txBox="1"/>
          <p:nvPr/>
        </p:nvSpPr>
        <p:spPr>
          <a:xfrm>
            <a:off x="11002975" y="424282"/>
            <a:ext cx="810158"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6F00"/>
              </a:buClr>
              <a:buSzPts val="1800"/>
              <a:buFont typeface="Roboto"/>
              <a:buNone/>
            </a:pPr>
            <a:r>
              <a:rPr b="1" i="0" lang="en-US" sz="1800" u="none" cap="none" strike="noStrike">
                <a:solidFill>
                  <a:srgbClr val="FF6F00"/>
                </a:solidFill>
                <a:latin typeface="Roboto"/>
                <a:ea typeface="Roboto"/>
                <a:cs typeface="Roboto"/>
                <a:sym typeface="Roboto"/>
              </a:rPr>
              <a:t>9.326</a:t>
            </a:r>
            <a:endParaRPr b="0" i="0" sz="1800" u="none" cap="none" strike="noStrike">
              <a:solidFill>
                <a:schemeClr val="dk1"/>
              </a:solidFill>
              <a:latin typeface="Calibri"/>
              <a:ea typeface="Calibri"/>
              <a:cs typeface="Calibri"/>
              <a:sym typeface="Calibri"/>
            </a:endParaRPr>
          </a:p>
        </p:txBody>
      </p:sp>
      <p:sp>
        <p:nvSpPr>
          <p:cNvPr id="56" name="Google Shape;56;p2"/>
          <p:cNvSpPr/>
          <p:nvPr/>
        </p:nvSpPr>
        <p:spPr>
          <a:xfrm>
            <a:off x="381305" y="857707"/>
            <a:ext cx="2743200" cy="1171346"/>
          </a:xfrm>
          <a:prstGeom prst="roundRect">
            <a:avLst>
              <a:gd fmla="val 15232"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2"/>
          <p:cNvSpPr txBox="1"/>
          <p:nvPr/>
        </p:nvSpPr>
        <p:spPr>
          <a:xfrm>
            <a:off x="494690" y="1019556"/>
            <a:ext cx="2516429" cy="1719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Registros Totales</a:t>
            </a:r>
            <a:endParaRPr b="0" i="0" sz="900" u="none" cap="none" strike="noStrike">
              <a:solidFill>
                <a:schemeClr val="dk1"/>
              </a:solidFill>
              <a:latin typeface="Calibri"/>
              <a:ea typeface="Calibri"/>
              <a:cs typeface="Calibri"/>
              <a:sym typeface="Calibri"/>
            </a:endParaRPr>
          </a:p>
        </p:txBody>
      </p:sp>
      <p:sp>
        <p:nvSpPr>
          <p:cNvPr id="58" name="Google Shape;58;p2"/>
          <p:cNvSpPr txBox="1"/>
          <p:nvPr/>
        </p:nvSpPr>
        <p:spPr>
          <a:xfrm>
            <a:off x="494690" y="1266444"/>
            <a:ext cx="2516429"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F00"/>
              </a:buClr>
              <a:buSzPts val="2100"/>
              <a:buFont typeface="Montserrat"/>
              <a:buNone/>
            </a:pPr>
            <a:r>
              <a:rPr b="1" i="0" lang="en-US" sz="2100" u="none" cap="none" strike="noStrike">
                <a:solidFill>
                  <a:srgbClr val="FF6F00"/>
                </a:solidFill>
                <a:latin typeface="Montserrat"/>
                <a:ea typeface="Montserrat"/>
                <a:cs typeface="Montserrat"/>
                <a:sym typeface="Montserrat"/>
              </a:rPr>
              <a:t>9.326</a:t>
            </a:r>
            <a:endParaRPr b="0" i="0" sz="2100" u="none" cap="none" strike="noStrike">
              <a:solidFill>
                <a:schemeClr val="dk1"/>
              </a:solidFill>
              <a:latin typeface="Calibri"/>
              <a:ea typeface="Calibri"/>
              <a:cs typeface="Calibri"/>
              <a:sym typeface="Calibri"/>
            </a:endParaRPr>
          </a:p>
        </p:txBody>
      </p:sp>
      <p:sp>
        <p:nvSpPr>
          <p:cNvPr id="59" name="Google Shape;59;p2"/>
          <p:cNvSpPr txBox="1"/>
          <p:nvPr/>
        </p:nvSpPr>
        <p:spPr>
          <a:xfrm>
            <a:off x="1431950" y="1705356"/>
            <a:ext cx="1627632" cy="16276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B981"/>
              </a:buClr>
              <a:buSzPts val="800"/>
              <a:buFont typeface="Roboto"/>
              <a:buNone/>
            </a:pPr>
            <a:r>
              <a:rPr b="0" i="0" lang="en-US" sz="800" u="none" cap="none" strike="noStrike">
                <a:solidFill>
                  <a:srgbClr val="10B981"/>
                </a:solidFill>
                <a:latin typeface="Roboto"/>
                <a:ea typeface="Roboto"/>
                <a:cs typeface="Roboto"/>
                <a:sym typeface="Roboto"/>
              </a:rPr>
              <a:t> 100% completos </a:t>
            </a:r>
            <a:endParaRPr b="0" i="0" sz="800" u="none" cap="none" strike="noStrike">
              <a:solidFill>
                <a:schemeClr val="dk1"/>
              </a:solidFill>
              <a:latin typeface="Calibri"/>
              <a:ea typeface="Calibri"/>
              <a:cs typeface="Calibri"/>
              <a:sym typeface="Calibri"/>
            </a:endParaRPr>
          </a:p>
        </p:txBody>
      </p:sp>
      <p:pic>
        <p:nvPicPr>
          <p:cNvPr descr="preencoded.png" id="60" name="Google Shape;60;p2"/>
          <p:cNvPicPr preferRelativeResize="0"/>
          <p:nvPr/>
        </p:nvPicPr>
        <p:blipFill rotWithShape="1">
          <a:blip r:embed="rId5">
            <a:alphaModFix/>
          </a:blip>
          <a:srcRect b="0" l="0" r="0" t="0"/>
          <a:stretch/>
        </p:blipFill>
        <p:spPr>
          <a:xfrm>
            <a:off x="1301191" y="1718158"/>
            <a:ext cx="105156" cy="105156"/>
          </a:xfrm>
          <a:prstGeom prst="rect">
            <a:avLst/>
          </a:prstGeom>
          <a:noFill/>
          <a:ln>
            <a:noFill/>
          </a:ln>
        </p:spPr>
      </p:pic>
      <p:sp>
        <p:nvSpPr>
          <p:cNvPr id="61" name="Google Shape;61;p2"/>
          <p:cNvSpPr/>
          <p:nvPr/>
        </p:nvSpPr>
        <p:spPr>
          <a:xfrm>
            <a:off x="3276295" y="857707"/>
            <a:ext cx="2743200" cy="1171346"/>
          </a:xfrm>
          <a:prstGeom prst="roundRect">
            <a:avLst>
              <a:gd fmla="val 15232"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 name="Google Shape;62;p2"/>
          <p:cNvSpPr txBox="1"/>
          <p:nvPr/>
        </p:nvSpPr>
        <p:spPr>
          <a:xfrm>
            <a:off x="3390595" y="1019556"/>
            <a:ext cx="2516429" cy="1719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Período Analizado</a:t>
            </a:r>
            <a:endParaRPr b="0" i="0" sz="900" u="none" cap="none" strike="noStrike">
              <a:solidFill>
                <a:schemeClr val="dk1"/>
              </a:solidFill>
              <a:latin typeface="Calibri"/>
              <a:ea typeface="Calibri"/>
              <a:cs typeface="Calibri"/>
              <a:sym typeface="Calibri"/>
            </a:endParaRPr>
          </a:p>
        </p:txBody>
      </p:sp>
      <p:sp>
        <p:nvSpPr>
          <p:cNvPr id="63" name="Google Shape;63;p2"/>
          <p:cNvSpPr txBox="1"/>
          <p:nvPr/>
        </p:nvSpPr>
        <p:spPr>
          <a:xfrm>
            <a:off x="3390595" y="1266444"/>
            <a:ext cx="2516429"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F00"/>
              </a:buClr>
              <a:buSzPts val="2100"/>
              <a:buFont typeface="Montserrat"/>
              <a:buNone/>
            </a:pPr>
            <a:r>
              <a:rPr b="1" i="0" lang="en-US" sz="2100" u="none" cap="none" strike="noStrike">
                <a:solidFill>
                  <a:srgbClr val="FF6F00"/>
                </a:solidFill>
                <a:latin typeface="Montserrat"/>
                <a:ea typeface="Montserrat"/>
                <a:cs typeface="Montserrat"/>
                <a:sym typeface="Montserrat"/>
              </a:rPr>
              <a:t>8 años</a:t>
            </a:r>
            <a:endParaRPr b="0" i="0" sz="2100" u="none" cap="none" strike="noStrike">
              <a:solidFill>
                <a:schemeClr val="dk1"/>
              </a:solidFill>
              <a:latin typeface="Calibri"/>
              <a:ea typeface="Calibri"/>
              <a:cs typeface="Calibri"/>
              <a:sym typeface="Calibri"/>
            </a:endParaRPr>
          </a:p>
        </p:txBody>
      </p:sp>
      <p:sp>
        <p:nvSpPr>
          <p:cNvPr id="64" name="Google Shape;64;p2"/>
          <p:cNvSpPr txBox="1"/>
          <p:nvPr/>
        </p:nvSpPr>
        <p:spPr>
          <a:xfrm>
            <a:off x="3390595" y="1705356"/>
            <a:ext cx="2516429" cy="162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0B981"/>
              </a:buClr>
              <a:buSzPts val="800"/>
              <a:buFont typeface="Roboto"/>
              <a:buNone/>
            </a:pPr>
            <a:r>
              <a:rPr b="0" i="0" lang="en-US" sz="800" u="none" cap="none" strike="noStrike">
                <a:solidFill>
                  <a:srgbClr val="10B981"/>
                </a:solidFill>
                <a:latin typeface="Roboto"/>
                <a:ea typeface="Roboto"/>
                <a:cs typeface="Roboto"/>
                <a:sym typeface="Roboto"/>
              </a:rPr>
              <a:t>2018 - 2025</a:t>
            </a:r>
            <a:endParaRPr b="0" i="0" sz="800" u="none" cap="none" strike="noStrike">
              <a:solidFill>
                <a:schemeClr val="dk1"/>
              </a:solidFill>
              <a:latin typeface="Calibri"/>
              <a:ea typeface="Calibri"/>
              <a:cs typeface="Calibri"/>
              <a:sym typeface="Calibri"/>
            </a:endParaRPr>
          </a:p>
        </p:txBody>
      </p:sp>
      <p:sp>
        <p:nvSpPr>
          <p:cNvPr id="65" name="Google Shape;65;p2"/>
          <p:cNvSpPr/>
          <p:nvPr/>
        </p:nvSpPr>
        <p:spPr>
          <a:xfrm>
            <a:off x="6172200" y="857707"/>
            <a:ext cx="2743200" cy="1171346"/>
          </a:xfrm>
          <a:prstGeom prst="roundRect">
            <a:avLst>
              <a:gd fmla="val 15232"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 name="Google Shape;66;p2"/>
          <p:cNvSpPr txBox="1"/>
          <p:nvPr/>
        </p:nvSpPr>
        <p:spPr>
          <a:xfrm>
            <a:off x="6285586" y="1019556"/>
            <a:ext cx="2516429" cy="1719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Variables Totales</a:t>
            </a:r>
            <a:endParaRPr b="0" i="0" sz="900" u="none" cap="none" strike="noStrike">
              <a:solidFill>
                <a:schemeClr val="dk1"/>
              </a:solidFill>
              <a:latin typeface="Calibri"/>
              <a:ea typeface="Calibri"/>
              <a:cs typeface="Calibri"/>
              <a:sym typeface="Calibri"/>
            </a:endParaRPr>
          </a:p>
        </p:txBody>
      </p:sp>
      <p:sp>
        <p:nvSpPr>
          <p:cNvPr id="67" name="Google Shape;67;p2"/>
          <p:cNvSpPr txBox="1"/>
          <p:nvPr/>
        </p:nvSpPr>
        <p:spPr>
          <a:xfrm>
            <a:off x="6285586" y="1266444"/>
            <a:ext cx="2516429"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F00"/>
              </a:buClr>
              <a:buSzPts val="2100"/>
              <a:buFont typeface="Montserrat"/>
              <a:buNone/>
            </a:pPr>
            <a:r>
              <a:rPr b="1" i="0" lang="en-US" sz="2100" u="none" cap="none" strike="noStrike">
                <a:solidFill>
                  <a:srgbClr val="FF6F00"/>
                </a:solidFill>
                <a:latin typeface="Montserrat"/>
                <a:ea typeface="Montserrat"/>
                <a:cs typeface="Montserrat"/>
                <a:sym typeface="Montserrat"/>
              </a:rPr>
              <a:t>28</a:t>
            </a:r>
            <a:endParaRPr b="0" i="0" sz="2100" u="none" cap="none" strike="noStrike">
              <a:solidFill>
                <a:schemeClr val="dk1"/>
              </a:solidFill>
              <a:latin typeface="Calibri"/>
              <a:ea typeface="Calibri"/>
              <a:cs typeface="Calibri"/>
              <a:sym typeface="Calibri"/>
            </a:endParaRPr>
          </a:p>
        </p:txBody>
      </p:sp>
      <p:sp>
        <p:nvSpPr>
          <p:cNvPr id="68" name="Google Shape;68;p2"/>
          <p:cNvSpPr txBox="1"/>
          <p:nvPr/>
        </p:nvSpPr>
        <p:spPr>
          <a:xfrm>
            <a:off x="6285586" y="1705356"/>
            <a:ext cx="2516429" cy="162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3B82F6"/>
              </a:buClr>
              <a:buSzPts val="800"/>
              <a:buFont typeface="Roboto"/>
              <a:buNone/>
            </a:pPr>
            <a:r>
              <a:rPr b="0" i="0" lang="en-US" sz="800" u="none" cap="none" strike="noStrike">
                <a:solidFill>
                  <a:srgbClr val="3B82F6"/>
                </a:solidFill>
                <a:latin typeface="Roboto"/>
                <a:ea typeface="Roboto"/>
                <a:cs typeface="Roboto"/>
                <a:sym typeface="Roboto"/>
              </a:rPr>
              <a:t>3 numéricas + 19 categóricas</a:t>
            </a:r>
            <a:endParaRPr b="0" i="0" sz="800" u="none" cap="none" strike="noStrike">
              <a:solidFill>
                <a:schemeClr val="dk1"/>
              </a:solidFill>
              <a:latin typeface="Calibri"/>
              <a:ea typeface="Calibri"/>
              <a:cs typeface="Calibri"/>
              <a:sym typeface="Calibri"/>
            </a:endParaRPr>
          </a:p>
        </p:txBody>
      </p:sp>
      <p:sp>
        <p:nvSpPr>
          <p:cNvPr id="69" name="Google Shape;69;p2"/>
          <p:cNvSpPr/>
          <p:nvPr/>
        </p:nvSpPr>
        <p:spPr>
          <a:xfrm>
            <a:off x="9068105" y="857707"/>
            <a:ext cx="2743200" cy="1171346"/>
          </a:xfrm>
          <a:prstGeom prst="roundRect">
            <a:avLst>
              <a:gd fmla="val 15232"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 name="Google Shape;70;p2"/>
          <p:cNvSpPr txBox="1"/>
          <p:nvPr/>
        </p:nvSpPr>
        <p:spPr>
          <a:xfrm>
            <a:off x="9181490" y="1019556"/>
            <a:ext cx="2516429" cy="1719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Duplicados</a:t>
            </a:r>
            <a:endParaRPr b="0" i="0" sz="900" u="none" cap="none" strike="noStrike">
              <a:solidFill>
                <a:schemeClr val="dk1"/>
              </a:solidFill>
              <a:latin typeface="Calibri"/>
              <a:ea typeface="Calibri"/>
              <a:cs typeface="Calibri"/>
              <a:sym typeface="Calibri"/>
            </a:endParaRPr>
          </a:p>
        </p:txBody>
      </p:sp>
      <p:sp>
        <p:nvSpPr>
          <p:cNvPr id="71" name="Google Shape;71;p2"/>
          <p:cNvSpPr txBox="1"/>
          <p:nvPr/>
        </p:nvSpPr>
        <p:spPr>
          <a:xfrm>
            <a:off x="9181490" y="1266444"/>
            <a:ext cx="2516429" cy="400507"/>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6F00"/>
              </a:buClr>
              <a:buSzPts val="2100"/>
              <a:buFont typeface="Montserrat"/>
              <a:buNone/>
            </a:pPr>
            <a:r>
              <a:rPr b="1" i="0" lang="en-US" sz="2100" u="none" cap="none" strike="noStrike">
                <a:solidFill>
                  <a:srgbClr val="FF6F00"/>
                </a:solidFill>
                <a:latin typeface="Montserrat"/>
                <a:ea typeface="Montserrat"/>
                <a:cs typeface="Montserrat"/>
                <a:sym typeface="Montserrat"/>
              </a:rPr>
              <a:t>25</a:t>
            </a:r>
            <a:endParaRPr b="0" i="0" sz="2100" u="none" cap="none" strike="noStrike">
              <a:solidFill>
                <a:schemeClr val="dk1"/>
              </a:solidFill>
              <a:latin typeface="Calibri"/>
              <a:ea typeface="Calibri"/>
              <a:cs typeface="Calibri"/>
              <a:sym typeface="Calibri"/>
            </a:endParaRPr>
          </a:p>
        </p:txBody>
      </p:sp>
      <p:sp>
        <p:nvSpPr>
          <p:cNvPr id="72" name="Google Shape;72;p2"/>
          <p:cNvSpPr txBox="1"/>
          <p:nvPr/>
        </p:nvSpPr>
        <p:spPr>
          <a:xfrm>
            <a:off x="9181490" y="1705356"/>
            <a:ext cx="2516429" cy="162763"/>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59E0B"/>
              </a:buClr>
              <a:buSzPts val="800"/>
              <a:buFont typeface="Roboto"/>
              <a:buNone/>
            </a:pPr>
            <a:r>
              <a:rPr b="0" i="0" lang="en-US" sz="800" u="none" cap="none" strike="noStrike">
                <a:solidFill>
                  <a:srgbClr val="F59E0B"/>
                </a:solidFill>
                <a:latin typeface="Roboto"/>
                <a:ea typeface="Roboto"/>
                <a:cs typeface="Roboto"/>
                <a:sym typeface="Roboto"/>
              </a:rPr>
              <a:t>0.27% del total</a:t>
            </a:r>
            <a:endParaRPr b="0" i="0" sz="800" u="none" cap="none" strike="noStrike">
              <a:solidFill>
                <a:schemeClr val="dk1"/>
              </a:solidFill>
              <a:latin typeface="Calibri"/>
              <a:ea typeface="Calibri"/>
              <a:cs typeface="Calibri"/>
              <a:sym typeface="Calibri"/>
            </a:endParaRPr>
          </a:p>
        </p:txBody>
      </p:sp>
      <p:pic>
        <p:nvPicPr>
          <p:cNvPr descr="preencoded.png" id="73" name="Google Shape;73;p2"/>
          <p:cNvPicPr preferRelativeResize="0"/>
          <p:nvPr/>
        </p:nvPicPr>
        <p:blipFill rotWithShape="1">
          <a:blip r:embed="rId6">
            <a:alphaModFix/>
          </a:blip>
          <a:srcRect b="-27" l="0" r="0" t="-27"/>
          <a:stretch/>
        </p:blipFill>
        <p:spPr>
          <a:xfrm>
            <a:off x="381305" y="2392753"/>
            <a:ext cx="5600700" cy="428854"/>
          </a:xfrm>
          <a:prstGeom prst="rect">
            <a:avLst/>
          </a:prstGeom>
          <a:noFill/>
          <a:ln>
            <a:noFill/>
          </a:ln>
        </p:spPr>
      </p:pic>
      <p:sp>
        <p:nvSpPr>
          <p:cNvPr id="74" name="Google Shape;74;p2"/>
          <p:cNvSpPr txBox="1"/>
          <p:nvPr/>
        </p:nvSpPr>
        <p:spPr>
          <a:xfrm>
            <a:off x="775411" y="2507053"/>
            <a:ext cx="5168100" cy="2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a:buNone/>
            </a:pPr>
            <a:r>
              <a:rPr b="1" i="0" lang="en-US" sz="1000" u="none" cap="none" strike="noStrike">
                <a:solidFill>
                  <a:srgbClr val="FFFFFF"/>
                </a:solidFill>
                <a:latin typeface="Roboto"/>
                <a:ea typeface="Roboto"/>
                <a:cs typeface="Roboto"/>
                <a:sym typeface="Roboto"/>
              </a:rPr>
              <a:t> Información General </a:t>
            </a:r>
            <a:endParaRPr b="0" i="0" sz="1000" u="none" cap="none" strike="noStrike">
              <a:solidFill>
                <a:schemeClr val="dk1"/>
              </a:solidFill>
              <a:latin typeface="Calibri"/>
              <a:ea typeface="Calibri"/>
              <a:cs typeface="Calibri"/>
              <a:sym typeface="Calibri"/>
            </a:endParaRPr>
          </a:p>
        </p:txBody>
      </p:sp>
      <p:pic>
        <p:nvPicPr>
          <p:cNvPr descr="preencoded.png" id="75" name="Google Shape;75;p2"/>
          <p:cNvPicPr preferRelativeResize="0"/>
          <p:nvPr/>
        </p:nvPicPr>
        <p:blipFill rotWithShape="1">
          <a:blip r:embed="rId7">
            <a:alphaModFix/>
          </a:blip>
          <a:srcRect b="0" l="0" r="0" t="0"/>
          <a:stretch/>
        </p:blipFill>
        <p:spPr>
          <a:xfrm>
            <a:off x="533095" y="2533571"/>
            <a:ext cx="133502" cy="133502"/>
          </a:xfrm>
          <a:prstGeom prst="rect">
            <a:avLst/>
          </a:prstGeom>
          <a:noFill/>
          <a:ln>
            <a:noFill/>
          </a:ln>
        </p:spPr>
      </p:pic>
      <p:sp>
        <p:nvSpPr>
          <p:cNvPr id="76" name="Google Shape;76;p2"/>
          <p:cNvSpPr/>
          <p:nvPr/>
        </p:nvSpPr>
        <p:spPr>
          <a:xfrm>
            <a:off x="381305" y="2804796"/>
            <a:ext cx="5600700" cy="1209900"/>
          </a:xfrm>
          <a:prstGeom prst="roundRect">
            <a:avLst>
              <a:gd fmla="val 9523" name="adj"/>
            </a:avLst>
          </a:prstGeom>
          <a:solidFill>
            <a:srgbClr val="FFFFFF">
              <a:alpha val="5098"/>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 name="Google Shape;77;p2"/>
          <p:cNvSpPr txBox="1"/>
          <p:nvPr/>
        </p:nvSpPr>
        <p:spPr>
          <a:xfrm>
            <a:off x="533095" y="2957501"/>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Fuente</a:t>
            </a:r>
            <a:endParaRPr b="0" i="0" sz="900" u="none" cap="none" strike="noStrike">
              <a:solidFill>
                <a:schemeClr val="dk1"/>
              </a:solidFill>
              <a:latin typeface="Calibri"/>
              <a:ea typeface="Calibri"/>
              <a:cs typeface="Calibri"/>
              <a:sym typeface="Calibri"/>
            </a:endParaRPr>
          </a:p>
        </p:txBody>
      </p:sp>
      <p:sp>
        <p:nvSpPr>
          <p:cNvPr id="78" name="Google Shape;78;p2"/>
          <p:cNvSpPr txBox="1"/>
          <p:nvPr/>
        </p:nvSpPr>
        <p:spPr>
          <a:xfrm>
            <a:off x="533095" y="3166898"/>
            <a:ext cx="2694600" cy="1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Siniestralidad vial en Envigado</a:t>
            </a:r>
            <a:endParaRPr b="0" i="0" sz="900" u="none" cap="none" strike="noStrike">
              <a:solidFill>
                <a:schemeClr val="dk1"/>
              </a:solidFill>
              <a:latin typeface="Calibri"/>
              <a:ea typeface="Calibri"/>
              <a:cs typeface="Calibri"/>
              <a:sym typeface="Calibri"/>
            </a:endParaRPr>
          </a:p>
        </p:txBody>
      </p:sp>
      <p:sp>
        <p:nvSpPr>
          <p:cNvPr id="79" name="Google Shape;79;p2"/>
          <p:cNvSpPr txBox="1"/>
          <p:nvPr/>
        </p:nvSpPr>
        <p:spPr>
          <a:xfrm>
            <a:off x="3238805" y="2957501"/>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Período</a:t>
            </a:r>
            <a:endParaRPr b="0" i="0" sz="900" u="none" cap="none" strike="noStrike">
              <a:solidFill>
                <a:schemeClr val="dk1"/>
              </a:solidFill>
              <a:latin typeface="Calibri"/>
              <a:ea typeface="Calibri"/>
              <a:cs typeface="Calibri"/>
              <a:sym typeface="Calibri"/>
            </a:endParaRPr>
          </a:p>
        </p:txBody>
      </p:sp>
      <p:sp>
        <p:nvSpPr>
          <p:cNvPr id="80" name="Google Shape;80;p2"/>
          <p:cNvSpPr txBox="1"/>
          <p:nvPr/>
        </p:nvSpPr>
        <p:spPr>
          <a:xfrm>
            <a:off x="3238805" y="3166898"/>
            <a:ext cx="2694600" cy="1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1 ene 2018 - 16 feb 2025</a:t>
            </a:r>
            <a:endParaRPr b="0" i="0" sz="900" u="none" cap="none" strike="noStrike">
              <a:solidFill>
                <a:schemeClr val="dk1"/>
              </a:solidFill>
              <a:latin typeface="Calibri"/>
              <a:ea typeface="Calibri"/>
              <a:cs typeface="Calibri"/>
              <a:sym typeface="Calibri"/>
            </a:endParaRPr>
          </a:p>
        </p:txBody>
      </p:sp>
      <p:sp>
        <p:nvSpPr>
          <p:cNvPr id="81" name="Google Shape;81;p2"/>
          <p:cNvSpPr txBox="1"/>
          <p:nvPr/>
        </p:nvSpPr>
        <p:spPr>
          <a:xfrm>
            <a:off x="533095" y="3466821"/>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Dimensiones</a:t>
            </a:r>
            <a:endParaRPr b="0" i="0" sz="900" u="none" cap="none" strike="noStrike">
              <a:solidFill>
                <a:schemeClr val="dk1"/>
              </a:solidFill>
              <a:latin typeface="Calibri"/>
              <a:ea typeface="Calibri"/>
              <a:cs typeface="Calibri"/>
              <a:sym typeface="Calibri"/>
            </a:endParaRPr>
          </a:p>
        </p:txBody>
      </p:sp>
      <p:sp>
        <p:nvSpPr>
          <p:cNvPr id="82" name="Google Shape;82;p2"/>
          <p:cNvSpPr txBox="1"/>
          <p:nvPr/>
        </p:nvSpPr>
        <p:spPr>
          <a:xfrm>
            <a:off x="533095" y="3676219"/>
            <a:ext cx="2694600" cy="1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9.326 filas × 26 columnas</a:t>
            </a:r>
            <a:endParaRPr b="0" i="0" sz="900" u="none" cap="none" strike="noStrike">
              <a:solidFill>
                <a:schemeClr val="dk1"/>
              </a:solidFill>
              <a:latin typeface="Calibri"/>
              <a:ea typeface="Calibri"/>
              <a:cs typeface="Calibri"/>
              <a:sym typeface="Calibri"/>
            </a:endParaRPr>
          </a:p>
        </p:txBody>
      </p:sp>
      <p:sp>
        <p:nvSpPr>
          <p:cNvPr id="83" name="Google Shape;83;p2"/>
          <p:cNvSpPr txBox="1"/>
          <p:nvPr/>
        </p:nvSpPr>
        <p:spPr>
          <a:xfrm>
            <a:off x="3238805" y="3466821"/>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Variables</a:t>
            </a:r>
            <a:endParaRPr b="0" i="0" sz="900" u="none" cap="none" strike="noStrike">
              <a:solidFill>
                <a:schemeClr val="dk1"/>
              </a:solidFill>
              <a:latin typeface="Calibri"/>
              <a:ea typeface="Calibri"/>
              <a:cs typeface="Calibri"/>
              <a:sym typeface="Calibri"/>
            </a:endParaRPr>
          </a:p>
        </p:txBody>
      </p:sp>
      <p:sp>
        <p:nvSpPr>
          <p:cNvPr id="84" name="Google Shape;84;p2"/>
          <p:cNvSpPr txBox="1"/>
          <p:nvPr/>
        </p:nvSpPr>
        <p:spPr>
          <a:xfrm>
            <a:off x="3238805" y="3676219"/>
            <a:ext cx="2694600" cy="1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28 (tras limpieza)</a:t>
            </a:r>
            <a:endParaRPr b="0" i="0" sz="900" u="none" cap="none" strike="noStrike">
              <a:solidFill>
                <a:schemeClr val="dk1"/>
              </a:solidFill>
              <a:latin typeface="Calibri"/>
              <a:ea typeface="Calibri"/>
              <a:cs typeface="Calibri"/>
              <a:sym typeface="Calibri"/>
            </a:endParaRPr>
          </a:p>
        </p:txBody>
      </p:sp>
      <p:sp>
        <p:nvSpPr>
          <p:cNvPr id="85" name="Google Shape;85;p2"/>
          <p:cNvSpPr/>
          <p:nvPr/>
        </p:nvSpPr>
        <p:spPr>
          <a:xfrm>
            <a:off x="381305" y="4167252"/>
            <a:ext cx="5600700" cy="1171200"/>
          </a:xfrm>
          <a:prstGeom prst="roundRect">
            <a:avLst>
              <a:gd fmla="val 10155" name="adj"/>
            </a:avLst>
          </a:prstGeom>
          <a:solidFill>
            <a:srgbClr val="FFFFFF">
              <a:alpha val="5098"/>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2"/>
          <p:cNvSpPr txBox="1"/>
          <p:nvPr/>
        </p:nvSpPr>
        <p:spPr>
          <a:xfrm>
            <a:off x="763524" y="4319042"/>
            <a:ext cx="5180100" cy="191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1" i="0" lang="en-US" sz="900" u="none" cap="none" strike="noStrike">
                <a:solidFill>
                  <a:srgbClr val="FFFFFF"/>
                </a:solidFill>
                <a:latin typeface="Roboto"/>
                <a:ea typeface="Roboto"/>
                <a:cs typeface="Roboto"/>
                <a:sym typeface="Roboto"/>
              </a:rPr>
              <a:t> Distribución de Variables </a:t>
            </a:r>
            <a:endParaRPr b="0" i="0" sz="900" u="none" cap="none" strike="noStrike">
              <a:solidFill>
                <a:schemeClr val="dk1"/>
              </a:solidFill>
              <a:latin typeface="Calibri"/>
              <a:ea typeface="Calibri"/>
              <a:cs typeface="Calibri"/>
              <a:sym typeface="Calibri"/>
            </a:endParaRPr>
          </a:p>
        </p:txBody>
      </p:sp>
      <p:pic>
        <p:nvPicPr>
          <p:cNvPr descr="preencoded.png" id="87" name="Google Shape;87;p2"/>
          <p:cNvPicPr preferRelativeResize="0"/>
          <p:nvPr/>
        </p:nvPicPr>
        <p:blipFill rotWithShape="1">
          <a:blip r:embed="rId8">
            <a:alphaModFix/>
          </a:blip>
          <a:srcRect b="0" l="0" r="0" t="0"/>
          <a:stretch/>
        </p:blipFill>
        <p:spPr>
          <a:xfrm>
            <a:off x="533095" y="4344645"/>
            <a:ext cx="123444" cy="123444"/>
          </a:xfrm>
          <a:prstGeom prst="rect">
            <a:avLst/>
          </a:prstGeom>
          <a:noFill/>
          <a:ln>
            <a:noFill/>
          </a:ln>
        </p:spPr>
      </p:pic>
      <p:sp>
        <p:nvSpPr>
          <p:cNvPr id="88" name="Google Shape;88;p2"/>
          <p:cNvSpPr/>
          <p:nvPr/>
        </p:nvSpPr>
        <p:spPr>
          <a:xfrm>
            <a:off x="552298" y="4651200"/>
            <a:ext cx="800100" cy="256800"/>
          </a:xfrm>
          <a:prstGeom prst="roundRect">
            <a:avLst>
              <a:gd fmla="val 105444" name="adj"/>
            </a:avLst>
          </a:prstGeom>
          <a:solidFill>
            <a:srgbClr val="3B82F6">
              <a:alpha val="20000"/>
            </a:srgbClr>
          </a:solidFill>
          <a:ln cap="flat" cmpd="sng" w="12700">
            <a:solidFill>
              <a:srgbClr val="3B82F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2"/>
          <p:cNvSpPr txBox="1"/>
          <p:nvPr/>
        </p:nvSpPr>
        <p:spPr>
          <a:xfrm>
            <a:off x="552298" y="4638168"/>
            <a:ext cx="857700" cy="25800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rgbClr val="3B82F6"/>
              </a:buClr>
              <a:buSzPts val="800"/>
              <a:buFont typeface="Roboto"/>
              <a:buNone/>
            </a:pPr>
            <a:r>
              <a:rPr b="1" i="0" lang="en-US" sz="800" u="none" cap="none" strike="noStrike">
                <a:solidFill>
                  <a:srgbClr val="3B82F6"/>
                </a:solidFill>
                <a:latin typeface="Roboto"/>
                <a:ea typeface="Roboto"/>
                <a:cs typeface="Roboto"/>
                <a:sym typeface="Roboto"/>
              </a:rPr>
              <a:t>Numéricas: 3</a:t>
            </a:r>
            <a:endParaRPr b="0" i="0" sz="800" u="none" cap="none" strike="noStrike">
              <a:solidFill>
                <a:schemeClr val="dk1"/>
              </a:solidFill>
              <a:latin typeface="Calibri"/>
              <a:ea typeface="Calibri"/>
              <a:cs typeface="Calibri"/>
              <a:sym typeface="Calibri"/>
            </a:endParaRPr>
          </a:p>
        </p:txBody>
      </p:sp>
      <p:sp>
        <p:nvSpPr>
          <p:cNvPr id="90" name="Google Shape;90;p2"/>
          <p:cNvSpPr/>
          <p:nvPr/>
        </p:nvSpPr>
        <p:spPr>
          <a:xfrm>
            <a:off x="1462126" y="4635457"/>
            <a:ext cx="914400" cy="256800"/>
          </a:xfrm>
          <a:prstGeom prst="roundRect">
            <a:avLst>
              <a:gd fmla="val 105444" name="adj"/>
            </a:avLst>
          </a:prstGeom>
          <a:solidFill>
            <a:srgbClr val="10B981">
              <a:alpha val="20000"/>
            </a:srgbClr>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 name="Google Shape;91;p2"/>
          <p:cNvSpPr txBox="1"/>
          <p:nvPr/>
        </p:nvSpPr>
        <p:spPr>
          <a:xfrm>
            <a:off x="1462126" y="4638168"/>
            <a:ext cx="972000" cy="25800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rgbClr val="10B981"/>
              </a:buClr>
              <a:buSzPts val="800"/>
              <a:buFont typeface="Roboto"/>
              <a:buNone/>
            </a:pPr>
            <a:r>
              <a:rPr b="1" i="0" lang="en-US" sz="800" u="none" cap="none" strike="noStrike">
                <a:solidFill>
                  <a:srgbClr val="10B981"/>
                </a:solidFill>
                <a:latin typeface="Roboto"/>
                <a:ea typeface="Roboto"/>
                <a:cs typeface="Roboto"/>
                <a:sym typeface="Roboto"/>
              </a:rPr>
              <a:t>Categóricas: 19</a:t>
            </a:r>
            <a:endParaRPr b="0" i="0" sz="800" u="none" cap="none" strike="noStrike">
              <a:solidFill>
                <a:schemeClr val="dk1"/>
              </a:solidFill>
              <a:latin typeface="Calibri"/>
              <a:ea typeface="Calibri"/>
              <a:cs typeface="Calibri"/>
              <a:sym typeface="Calibri"/>
            </a:endParaRPr>
          </a:p>
        </p:txBody>
      </p:sp>
      <p:sp>
        <p:nvSpPr>
          <p:cNvPr id="92" name="Google Shape;92;p2"/>
          <p:cNvSpPr/>
          <p:nvPr/>
        </p:nvSpPr>
        <p:spPr>
          <a:xfrm>
            <a:off x="2487168" y="4643328"/>
            <a:ext cx="847500" cy="256800"/>
          </a:xfrm>
          <a:prstGeom prst="roundRect">
            <a:avLst>
              <a:gd fmla="val 105444" name="adj"/>
            </a:avLst>
          </a:prstGeom>
          <a:solidFill>
            <a:srgbClr val="F59E0B">
              <a:alpha val="20000"/>
            </a:srgbClr>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2487168" y="4638168"/>
            <a:ext cx="905400" cy="258000"/>
          </a:xfrm>
          <a:prstGeom prst="rect">
            <a:avLst/>
          </a:prstGeom>
          <a:solidFill>
            <a:srgbClr val="FFFFFF">
              <a:alpha val="0"/>
            </a:srgbClr>
          </a:solidFill>
          <a:ln cap="flat" cmpd="sng" w="9525">
            <a:solidFill>
              <a:srgbClr val="FFFFFF">
                <a:alpha val="0"/>
              </a:srgbClr>
            </a:solidFill>
            <a:prstDash val="solid"/>
            <a:round/>
            <a:headEnd len="sm" w="sm" type="none"/>
            <a:tailEnd len="sm" w="sm" type="none"/>
          </a:ln>
        </p:spPr>
        <p:txBody>
          <a:bodyPr anchorCtr="0" anchor="ctr" bIns="38100" lIns="76200" spcFirstLastPara="1" rIns="76200" wrap="square" tIns="38100">
            <a:noAutofit/>
          </a:bodyPr>
          <a:lstStyle/>
          <a:p>
            <a:pPr indent="0" lvl="0" marL="0" marR="0" rtl="0" algn="l">
              <a:lnSpc>
                <a:spcPct val="100000"/>
              </a:lnSpc>
              <a:spcBef>
                <a:spcPts val="0"/>
              </a:spcBef>
              <a:spcAft>
                <a:spcPts val="0"/>
              </a:spcAft>
              <a:buClr>
                <a:srgbClr val="F59E0B"/>
              </a:buClr>
              <a:buSzPts val="800"/>
              <a:buFont typeface="Roboto"/>
              <a:buNone/>
            </a:pPr>
            <a:r>
              <a:rPr b="1" i="0" lang="en-US" sz="800" u="none" cap="none" strike="noStrike">
                <a:solidFill>
                  <a:srgbClr val="F59E0B"/>
                </a:solidFill>
                <a:latin typeface="Roboto"/>
                <a:ea typeface="Roboto"/>
                <a:cs typeface="Roboto"/>
                <a:sym typeface="Roboto"/>
              </a:rPr>
              <a:t>Temporales: 6</a:t>
            </a:r>
            <a:endParaRPr b="0" i="0" sz="800" u="none" cap="none" strike="noStrike">
              <a:solidFill>
                <a:schemeClr val="dk1"/>
              </a:solidFill>
              <a:latin typeface="Calibri"/>
              <a:ea typeface="Calibri"/>
              <a:cs typeface="Calibri"/>
              <a:sym typeface="Calibri"/>
            </a:endParaRPr>
          </a:p>
        </p:txBody>
      </p:sp>
      <p:sp>
        <p:nvSpPr>
          <p:cNvPr id="94" name="Google Shape;94;p2"/>
          <p:cNvSpPr txBox="1"/>
          <p:nvPr/>
        </p:nvSpPr>
        <p:spPr>
          <a:xfrm>
            <a:off x="533095" y="5024045"/>
            <a:ext cx="5410500" cy="16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00"/>
              <a:buFont typeface="Roboto"/>
              <a:buNone/>
            </a:pPr>
            <a:r>
              <a:rPr b="0" i="0" lang="en-US" sz="800" u="none" cap="none" strike="noStrike">
                <a:solidFill>
                  <a:srgbClr val="94A3B8"/>
                </a:solidFill>
                <a:latin typeface="Roboto"/>
                <a:ea typeface="Roboto"/>
                <a:cs typeface="Roboto"/>
                <a:sym typeface="Roboto"/>
              </a:rPr>
              <a:t>Variables numéricas: Año, Edad, Resultado_Alcosensor</a:t>
            </a:r>
            <a:endParaRPr b="0" i="0" sz="800" u="none" cap="none" strike="noStrike">
              <a:solidFill>
                <a:schemeClr val="dk1"/>
              </a:solidFill>
              <a:latin typeface="Calibri"/>
              <a:ea typeface="Calibri"/>
              <a:cs typeface="Calibri"/>
              <a:sym typeface="Calibri"/>
            </a:endParaRPr>
          </a:p>
        </p:txBody>
      </p:sp>
      <p:pic>
        <p:nvPicPr>
          <p:cNvPr descr="preencoded.png" id="95" name="Google Shape;95;p2"/>
          <p:cNvPicPr preferRelativeResize="0"/>
          <p:nvPr/>
        </p:nvPicPr>
        <p:blipFill rotWithShape="1">
          <a:blip r:embed="rId6">
            <a:alphaModFix/>
          </a:blip>
          <a:srcRect b="-27" l="0" r="0" t="-27"/>
          <a:stretch/>
        </p:blipFill>
        <p:spPr>
          <a:xfrm>
            <a:off x="6210605" y="2353393"/>
            <a:ext cx="5600700" cy="428854"/>
          </a:xfrm>
          <a:prstGeom prst="rect">
            <a:avLst/>
          </a:prstGeom>
          <a:noFill/>
          <a:ln>
            <a:noFill/>
          </a:ln>
        </p:spPr>
      </p:pic>
      <p:sp>
        <p:nvSpPr>
          <p:cNvPr id="96" name="Google Shape;96;p2"/>
          <p:cNvSpPr txBox="1"/>
          <p:nvPr/>
        </p:nvSpPr>
        <p:spPr>
          <a:xfrm>
            <a:off x="6623914" y="2467693"/>
            <a:ext cx="5148900" cy="200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a:buNone/>
            </a:pPr>
            <a:r>
              <a:rPr b="1" i="0" lang="en-US" sz="1000" u="none" cap="none" strike="noStrike">
                <a:solidFill>
                  <a:srgbClr val="FFFFFF"/>
                </a:solidFill>
                <a:latin typeface="Roboto"/>
                <a:ea typeface="Roboto"/>
                <a:cs typeface="Roboto"/>
                <a:sym typeface="Roboto"/>
              </a:rPr>
              <a:t> Variables Principales </a:t>
            </a:r>
            <a:endParaRPr b="0" i="0" sz="1000" u="none" cap="none" strike="noStrike">
              <a:solidFill>
                <a:schemeClr val="dk1"/>
              </a:solidFill>
              <a:latin typeface="Calibri"/>
              <a:ea typeface="Calibri"/>
              <a:cs typeface="Calibri"/>
              <a:sym typeface="Calibri"/>
            </a:endParaRPr>
          </a:p>
        </p:txBody>
      </p:sp>
      <p:pic>
        <p:nvPicPr>
          <p:cNvPr descr="preencoded.png" id="97" name="Google Shape;97;p2"/>
          <p:cNvPicPr preferRelativeResize="0"/>
          <p:nvPr/>
        </p:nvPicPr>
        <p:blipFill rotWithShape="1">
          <a:blip r:embed="rId9">
            <a:alphaModFix/>
          </a:blip>
          <a:srcRect b="0" l="-837" r="-837" t="0"/>
          <a:stretch/>
        </p:blipFill>
        <p:spPr>
          <a:xfrm>
            <a:off x="6362395" y="2494211"/>
            <a:ext cx="152705" cy="133502"/>
          </a:xfrm>
          <a:prstGeom prst="rect">
            <a:avLst/>
          </a:prstGeom>
          <a:noFill/>
          <a:ln>
            <a:noFill/>
          </a:ln>
        </p:spPr>
      </p:pic>
      <p:sp>
        <p:nvSpPr>
          <p:cNvPr id="98" name="Google Shape;98;p2"/>
          <p:cNvSpPr/>
          <p:nvPr/>
        </p:nvSpPr>
        <p:spPr>
          <a:xfrm>
            <a:off x="6210605" y="2804796"/>
            <a:ext cx="5600700" cy="2667300"/>
          </a:xfrm>
          <a:prstGeom prst="roundRect">
            <a:avLst>
              <a:gd fmla="val 1959" name="adj"/>
            </a:avLst>
          </a:prstGeom>
          <a:solidFill>
            <a:srgbClr val="FFFFFF">
              <a:alpha val="5098"/>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 name="Google Shape;99;p2"/>
          <p:cNvSpPr txBox="1"/>
          <p:nvPr/>
        </p:nvSpPr>
        <p:spPr>
          <a:xfrm>
            <a:off x="6362395" y="2957501"/>
            <a:ext cx="2694600" cy="16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B82F6"/>
              </a:buClr>
              <a:buSzPts val="800"/>
              <a:buFont typeface="Roboto"/>
              <a:buNone/>
            </a:pPr>
            <a:r>
              <a:rPr b="1" i="0" lang="en-US" sz="800" u="none" cap="none" strike="noStrike">
                <a:solidFill>
                  <a:srgbClr val="3B82F6"/>
                </a:solidFill>
                <a:latin typeface="Roboto"/>
                <a:ea typeface="Roboto"/>
                <a:cs typeface="Roboto"/>
                <a:sym typeface="Roboto"/>
              </a:rPr>
              <a:t>Identificación</a:t>
            </a:r>
            <a:endParaRPr b="0" i="0" sz="800" u="none" cap="none" strike="noStrike">
              <a:solidFill>
                <a:schemeClr val="dk1"/>
              </a:solidFill>
              <a:latin typeface="Calibri"/>
              <a:ea typeface="Calibri"/>
              <a:cs typeface="Calibri"/>
              <a:sym typeface="Calibri"/>
            </a:endParaRPr>
          </a:p>
        </p:txBody>
      </p:sp>
      <p:sp>
        <p:nvSpPr>
          <p:cNvPr id="100" name="Google Shape;100;p2"/>
          <p:cNvSpPr txBox="1"/>
          <p:nvPr/>
        </p:nvSpPr>
        <p:spPr>
          <a:xfrm>
            <a:off x="6362395" y="3152268"/>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Radicado (ID único)</a:t>
            </a:r>
            <a:endParaRPr b="0" i="0" sz="900" u="none" cap="none" strike="noStrike">
              <a:solidFill>
                <a:schemeClr val="dk1"/>
              </a:solidFill>
              <a:latin typeface="Calibri"/>
              <a:ea typeface="Calibri"/>
              <a:cs typeface="Calibri"/>
              <a:sym typeface="Calibri"/>
            </a:endParaRPr>
          </a:p>
        </p:txBody>
      </p:sp>
      <p:sp>
        <p:nvSpPr>
          <p:cNvPr id="101" name="Google Shape;101;p2"/>
          <p:cNvSpPr txBox="1"/>
          <p:nvPr/>
        </p:nvSpPr>
        <p:spPr>
          <a:xfrm>
            <a:off x="6362395" y="3324175"/>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Fecha_Accidente</a:t>
            </a:r>
            <a:endParaRPr b="0" i="0" sz="900" u="none" cap="none" strike="noStrike">
              <a:solidFill>
                <a:schemeClr val="dk1"/>
              </a:solidFill>
              <a:latin typeface="Calibri"/>
              <a:ea typeface="Calibri"/>
              <a:cs typeface="Calibri"/>
              <a:sym typeface="Calibri"/>
            </a:endParaRPr>
          </a:p>
        </p:txBody>
      </p:sp>
      <p:sp>
        <p:nvSpPr>
          <p:cNvPr id="102" name="Google Shape;102;p2"/>
          <p:cNvSpPr txBox="1"/>
          <p:nvPr/>
        </p:nvSpPr>
        <p:spPr>
          <a:xfrm>
            <a:off x="6362395" y="3495168"/>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Hora_Accidente</a:t>
            </a:r>
            <a:endParaRPr b="0" i="0" sz="900" u="none" cap="none" strike="noStrike">
              <a:solidFill>
                <a:schemeClr val="dk1"/>
              </a:solidFill>
              <a:latin typeface="Calibri"/>
              <a:ea typeface="Calibri"/>
              <a:cs typeface="Calibri"/>
              <a:sym typeface="Calibri"/>
            </a:endParaRPr>
          </a:p>
        </p:txBody>
      </p:sp>
      <p:sp>
        <p:nvSpPr>
          <p:cNvPr id="103" name="Google Shape;103;p2"/>
          <p:cNvSpPr txBox="1"/>
          <p:nvPr/>
        </p:nvSpPr>
        <p:spPr>
          <a:xfrm>
            <a:off x="6362395" y="3667075"/>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Dia_Semana</a:t>
            </a:r>
            <a:endParaRPr b="0" i="0" sz="900" u="none" cap="none" strike="noStrike">
              <a:solidFill>
                <a:schemeClr val="dk1"/>
              </a:solidFill>
              <a:latin typeface="Calibri"/>
              <a:ea typeface="Calibri"/>
              <a:cs typeface="Calibri"/>
              <a:sym typeface="Calibri"/>
            </a:endParaRPr>
          </a:p>
        </p:txBody>
      </p:sp>
      <p:sp>
        <p:nvSpPr>
          <p:cNvPr id="104" name="Google Shape;104;p2"/>
          <p:cNvSpPr txBox="1"/>
          <p:nvPr/>
        </p:nvSpPr>
        <p:spPr>
          <a:xfrm>
            <a:off x="9068105" y="2957501"/>
            <a:ext cx="2694600" cy="16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0B981"/>
              </a:buClr>
              <a:buSzPts val="800"/>
              <a:buFont typeface="Roboto"/>
              <a:buNone/>
            </a:pPr>
            <a:r>
              <a:rPr b="1" i="0" lang="en-US" sz="800" u="none" cap="none" strike="noStrike">
                <a:solidFill>
                  <a:srgbClr val="10B981"/>
                </a:solidFill>
                <a:latin typeface="Roboto"/>
                <a:ea typeface="Roboto"/>
                <a:cs typeface="Roboto"/>
                <a:sym typeface="Roboto"/>
              </a:rPr>
              <a:t>Vehículo</a:t>
            </a:r>
            <a:endParaRPr b="0" i="0" sz="800" u="none" cap="none" strike="noStrike">
              <a:solidFill>
                <a:schemeClr val="dk1"/>
              </a:solidFill>
              <a:latin typeface="Calibri"/>
              <a:ea typeface="Calibri"/>
              <a:cs typeface="Calibri"/>
              <a:sym typeface="Calibri"/>
            </a:endParaRPr>
          </a:p>
        </p:txBody>
      </p:sp>
      <p:sp>
        <p:nvSpPr>
          <p:cNvPr id="105" name="Google Shape;105;p2"/>
          <p:cNvSpPr txBox="1"/>
          <p:nvPr/>
        </p:nvSpPr>
        <p:spPr>
          <a:xfrm>
            <a:off x="9068105" y="3152268"/>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Clase_Vehiculo</a:t>
            </a:r>
            <a:endParaRPr b="0" i="0" sz="900" u="none" cap="none" strike="noStrike">
              <a:solidFill>
                <a:schemeClr val="dk1"/>
              </a:solidFill>
              <a:latin typeface="Calibri"/>
              <a:ea typeface="Calibri"/>
              <a:cs typeface="Calibri"/>
              <a:sym typeface="Calibri"/>
            </a:endParaRPr>
          </a:p>
        </p:txBody>
      </p:sp>
      <p:sp>
        <p:nvSpPr>
          <p:cNvPr id="106" name="Google Shape;106;p2"/>
          <p:cNvSpPr txBox="1"/>
          <p:nvPr/>
        </p:nvSpPr>
        <p:spPr>
          <a:xfrm>
            <a:off x="9068105" y="3324175"/>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Tipo_Servicio</a:t>
            </a:r>
            <a:endParaRPr b="0" i="0" sz="900" u="none" cap="none" strike="noStrike">
              <a:solidFill>
                <a:schemeClr val="dk1"/>
              </a:solidFill>
              <a:latin typeface="Calibri"/>
              <a:ea typeface="Calibri"/>
              <a:cs typeface="Calibri"/>
              <a:sym typeface="Calibri"/>
            </a:endParaRPr>
          </a:p>
        </p:txBody>
      </p:sp>
      <p:sp>
        <p:nvSpPr>
          <p:cNvPr id="107" name="Google Shape;107;p2"/>
          <p:cNvSpPr txBox="1"/>
          <p:nvPr/>
        </p:nvSpPr>
        <p:spPr>
          <a:xfrm>
            <a:off x="9068105" y="3495168"/>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Tipo_Victima</a:t>
            </a:r>
            <a:endParaRPr b="0" i="0" sz="900" u="none" cap="none" strike="noStrike">
              <a:solidFill>
                <a:schemeClr val="dk1"/>
              </a:solidFill>
              <a:latin typeface="Calibri"/>
              <a:ea typeface="Calibri"/>
              <a:cs typeface="Calibri"/>
              <a:sym typeface="Calibri"/>
            </a:endParaRPr>
          </a:p>
        </p:txBody>
      </p:sp>
      <p:sp>
        <p:nvSpPr>
          <p:cNvPr id="108" name="Google Shape;108;p2"/>
          <p:cNvSpPr txBox="1"/>
          <p:nvPr/>
        </p:nvSpPr>
        <p:spPr>
          <a:xfrm>
            <a:off x="9068105" y="3667075"/>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Edad</a:t>
            </a:r>
            <a:endParaRPr b="0" i="0" sz="900" u="none" cap="none" strike="noStrike">
              <a:solidFill>
                <a:schemeClr val="dk1"/>
              </a:solidFill>
              <a:latin typeface="Calibri"/>
              <a:ea typeface="Calibri"/>
              <a:cs typeface="Calibri"/>
              <a:sym typeface="Calibri"/>
            </a:endParaRPr>
          </a:p>
        </p:txBody>
      </p:sp>
      <p:sp>
        <p:nvSpPr>
          <p:cNvPr id="109" name="Google Shape;109;p2"/>
          <p:cNvSpPr txBox="1"/>
          <p:nvPr/>
        </p:nvSpPr>
        <p:spPr>
          <a:xfrm>
            <a:off x="6362395" y="3952368"/>
            <a:ext cx="2694600" cy="16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9E0B"/>
              </a:buClr>
              <a:buSzPts val="800"/>
              <a:buFont typeface="Roboto"/>
              <a:buNone/>
            </a:pPr>
            <a:r>
              <a:rPr b="1" i="0" lang="en-US" sz="800" u="none" cap="none" strike="noStrike">
                <a:solidFill>
                  <a:srgbClr val="F59E0B"/>
                </a:solidFill>
                <a:latin typeface="Roboto"/>
                <a:ea typeface="Roboto"/>
                <a:cs typeface="Roboto"/>
                <a:sym typeface="Roboto"/>
              </a:rPr>
              <a:t>Accidente</a:t>
            </a:r>
            <a:endParaRPr b="0" i="0" sz="800" u="none" cap="none" strike="noStrike">
              <a:solidFill>
                <a:schemeClr val="dk1"/>
              </a:solidFill>
              <a:latin typeface="Calibri"/>
              <a:ea typeface="Calibri"/>
              <a:cs typeface="Calibri"/>
              <a:sym typeface="Calibri"/>
            </a:endParaRPr>
          </a:p>
        </p:txBody>
      </p:sp>
      <p:sp>
        <p:nvSpPr>
          <p:cNvPr id="110" name="Google Shape;110;p2"/>
          <p:cNvSpPr txBox="1"/>
          <p:nvPr/>
        </p:nvSpPr>
        <p:spPr>
          <a:xfrm>
            <a:off x="6362395" y="4148049"/>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Clase_Accidente</a:t>
            </a:r>
            <a:endParaRPr b="0" i="0" sz="900" u="none" cap="none" strike="noStrike">
              <a:solidFill>
                <a:schemeClr val="dk1"/>
              </a:solidFill>
              <a:latin typeface="Calibri"/>
              <a:ea typeface="Calibri"/>
              <a:cs typeface="Calibri"/>
              <a:sym typeface="Calibri"/>
            </a:endParaRPr>
          </a:p>
        </p:txBody>
      </p:sp>
      <p:sp>
        <p:nvSpPr>
          <p:cNvPr id="111" name="Google Shape;111;p2"/>
          <p:cNvSpPr txBox="1"/>
          <p:nvPr/>
        </p:nvSpPr>
        <p:spPr>
          <a:xfrm>
            <a:off x="6362395" y="4319042"/>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Choque_Contra</a:t>
            </a:r>
            <a:endParaRPr b="0" i="0" sz="900" u="none" cap="none" strike="noStrike">
              <a:solidFill>
                <a:schemeClr val="dk1"/>
              </a:solidFill>
              <a:latin typeface="Calibri"/>
              <a:ea typeface="Calibri"/>
              <a:cs typeface="Calibri"/>
              <a:sym typeface="Calibri"/>
            </a:endParaRPr>
          </a:p>
        </p:txBody>
      </p:sp>
      <p:sp>
        <p:nvSpPr>
          <p:cNvPr id="112" name="Google Shape;112;p2"/>
          <p:cNvSpPr txBox="1"/>
          <p:nvPr/>
        </p:nvSpPr>
        <p:spPr>
          <a:xfrm>
            <a:off x="6362395" y="4490949"/>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Causa_Accidente</a:t>
            </a:r>
            <a:endParaRPr b="0" i="0" sz="900" u="none" cap="none" strike="noStrike">
              <a:solidFill>
                <a:schemeClr val="dk1"/>
              </a:solidFill>
              <a:latin typeface="Calibri"/>
              <a:ea typeface="Calibri"/>
              <a:cs typeface="Calibri"/>
              <a:sym typeface="Calibri"/>
            </a:endParaRPr>
          </a:p>
        </p:txBody>
      </p:sp>
      <p:sp>
        <p:nvSpPr>
          <p:cNvPr id="113" name="Google Shape;113;p2"/>
          <p:cNvSpPr txBox="1"/>
          <p:nvPr/>
        </p:nvSpPr>
        <p:spPr>
          <a:xfrm>
            <a:off x="6362395" y="4661942"/>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Gravedad</a:t>
            </a:r>
            <a:endParaRPr b="0" i="0" sz="900" u="none" cap="none" strike="noStrike">
              <a:solidFill>
                <a:schemeClr val="dk1"/>
              </a:solidFill>
              <a:latin typeface="Calibri"/>
              <a:ea typeface="Calibri"/>
              <a:cs typeface="Calibri"/>
              <a:sym typeface="Calibri"/>
            </a:endParaRPr>
          </a:p>
        </p:txBody>
      </p:sp>
      <p:sp>
        <p:nvSpPr>
          <p:cNvPr id="114" name="Google Shape;114;p2"/>
          <p:cNvSpPr txBox="1"/>
          <p:nvPr/>
        </p:nvSpPr>
        <p:spPr>
          <a:xfrm>
            <a:off x="9068105" y="3952368"/>
            <a:ext cx="2694600" cy="16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F4444"/>
              </a:buClr>
              <a:buSzPts val="800"/>
              <a:buFont typeface="Roboto"/>
              <a:buNone/>
            </a:pPr>
            <a:r>
              <a:rPr b="1" i="0" lang="en-US" sz="800" u="none" cap="none" strike="noStrike">
                <a:solidFill>
                  <a:srgbClr val="EF4444"/>
                </a:solidFill>
                <a:latin typeface="Roboto"/>
                <a:ea typeface="Roboto"/>
                <a:cs typeface="Roboto"/>
                <a:sym typeface="Roboto"/>
              </a:rPr>
              <a:t>Ubicación</a:t>
            </a:r>
            <a:endParaRPr b="0" i="0" sz="800" u="none" cap="none" strike="noStrike">
              <a:solidFill>
                <a:schemeClr val="dk1"/>
              </a:solidFill>
              <a:latin typeface="Calibri"/>
              <a:ea typeface="Calibri"/>
              <a:cs typeface="Calibri"/>
              <a:sym typeface="Calibri"/>
            </a:endParaRPr>
          </a:p>
        </p:txBody>
      </p:sp>
      <p:sp>
        <p:nvSpPr>
          <p:cNvPr id="115" name="Google Shape;115;p2"/>
          <p:cNvSpPr txBox="1"/>
          <p:nvPr/>
        </p:nvSpPr>
        <p:spPr>
          <a:xfrm>
            <a:off x="9068105" y="4148049"/>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Localidad_Comuna</a:t>
            </a:r>
            <a:endParaRPr b="0" i="0" sz="900" u="none" cap="none" strike="noStrike">
              <a:solidFill>
                <a:schemeClr val="dk1"/>
              </a:solidFill>
              <a:latin typeface="Calibri"/>
              <a:ea typeface="Calibri"/>
              <a:cs typeface="Calibri"/>
              <a:sym typeface="Calibri"/>
            </a:endParaRPr>
          </a:p>
        </p:txBody>
      </p:sp>
      <p:sp>
        <p:nvSpPr>
          <p:cNvPr id="116" name="Google Shape;116;p2"/>
          <p:cNvSpPr txBox="1"/>
          <p:nvPr/>
        </p:nvSpPr>
        <p:spPr>
          <a:xfrm>
            <a:off x="9068105" y="4319042"/>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Sector_Accidente</a:t>
            </a:r>
            <a:endParaRPr b="0" i="0" sz="900" u="none" cap="none" strike="noStrike">
              <a:solidFill>
                <a:schemeClr val="dk1"/>
              </a:solidFill>
              <a:latin typeface="Calibri"/>
              <a:ea typeface="Calibri"/>
              <a:cs typeface="Calibri"/>
              <a:sym typeface="Calibri"/>
            </a:endParaRPr>
          </a:p>
        </p:txBody>
      </p:sp>
      <p:sp>
        <p:nvSpPr>
          <p:cNvPr id="117" name="Google Shape;117;p2"/>
          <p:cNvSpPr txBox="1"/>
          <p:nvPr/>
        </p:nvSpPr>
        <p:spPr>
          <a:xfrm>
            <a:off x="9068105" y="4490949"/>
            <a:ext cx="2694600" cy="171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Roboto"/>
              <a:buNone/>
            </a:pPr>
            <a:r>
              <a:rPr b="0" i="0" lang="en-US" sz="900" u="none" cap="none" strike="noStrike">
                <a:solidFill>
                  <a:srgbClr val="FFFFFF"/>
                </a:solidFill>
                <a:latin typeface="Roboto"/>
                <a:ea typeface="Roboto"/>
                <a:cs typeface="Roboto"/>
                <a:sym typeface="Roboto"/>
              </a:rPr>
              <a:t>• Tramo_Via</a:t>
            </a:r>
            <a:endParaRPr b="0" i="0" sz="900" u="none" cap="none" strike="noStrike">
              <a:solidFill>
                <a:schemeClr val="dk1"/>
              </a:solidFill>
              <a:latin typeface="Calibri"/>
              <a:ea typeface="Calibri"/>
              <a:cs typeface="Calibri"/>
              <a:sym typeface="Calibri"/>
            </a:endParaRPr>
          </a:p>
        </p:txBody>
      </p:sp>
      <p:sp>
        <p:nvSpPr>
          <p:cNvPr id="118" name="Google Shape;118;p2"/>
          <p:cNvSpPr/>
          <p:nvPr/>
        </p:nvSpPr>
        <p:spPr>
          <a:xfrm>
            <a:off x="381305" y="5524805"/>
            <a:ext cx="3715207" cy="638251"/>
          </a:xfrm>
          <a:prstGeom prst="roundRect">
            <a:avLst>
              <a:gd fmla="val 34213" name="adj"/>
            </a:avLst>
          </a:prstGeom>
          <a:solidFill>
            <a:srgbClr val="3B82F6">
              <a:alpha val="1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 name="Google Shape;119;p2"/>
          <p:cNvSpPr/>
          <p:nvPr/>
        </p:nvSpPr>
        <p:spPr>
          <a:xfrm>
            <a:off x="381305" y="5524805"/>
            <a:ext cx="38405" cy="638251"/>
          </a:xfrm>
          <a:prstGeom prst="roundRect">
            <a:avLst>
              <a:gd fmla="val 568583" name="adj"/>
            </a:avLst>
          </a:prstGeom>
          <a:solidFill>
            <a:srgbClr val="3B82F6"/>
          </a:solidFill>
          <a:ln cap="flat" cmpd="sng" w="12700">
            <a:solidFill>
              <a:srgbClr val="3B82F6">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 name="Google Shape;120;p2"/>
          <p:cNvSpPr txBox="1"/>
          <p:nvPr/>
        </p:nvSpPr>
        <p:spPr>
          <a:xfrm>
            <a:off x="533095" y="5639105"/>
            <a:ext cx="3562502"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Variables Cuantitativas</a:t>
            </a:r>
            <a:endParaRPr b="0" i="0" sz="900" u="none" cap="none" strike="noStrike">
              <a:solidFill>
                <a:schemeClr val="dk1"/>
              </a:solidFill>
              <a:latin typeface="Calibri"/>
              <a:ea typeface="Calibri"/>
              <a:cs typeface="Calibri"/>
              <a:sym typeface="Calibri"/>
            </a:endParaRPr>
          </a:p>
        </p:txBody>
      </p:sp>
      <p:sp>
        <p:nvSpPr>
          <p:cNvPr id="121" name="Google Shape;121;p2"/>
          <p:cNvSpPr txBox="1"/>
          <p:nvPr/>
        </p:nvSpPr>
        <p:spPr>
          <a:xfrm>
            <a:off x="533095" y="5848502"/>
            <a:ext cx="3834994" cy="2002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a:buNone/>
            </a:pPr>
            <a:r>
              <a:rPr b="1" i="0" lang="en-US" sz="1000" u="none" cap="none" strike="noStrike">
                <a:solidFill>
                  <a:srgbClr val="FFFFFF"/>
                </a:solidFill>
                <a:latin typeface="Roboto"/>
                <a:ea typeface="Roboto"/>
                <a:cs typeface="Roboto"/>
                <a:sym typeface="Roboto"/>
              </a:rPr>
              <a:t>3 variables (Año, Edad, Resultado_Alcosensor)</a:t>
            </a:r>
            <a:endParaRPr b="0" i="0" sz="1000" u="none" cap="none" strike="noStrike">
              <a:solidFill>
                <a:schemeClr val="dk1"/>
              </a:solidFill>
              <a:latin typeface="Calibri"/>
              <a:ea typeface="Calibri"/>
              <a:cs typeface="Calibri"/>
              <a:sym typeface="Calibri"/>
            </a:endParaRPr>
          </a:p>
        </p:txBody>
      </p:sp>
      <p:sp>
        <p:nvSpPr>
          <p:cNvPr id="122" name="Google Shape;122;p2"/>
          <p:cNvSpPr/>
          <p:nvPr/>
        </p:nvSpPr>
        <p:spPr>
          <a:xfrm>
            <a:off x="4241902" y="5524805"/>
            <a:ext cx="3715207" cy="638251"/>
          </a:xfrm>
          <a:prstGeom prst="roundRect">
            <a:avLst>
              <a:gd fmla="val 34213" name="adj"/>
            </a:avLst>
          </a:prstGeom>
          <a:solidFill>
            <a:srgbClr val="10B981">
              <a:alpha val="1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 name="Google Shape;123;p2"/>
          <p:cNvSpPr/>
          <p:nvPr/>
        </p:nvSpPr>
        <p:spPr>
          <a:xfrm>
            <a:off x="4241902" y="5524805"/>
            <a:ext cx="38405" cy="638251"/>
          </a:xfrm>
          <a:prstGeom prst="roundRect">
            <a:avLst>
              <a:gd fmla="val 568583" name="adj"/>
            </a:avLst>
          </a:prstGeom>
          <a:solidFill>
            <a:srgbClr val="10B981"/>
          </a:solidFill>
          <a:ln cap="flat" cmpd="sng" w="12700">
            <a:solidFill>
              <a:srgbClr val="10B981">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4" name="Google Shape;124;p2"/>
          <p:cNvSpPr txBox="1"/>
          <p:nvPr/>
        </p:nvSpPr>
        <p:spPr>
          <a:xfrm>
            <a:off x="4394606" y="5639105"/>
            <a:ext cx="3562502"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Variables Cualitativas</a:t>
            </a:r>
            <a:endParaRPr b="0" i="0" sz="900" u="none" cap="none" strike="noStrike">
              <a:solidFill>
                <a:schemeClr val="dk1"/>
              </a:solidFill>
              <a:latin typeface="Calibri"/>
              <a:ea typeface="Calibri"/>
              <a:cs typeface="Calibri"/>
              <a:sym typeface="Calibri"/>
            </a:endParaRPr>
          </a:p>
        </p:txBody>
      </p:sp>
      <p:sp>
        <p:nvSpPr>
          <p:cNvPr id="125" name="Google Shape;125;p2"/>
          <p:cNvSpPr txBox="1"/>
          <p:nvPr/>
        </p:nvSpPr>
        <p:spPr>
          <a:xfrm>
            <a:off x="4394606" y="5848502"/>
            <a:ext cx="4080053" cy="2002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a:buNone/>
            </a:pPr>
            <a:r>
              <a:rPr b="1" i="0" lang="en-US" sz="1000" u="none" cap="none" strike="noStrike">
                <a:solidFill>
                  <a:srgbClr val="FFFFFF"/>
                </a:solidFill>
                <a:latin typeface="Roboto"/>
                <a:ea typeface="Roboto"/>
                <a:cs typeface="Roboto"/>
                <a:sym typeface="Roboto"/>
              </a:rPr>
              <a:t>19 variables (Dia_Semana, Mes, Clase_Vehiculo, etc.)</a:t>
            </a:r>
            <a:endParaRPr b="0" i="0" sz="1000" u="none" cap="none" strike="noStrike">
              <a:solidFill>
                <a:schemeClr val="dk1"/>
              </a:solidFill>
              <a:latin typeface="Calibri"/>
              <a:ea typeface="Calibri"/>
              <a:cs typeface="Calibri"/>
              <a:sym typeface="Calibri"/>
            </a:endParaRPr>
          </a:p>
        </p:txBody>
      </p:sp>
      <p:sp>
        <p:nvSpPr>
          <p:cNvPr id="126" name="Google Shape;126;p2"/>
          <p:cNvSpPr/>
          <p:nvPr/>
        </p:nvSpPr>
        <p:spPr>
          <a:xfrm>
            <a:off x="8102498" y="5524805"/>
            <a:ext cx="3715207" cy="638251"/>
          </a:xfrm>
          <a:prstGeom prst="roundRect">
            <a:avLst>
              <a:gd fmla="val 34213" name="adj"/>
            </a:avLst>
          </a:prstGeom>
          <a:solidFill>
            <a:srgbClr val="F59E0B">
              <a:alpha val="10196"/>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 name="Google Shape;127;p2"/>
          <p:cNvSpPr/>
          <p:nvPr/>
        </p:nvSpPr>
        <p:spPr>
          <a:xfrm>
            <a:off x="8102498" y="5524805"/>
            <a:ext cx="38405" cy="638251"/>
          </a:xfrm>
          <a:prstGeom prst="roundRect">
            <a:avLst>
              <a:gd fmla="val 568583" name="adj"/>
            </a:avLst>
          </a:prstGeom>
          <a:solidFill>
            <a:srgbClr val="F59E0B"/>
          </a:solidFill>
          <a:ln cap="flat" cmpd="sng" w="12700">
            <a:solidFill>
              <a:srgbClr val="F59E0B">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p2"/>
          <p:cNvSpPr txBox="1"/>
          <p:nvPr/>
        </p:nvSpPr>
        <p:spPr>
          <a:xfrm>
            <a:off x="8255203" y="5639105"/>
            <a:ext cx="3562502"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Variables Temporales</a:t>
            </a:r>
            <a:endParaRPr b="0" i="0" sz="900" u="none" cap="none" strike="noStrike">
              <a:solidFill>
                <a:schemeClr val="dk1"/>
              </a:solidFill>
              <a:latin typeface="Calibri"/>
              <a:ea typeface="Calibri"/>
              <a:cs typeface="Calibri"/>
              <a:sym typeface="Calibri"/>
            </a:endParaRPr>
          </a:p>
        </p:txBody>
      </p:sp>
      <p:sp>
        <p:nvSpPr>
          <p:cNvPr id="129" name="Google Shape;129;p2"/>
          <p:cNvSpPr txBox="1"/>
          <p:nvPr/>
        </p:nvSpPr>
        <p:spPr>
          <a:xfrm>
            <a:off x="8255203" y="5848502"/>
            <a:ext cx="3562502" cy="2002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000"/>
              <a:buFont typeface="Roboto"/>
              <a:buNone/>
            </a:pPr>
            <a:r>
              <a:rPr b="1" i="0" lang="en-US" sz="1000" u="none" cap="none" strike="noStrike">
                <a:solidFill>
                  <a:srgbClr val="FFFFFF"/>
                </a:solidFill>
                <a:latin typeface="Roboto"/>
                <a:ea typeface="Roboto"/>
                <a:cs typeface="Roboto"/>
                <a:sym typeface="Roboto"/>
              </a:rPr>
              <a:t>6 variables (Fecha, Hora, Año, Mes, etc.)</a:t>
            </a:r>
            <a:endParaRPr b="0" i="0" sz="1000" u="none" cap="none" strike="noStrike">
              <a:solidFill>
                <a:schemeClr val="dk1"/>
              </a:solidFill>
              <a:latin typeface="Calibri"/>
              <a:ea typeface="Calibri"/>
              <a:cs typeface="Calibri"/>
              <a:sym typeface="Calibri"/>
            </a:endParaRPr>
          </a:p>
        </p:txBody>
      </p:sp>
      <p:sp>
        <p:nvSpPr>
          <p:cNvPr id="130" name="Google Shape;130;p2"/>
          <p:cNvSpPr/>
          <p:nvPr/>
        </p:nvSpPr>
        <p:spPr>
          <a:xfrm>
            <a:off x="381305" y="6476695"/>
            <a:ext cx="11430000" cy="9144"/>
          </a:xfrm>
          <a:prstGeom prst="rect">
            <a:avLst/>
          </a:prstGeom>
          <a:solidFill>
            <a:srgbClr val="FFFFFF">
              <a:alpha val="10196"/>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p2"/>
          <p:cNvSpPr txBox="1"/>
          <p:nvPr/>
        </p:nvSpPr>
        <p:spPr>
          <a:xfrm>
            <a:off x="571500" y="6601054"/>
            <a:ext cx="2926994"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Roboto"/>
              <a:buNone/>
            </a:pPr>
            <a:r>
              <a:rPr b="0" i="0" lang="en-US" sz="900" u="none" cap="none" strike="noStrike">
                <a:solidFill>
                  <a:srgbClr val="94A3B8"/>
                </a:solidFill>
                <a:latin typeface="Roboto"/>
                <a:ea typeface="Roboto"/>
                <a:cs typeface="Roboto"/>
                <a:sym typeface="Roboto"/>
              </a:rPr>
              <a:t> Municipio de Envigado | Análisis Vial 2018-2025 </a:t>
            </a:r>
            <a:endParaRPr b="0" i="0" sz="900" u="none" cap="none" strike="noStrike">
              <a:solidFill>
                <a:schemeClr val="dk1"/>
              </a:solidFill>
              <a:latin typeface="Calibri"/>
              <a:ea typeface="Calibri"/>
              <a:cs typeface="Calibri"/>
              <a:sym typeface="Calibri"/>
            </a:endParaRPr>
          </a:p>
        </p:txBody>
      </p:sp>
      <p:pic>
        <p:nvPicPr>
          <p:cNvPr descr="preencoded.png" id="132" name="Google Shape;132;p2"/>
          <p:cNvPicPr preferRelativeResize="0"/>
          <p:nvPr/>
        </p:nvPicPr>
        <p:blipFill rotWithShape="1">
          <a:blip r:embed="rId10">
            <a:alphaModFix/>
          </a:blip>
          <a:srcRect b="0" l="-133" r="-133" t="0"/>
          <a:stretch/>
        </p:blipFill>
        <p:spPr>
          <a:xfrm>
            <a:off x="381305" y="6624828"/>
            <a:ext cx="85954" cy="11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3"/>
          <p:cNvSpPr/>
          <p:nvPr/>
        </p:nvSpPr>
        <p:spPr>
          <a:xfrm>
            <a:off x="0" y="0"/>
            <a:ext cx="12191695"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39" name="Google Shape;139;p3"/>
          <p:cNvPicPr preferRelativeResize="0"/>
          <p:nvPr/>
        </p:nvPicPr>
        <p:blipFill rotWithShape="1">
          <a:blip r:embed="rId3">
            <a:alphaModFix/>
          </a:blip>
          <a:srcRect b="-1" l="0" r="0" t="-1"/>
          <a:stretch/>
        </p:blipFill>
        <p:spPr>
          <a:xfrm>
            <a:off x="0" y="0"/>
            <a:ext cx="12191695" cy="6858000"/>
          </a:xfrm>
          <a:prstGeom prst="rect">
            <a:avLst/>
          </a:prstGeom>
          <a:noFill/>
          <a:ln>
            <a:noFill/>
          </a:ln>
        </p:spPr>
      </p:pic>
      <p:sp>
        <p:nvSpPr>
          <p:cNvPr id="140" name="Google Shape;140;p3"/>
          <p:cNvSpPr txBox="1"/>
          <p:nvPr/>
        </p:nvSpPr>
        <p:spPr>
          <a:xfrm>
            <a:off x="837590" y="190195"/>
            <a:ext cx="4039819"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Montserrat"/>
              <a:buNone/>
            </a:pPr>
            <a:r>
              <a:rPr b="1" i="0" lang="en-US" sz="2100" u="none" cap="none" strike="noStrike">
                <a:solidFill>
                  <a:srgbClr val="FFFFFF"/>
                </a:solidFill>
                <a:latin typeface="Montserrat"/>
                <a:ea typeface="Montserrat"/>
                <a:cs typeface="Montserrat"/>
                <a:sym typeface="Montserrat"/>
              </a:rPr>
              <a:t> Variables del Dataset </a:t>
            </a:r>
            <a:endParaRPr b="0" i="0" sz="2100" u="none" cap="none" strike="noStrike">
              <a:solidFill>
                <a:schemeClr val="dk1"/>
              </a:solidFill>
              <a:latin typeface="Calibri"/>
              <a:ea typeface="Calibri"/>
              <a:cs typeface="Calibri"/>
              <a:sym typeface="Calibri"/>
            </a:endParaRPr>
          </a:p>
        </p:txBody>
      </p:sp>
      <p:pic>
        <p:nvPicPr>
          <p:cNvPr descr="preencoded.png" id="141" name="Google Shape;141;p3"/>
          <p:cNvPicPr preferRelativeResize="0"/>
          <p:nvPr/>
        </p:nvPicPr>
        <p:blipFill rotWithShape="1">
          <a:blip r:embed="rId4">
            <a:alphaModFix/>
          </a:blip>
          <a:srcRect b="0" l="0" r="0" t="0"/>
          <a:stretch/>
        </p:blipFill>
        <p:spPr>
          <a:xfrm>
            <a:off x="381305" y="252374"/>
            <a:ext cx="267005" cy="267005"/>
          </a:xfrm>
          <a:prstGeom prst="rect">
            <a:avLst/>
          </a:prstGeom>
          <a:noFill/>
          <a:ln>
            <a:noFill/>
          </a:ln>
        </p:spPr>
      </p:pic>
      <p:sp>
        <p:nvSpPr>
          <p:cNvPr id="142" name="Google Shape;142;p3"/>
          <p:cNvSpPr txBox="1"/>
          <p:nvPr/>
        </p:nvSpPr>
        <p:spPr>
          <a:xfrm>
            <a:off x="381305" y="629107"/>
            <a:ext cx="5067605" cy="20025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000"/>
              <a:buFont typeface="Montserrat"/>
              <a:buNone/>
            </a:pPr>
            <a:r>
              <a:rPr b="0" i="0" lang="en-US" sz="1000" u="none" cap="none" strike="noStrike">
                <a:solidFill>
                  <a:srgbClr val="94A3B8"/>
                </a:solidFill>
                <a:latin typeface="Montserrat"/>
                <a:ea typeface="Montserrat"/>
                <a:cs typeface="Montserrat"/>
                <a:sym typeface="Montserrat"/>
              </a:rPr>
              <a:t>Estructura completa de variables con descripción, tipo y unidades</a:t>
            </a:r>
            <a:endParaRPr b="0" i="0" sz="1000" u="none" cap="none" strike="noStrike">
              <a:solidFill>
                <a:schemeClr val="dk1"/>
              </a:solidFill>
              <a:latin typeface="Calibri"/>
              <a:ea typeface="Calibri"/>
              <a:cs typeface="Calibri"/>
              <a:sym typeface="Calibri"/>
            </a:endParaRPr>
          </a:p>
        </p:txBody>
      </p:sp>
      <p:sp>
        <p:nvSpPr>
          <p:cNvPr id="143" name="Google Shape;143;p3"/>
          <p:cNvSpPr txBox="1"/>
          <p:nvPr/>
        </p:nvSpPr>
        <p:spPr>
          <a:xfrm>
            <a:off x="10850270" y="252374"/>
            <a:ext cx="963778" cy="17190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900"/>
              <a:buFont typeface="Montserrat"/>
              <a:buNone/>
            </a:pPr>
            <a:r>
              <a:rPr b="0" i="0" lang="en-US" sz="900" u="none" cap="none" strike="noStrike">
                <a:solidFill>
                  <a:srgbClr val="94A3B8"/>
                </a:solidFill>
                <a:latin typeface="Montserrat"/>
                <a:ea typeface="Montserrat"/>
                <a:cs typeface="Montserrat"/>
                <a:sym typeface="Montserrat"/>
              </a:rPr>
              <a:t>Total variables</a:t>
            </a:r>
            <a:endParaRPr b="0" i="0" sz="900" u="none" cap="none" strike="noStrike">
              <a:solidFill>
                <a:schemeClr val="dk1"/>
              </a:solidFill>
              <a:latin typeface="Calibri"/>
              <a:ea typeface="Calibri"/>
              <a:cs typeface="Calibri"/>
              <a:sym typeface="Calibri"/>
            </a:endParaRPr>
          </a:p>
        </p:txBody>
      </p:sp>
      <p:sp>
        <p:nvSpPr>
          <p:cNvPr id="144" name="Google Shape;144;p3"/>
          <p:cNvSpPr txBox="1"/>
          <p:nvPr/>
        </p:nvSpPr>
        <p:spPr>
          <a:xfrm>
            <a:off x="10927994" y="424282"/>
            <a:ext cx="886054"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FF6F00"/>
              </a:buClr>
              <a:buSzPts val="1800"/>
              <a:buFont typeface="Montserrat"/>
              <a:buNone/>
            </a:pPr>
            <a:r>
              <a:rPr b="1" i="0" lang="en-US" sz="1800" u="none" cap="none" strike="noStrike">
                <a:solidFill>
                  <a:srgbClr val="FF6F00"/>
                </a:solidFill>
                <a:latin typeface="Montserrat"/>
                <a:ea typeface="Montserrat"/>
                <a:cs typeface="Montserrat"/>
                <a:sym typeface="Montserrat"/>
              </a:rPr>
              <a:t>28</a:t>
            </a:r>
            <a:endParaRPr b="0" i="0" sz="1800" u="none" cap="none" strike="noStrike">
              <a:solidFill>
                <a:schemeClr val="dk1"/>
              </a:solidFill>
              <a:latin typeface="Calibri"/>
              <a:ea typeface="Calibri"/>
              <a:cs typeface="Calibri"/>
              <a:sym typeface="Calibri"/>
            </a:endParaRPr>
          </a:p>
        </p:txBody>
      </p:sp>
      <p:sp>
        <p:nvSpPr>
          <p:cNvPr id="145" name="Google Shape;145;p3"/>
          <p:cNvSpPr/>
          <p:nvPr/>
        </p:nvSpPr>
        <p:spPr>
          <a:xfrm>
            <a:off x="381305" y="857707"/>
            <a:ext cx="11430000" cy="5201107"/>
          </a:xfrm>
          <a:prstGeom prst="roundRect">
            <a:avLst>
              <a:gd fmla="val 773"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146" name="Google Shape;146;p3"/>
          <p:cNvGraphicFramePr/>
          <p:nvPr/>
        </p:nvGraphicFramePr>
        <p:xfrm>
          <a:off x="390449" y="866851"/>
          <a:ext cx="3000000" cy="3000000"/>
        </p:xfrm>
        <a:graphic>
          <a:graphicData uri="http://schemas.openxmlformats.org/drawingml/2006/table">
            <a:tbl>
              <a:tblPr>
                <a:noFill/>
                <a:tableStyleId>{2CA3FA55-D003-4504-8CD8-5BCD379B2466}</a:tableStyleId>
              </a:tblPr>
              <a:tblGrid>
                <a:gridCol w="2053750"/>
                <a:gridCol w="3994100"/>
                <a:gridCol w="2852925"/>
                <a:gridCol w="2510950"/>
              </a:tblGrid>
              <a:tr h="398600">
                <a:tc>
                  <a:txBody>
                    <a:bodyPr/>
                    <a:lstStyle/>
                    <a:p>
                      <a:pPr indent="0" lvl="0" marL="0" marR="0" rtl="0" algn="l">
                        <a:lnSpc>
                          <a:spcPct val="100000"/>
                        </a:lnSpc>
                        <a:spcBef>
                          <a:spcPts val="0"/>
                        </a:spcBef>
                        <a:spcAft>
                          <a:spcPts val="0"/>
                        </a:spcAft>
                        <a:buClr>
                          <a:srgbClr val="FFFFFF"/>
                        </a:buClr>
                        <a:buSzPts val="975"/>
                        <a:buFont typeface="Montserrat"/>
                        <a:buNone/>
                      </a:pPr>
                      <a:r>
                        <a:rPr b="1" lang="en-US" sz="975" u="none" cap="none" strike="noStrike">
                          <a:solidFill>
                            <a:srgbClr val="FFFFFF"/>
                          </a:solidFill>
                          <a:latin typeface="Montserrat"/>
                          <a:ea typeface="Montserrat"/>
                          <a:cs typeface="Montserrat"/>
                          <a:sym typeface="Montserrat"/>
                        </a:rPr>
                        <a:t>Variable</a:t>
                      </a:r>
                      <a:endParaRPr sz="975" u="none" cap="none" strike="noStrike">
                        <a:latin typeface="Montserrat"/>
                        <a:ea typeface="Montserrat"/>
                        <a:cs typeface="Montserrat"/>
                        <a:sym typeface="Montserrat"/>
                      </a:endParaRPr>
                    </a:p>
                  </a:txBody>
                  <a:tcPr marT="114300" marB="1143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b="1" lang="en-US" sz="975" u="none" cap="none" strike="noStrike">
                          <a:solidFill>
                            <a:srgbClr val="FFFFFF"/>
                          </a:solidFill>
                          <a:latin typeface="Montserrat"/>
                          <a:ea typeface="Montserrat"/>
                          <a:cs typeface="Montserrat"/>
                          <a:sym typeface="Montserrat"/>
                        </a:rPr>
                        <a:t>Descripción</a:t>
                      </a:r>
                      <a:endParaRPr sz="975" u="none" cap="none" strike="noStrike">
                        <a:latin typeface="Montserrat"/>
                        <a:ea typeface="Montserrat"/>
                        <a:cs typeface="Montserrat"/>
                        <a:sym typeface="Montserrat"/>
                      </a:endParaRPr>
                    </a:p>
                  </a:txBody>
                  <a:tcPr marT="114300" marB="1143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FFFFF"/>
                        </a:buClr>
                        <a:buSzPts val="975"/>
                        <a:buFont typeface="Montserrat"/>
                        <a:buNone/>
                      </a:pPr>
                      <a:r>
                        <a:rPr b="1" lang="en-US" sz="975" u="none" cap="none" strike="noStrike">
                          <a:solidFill>
                            <a:srgbClr val="FFFFFF"/>
                          </a:solidFill>
                          <a:latin typeface="Montserrat"/>
                          <a:ea typeface="Montserrat"/>
                          <a:cs typeface="Montserrat"/>
                          <a:sym typeface="Montserrat"/>
                        </a:rPr>
                        <a:t>Tipo</a:t>
                      </a:r>
                      <a:endParaRPr sz="975" u="none" cap="none" strike="noStrike">
                        <a:latin typeface="Montserrat"/>
                        <a:ea typeface="Montserrat"/>
                        <a:cs typeface="Montserrat"/>
                        <a:sym typeface="Montserrat"/>
                      </a:endParaRPr>
                    </a:p>
                  </a:txBody>
                  <a:tcPr marT="114300" marB="1143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b="1" lang="en-US" sz="975" u="none" cap="none" strike="noStrike">
                          <a:solidFill>
                            <a:srgbClr val="FFFFFF"/>
                          </a:solidFill>
                          <a:latin typeface="Montserrat"/>
                          <a:ea typeface="Montserrat"/>
                          <a:cs typeface="Montserrat"/>
                          <a:sym typeface="Montserrat"/>
                        </a:rPr>
                        <a:t>Unidades</a:t>
                      </a:r>
                      <a:endParaRPr sz="975" u="none" cap="none" strike="noStrike">
                        <a:latin typeface="Montserrat"/>
                        <a:ea typeface="Montserrat"/>
                        <a:cs typeface="Montserrat"/>
                        <a:sym typeface="Montserrat"/>
                      </a:endParaRPr>
                    </a:p>
                  </a:txBody>
                  <a:tcPr marT="114300" marB="1143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19050">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Radicado</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Número de radicado del accidente (ID único)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3B82F6"/>
                        </a:buClr>
                        <a:buSzPts val="825"/>
                        <a:buFont typeface="Montserrat"/>
                        <a:buNone/>
                      </a:pPr>
                      <a:r>
                        <a:rPr b="1" lang="en-US" sz="825" u="none" cap="none" strike="noStrike">
                          <a:solidFill>
                            <a:srgbClr val="3B82F6"/>
                          </a:solidFill>
                          <a:latin typeface="Montserrat"/>
                          <a:ea typeface="Montserrat"/>
                          <a:cs typeface="Montserrat"/>
                          <a:sym typeface="Montserrat"/>
                        </a:rPr>
                        <a:t>Cuantitativa Nominal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ID único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19050">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Fecha_Accidente</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Fecha en que ocurrió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EC4899"/>
                        </a:buClr>
                        <a:buSzPts val="825"/>
                        <a:buFont typeface="Montserrat"/>
                        <a:buNone/>
                      </a:pPr>
                      <a:r>
                        <a:rPr b="1" lang="en-US" sz="825" u="none" cap="none" strike="noStrike">
                          <a:solidFill>
                            <a:srgbClr val="EC4899"/>
                          </a:solidFill>
                          <a:latin typeface="Montserrat"/>
                          <a:ea typeface="Montserrat"/>
                          <a:cs typeface="Montserrat"/>
                          <a:sym typeface="Montserrat"/>
                        </a:rPr>
                        <a:t>Cualitativa Ordinal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Fecha (AAAA-MM-DD)</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Dia_Semana</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Día de la semana del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59E0B"/>
                        </a:buClr>
                        <a:buSzPts val="825"/>
                        <a:buFont typeface="Montserrat"/>
                        <a:buNone/>
                      </a:pPr>
                      <a:r>
                        <a:rPr b="1" lang="en-US" sz="825" u="none" cap="none" strike="noStrike">
                          <a:solidFill>
                            <a:srgbClr val="F59E0B"/>
                          </a:solidFill>
                          <a:latin typeface="Montserrat"/>
                          <a:ea typeface="Montserrat"/>
                          <a:cs typeface="Montserrat"/>
                          <a:sym typeface="Montserrat"/>
                        </a:rPr>
                        <a:t>Cualitativa Ordinal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Lunes-Domingo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Año</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Año en que ocurrió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3B82F6"/>
                        </a:buClr>
                        <a:buSzPts val="825"/>
                        <a:buFont typeface="Montserrat"/>
                        <a:buNone/>
                      </a:pPr>
                      <a:r>
                        <a:rPr b="1" lang="en-US" sz="825" u="none" cap="none" strike="noStrike">
                          <a:solidFill>
                            <a:srgbClr val="3B82F6"/>
                          </a:solidFill>
                          <a:latin typeface="Montserrat"/>
                          <a:ea typeface="Montserrat"/>
                          <a:cs typeface="Montserrat"/>
                          <a:sym typeface="Montserrat"/>
                        </a:rPr>
                        <a:t>Cuantitativa Intervalo</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Año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Mes</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Mes en que ocurrió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F59E0B"/>
                        </a:buClr>
                        <a:buSzPts val="825"/>
                        <a:buFont typeface="Montserrat"/>
                        <a:buNone/>
                      </a:pPr>
                      <a:r>
                        <a:rPr b="1" lang="en-US" sz="825" u="none" cap="none" strike="noStrike">
                          <a:solidFill>
                            <a:srgbClr val="F59E0B"/>
                          </a:solidFill>
                          <a:latin typeface="Montserrat"/>
                          <a:ea typeface="Montserrat"/>
                          <a:cs typeface="Montserrat"/>
                          <a:sym typeface="Montserrat"/>
                        </a:rPr>
                        <a:t>Cualitativa Ordinal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12 meses del año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Clase_Vehiculo</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Tipo de vehículo involucrado en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10B981"/>
                        </a:buClr>
                        <a:buSzPts val="825"/>
                        <a:buFont typeface="Montserrat"/>
                        <a:buNone/>
                      </a:pPr>
                      <a:r>
                        <a:rPr b="1" lang="en-US" sz="825" u="none" cap="none" strike="noStrike">
                          <a:solidFill>
                            <a:srgbClr val="10B981"/>
                          </a:solidFill>
                          <a:latin typeface="Montserrat"/>
                          <a:ea typeface="Montserrat"/>
                          <a:cs typeface="Montserrat"/>
                          <a:sym typeface="Montserrat"/>
                        </a:rPr>
                        <a:t>Cualitativa Nominal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Motocicleta, Auto, etc.</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Tipo_Victima</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Rol de la persona afectada en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0B981"/>
                        </a:buClr>
                        <a:buSzPts val="825"/>
                        <a:buFont typeface="Montserrat"/>
                        <a:buNone/>
                      </a:pPr>
                      <a:r>
                        <a:rPr b="1" lang="en-US" sz="825" u="none" cap="none" strike="noStrike">
                          <a:solidFill>
                            <a:srgbClr val="10B981"/>
                          </a:solidFill>
                          <a:latin typeface="Montserrat"/>
                          <a:ea typeface="Montserrat"/>
                          <a:cs typeface="Montserrat"/>
                          <a:sym typeface="Montserrat"/>
                        </a:rPr>
                        <a:t>Cualitativa Nominal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Motociclista, Peatón, etc.</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Edad</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Edad de la persona involucrada en 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3B82F6"/>
                        </a:buClr>
                        <a:buSzPts val="825"/>
                        <a:buFont typeface="Montserrat"/>
                        <a:buNone/>
                      </a:pPr>
                      <a:r>
                        <a:rPr b="1" lang="en-US" sz="825" u="none" cap="none" strike="noStrike">
                          <a:solidFill>
                            <a:srgbClr val="3B82F6"/>
                          </a:solidFill>
                          <a:latin typeface="Montserrat"/>
                          <a:ea typeface="Montserrat"/>
                          <a:cs typeface="Montserrat"/>
                          <a:sym typeface="Montserrat"/>
                        </a:rPr>
                        <a:t>Cuantitativa Razón</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Años</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Genero</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Género de la persona involucrada</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0B981"/>
                        </a:buClr>
                        <a:buSzPts val="825"/>
                        <a:buFont typeface="Montserrat"/>
                        <a:buNone/>
                      </a:pPr>
                      <a:r>
                        <a:rPr b="1" lang="en-US" sz="825" u="none" cap="none" strike="noStrike">
                          <a:solidFill>
                            <a:srgbClr val="10B981"/>
                          </a:solidFill>
                          <a:latin typeface="Montserrat"/>
                          <a:ea typeface="Montserrat"/>
                          <a:cs typeface="Montserrat"/>
                          <a:sym typeface="Montserrat"/>
                        </a:rPr>
                        <a:t>Cualitativa Nominal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Hombre, Mujer</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Gravedad</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Nivel de gravedad del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F59E0B"/>
                        </a:buClr>
                        <a:buSzPts val="825"/>
                        <a:buFont typeface="Montserrat"/>
                        <a:buNone/>
                      </a:pPr>
                      <a:r>
                        <a:rPr b="1" lang="en-US" sz="825" u="none" cap="none" strike="noStrike">
                          <a:solidFill>
                            <a:srgbClr val="F59E0B"/>
                          </a:solidFill>
                          <a:latin typeface="Montserrat"/>
                          <a:ea typeface="Montserrat"/>
                          <a:cs typeface="Montserrat"/>
                          <a:sym typeface="Montserrat"/>
                        </a:rPr>
                        <a:t>Cualitativa Ordinal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Heridos, Muertos</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Causa_Accidente</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Causa principal del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10B981"/>
                        </a:buClr>
                        <a:buSzPts val="825"/>
                        <a:buFont typeface="Montserrat"/>
                        <a:buNone/>
                      </a:pPr>
                      <a:r>
                        <a:rPr b="1" lang="en-US" sz="825" u="none" cap="none" strike="noStrike">
                          <a:solidFill>
                            <a:srgbClr val="10B981"/>
                          </a:solidFill>
                          <a:latin typeface="Montserrat"/>
                          <a:ea typeface="Montserrat"/>
                          <a:cs typeface="Montserrat"/>
                          <a:sym typeface="Montserrat"/>
                        </a:rPr>
                        <a:t>Cualitativa Nominal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Texto descriptivo</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r h="398600">
                <a:tc>
                  <a:txBody>
                    <a:bodyPr/>
                    <a:lstStyle/>
                    <a:p>
                      <a:pPr indent="0" lvl="0" marL="0" marR="0" rtl="0" algn="l">
                        <a:lnSpc>
                          <a:spcPct val="100000"/>
                        </a:lnSpc>
                        <a:spcBef>
                          <a:spcPts val="0"/>
                        </a:spcBef>
                        <a:spcAft>
                          <a:spcPts val="0"/>
                        </a:spcAft>
                        <a:buClr>
                          <a:srgbClr val="3B82F6"/>
                        </a:buClr>
                        <a:buSzPts val="975"/>
                        <a:buFont typeface="Montserrat"/>
                        <a:buNone/>
                      </a:pPr>
                      <a:r>
                        <a:rPr b="1" lang="en-US" sz="975" u="none" cap="none" strike="noStrike">
                          <a:solidFill>
                            <a:srgbClr val="3B82F6"/>
                          </a:solidFill>
                          <a:latin typeface="Montserrat"/>
                          <a:ea typeface="Montserrat"/>
                          <a:cs typeface="Montserrat"/>
                          <a:sym typeface="Montserrat"/>
                        </a:rPr>
                        <a:t>Franja_Horaria</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Franja horaria del accidente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ctr">
                        <a:lnSpc>
                          <a:spcPct val="100000"/>
                        </a:lnSpc>
                        <a:spcBef>
                          <a:spcPts val="0"/>
                        </a:spcBef>
                        <a:spcAft>
                          <a:spcPts val="0"/>
                        </a:spcAft>
                        <a:buClr>
                          <a:srgbClr val="F59E0B"/>
                        </a:buClr>
                        <a:buSzPts val="825"/>
                        <a:buFont typeface="Montserrat"/>
                        <a:buNone/>
                      </a:pPr>
                      <a:r>
                        <a:rPr b="1" lang="en-US" sz="825" u="none" cap="none" strike="noStrike">
                          <a:solidFill>
                            <a:srgbClr val="F59E0B"/>
                          </a:solidFill>
                          <a:latin typeface="Montserrat"/>
                          <a:ea typeface="Montserrat"/>
                          <a:cs typeface="Montserrat"/>
                          <a:sym typeface="Montserrat"/>
                        </a:rPr>
                        <a:t>Cualitativa Ordinal</a:t>
                      </a:r>
                      <a:endParaRPr sz="1200" u="none" cap="none" strike="noStrike"/>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c>
                  <a:txBody>
                    <a:bodyPr/>
                    <a:lstStyle/>
                    <a:p>
                      <a:pPr indent="0" lvl="0" marL="0" marR="0" rtl="0" algn="l">
                        <a:lnSpc>
                          <a:spcPct val="100000"/>
                        </a:lnSpc>
                        <a:spcBef>
                          <a:spcPts val="0"/>
                        </a:spcBef>
                        <a:spcAft>
                          <a:spcPts val="0"/>
                        </a:spcAft>
                        <a:buClr>
                          <a:srgbClr val="FFFFFF"/>
                        </a:buClr>
                        <a:buSzPts val="975"/>
                        <a:buFont typeface="Montserrat"/>
                        <a:buNone/>
                      </a:pPr>
                      <a:r>
                        <a:rPr lang="en-US" sz="975" u="none" cap="none" strike="noStrike">
                          <a:solidFill>
                            <a:srgbClr val="FFFFFF"/>
                          </a:solidFill>
                          <a:latin typeface="Montserrat"/>
                          <a:ea typeface="Montserrat"/>
                          <a:cs typeface="Montserrat"/>
                          <a:sym typeface="Montserrat"/>
                        </a:rPr>
                        <a:t>Madrugada, Mañana, Tarde, Noche</a:t>
                      </a:r>
                      <a:endParaRPr sz="975" u="none" cap="none" strike="noStrike">
                        <a:latin typeface="Montserrat"/>
                        <a:ea typeface="Montserrat"/>
                        <a:cs typeface="Montserrat"/>
                        <a:sym typeface="Montserrat"/>
                      </a:endParaRPr>
                    </a:p>
                  </a:txBody>
                  <a:tcPr marT="95100" marB="95100" marR="152700" marL="152700" anchor="ctr">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solidFill>
                      <a:srgbClr val="FFFFFF">
                        <a:alpha val="5098"/>
                      </a:srgbClr>
                    </a:solidFill>
                  </a:tcPr>
                </a:tc>
              </a:tr>
            </a:tbl>
          </a:graphicData>
        </a:graphic>
      </p:graphicFrame>
      <p:sp>
        <p:nvSpPr>
          <p:cNvPr id="147" name="Google Shape;147;p3"/>
          <p:cNvSpPr/>
          <p:nvPr/>
        </p:nvSpPr>
        <p:spPr>
          <a:xfrm>
            <a:off x="381305" y="6172200"/>
            <a:ext cx="11430000" cy="323698"/>
          </a:xfrm>
          <a:prstGeom prst="roundRect">
            <a:avLst>
              <a:gd fmla="val 132934" name="adj"/>
            </a:avLst>
          </a:prstGeom>
          <a:solidFill>
            <a:srgbClr val="FFFFFF">
              <a:alpha val="10196"/>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2200" u="none" cap="none" strike="noStrike">
              <a:solidFill>
                <a:schemeClr val="dk1"/>
              </a:solidFill>
              <a:latin typeface="Calibri"/>
              <a:ea typeface="Calibri"/>
              <a:cs typeface="Calibri"/>
              <a:sym typeface="Calibri"/>
            </a:endParaRPr>
          </a:p>
        </p:txBody>
      </p:sp>
      <p:sp>
        <p:nvSpPr>
          <p:cNvPr id="148" name="Google Shape;148;p3"/>
          <p:cNvSpPr/>
          <p:nvPr/>
        </p:nvSpPr>
        <p:spPr>
          <a:xfrm>
            <a:off x="533095" y="6277356"/>
            <a:ext cx="114300" cy="114300"/>
          </a:xfrm>
          <a:prstGeom prst="roundRect">
            <a:avLst>
              <a:gd fmla="val 266667" name="adj"/>
            </a:avLst>
          </a:prstGeom>
          <a:solidFill>
            <a:srgbClr val="3B82F6"/>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 name="Google Shape;149;p3"/>
          <p:cNvSpPr txBox="1"/>
          <p:nvPr/>
        </p:nvSpPr>
        <p:spPr>
          <a:xfrm>
            <a:off x="685800" y="6248095"/>
            <a:ext cx="1519733"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Numéricas: 3 variables</a:t>
            </a:r>
            <a:endParaRPr b="0" i="0" sz="900" u="none" cap="none" strike="noStrike">
              <a:solidFill>
                <a:schemeClr val="dk1"/>
              </a:solidFill>
              <a:latin typeface="Calibri"/>
              <a:ea typeface="Calibri"/>
              <a:cs typeface="Calibri"/>
              <a:sym typeface="Calibri"/>
            </a:endParaRPr>
          </a:p>
        </p:txBody>
      </p:sp>
      <p:sp>
        <p:nvSpPr>
          <p:cNvPr id="150" name="Google Shape;150;p3"/>
          <p:cNvSpPr/>
          <p:nvPr/>
        </p:nvSpPr>
        <p:spPr>
          <a:xfrm>
            <a:off x="2113178" y="6277356"/>
            <a:ext cx="114300" cy="114300"/>
          </a:xfrm>
          <a:prstGeom prst="roundRect">
            <a:avLst>
              <a:gd fmla="val 266667" name="adj"/>
            </a:avLst>
          </a:prstGeom>
          <a:solidFill>
            <a:srgbClr val="10B981"/>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 name="Google Shape;151;p3"/>
          <p:cNvSpPr txBox="1"/>
          <p:nvPr/>
        </p:nvSpPr>
        <p:spPr>
          <a:xfrm>
            <a:off x="2265883" y="6248095"/>
            <a:ext cx="1644091"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Categóricas: 19 variables</a:t>
            </a:r>
            <a:endParaRPr b="0" i="0" sz="900" u="none" cap="none" strike="noStrike">
              <a:solidFill>
                <a:schemeClr val="dk1"/>
              </a:solidFill>
              <a:latin typeface="Calibri"/>
              <a:ea typeface="Calibri"/>
              <a:cs typeface="Calibri"/>
              <a:sym typeface="Calibri"/>
            </a:endParaRPr>
          </a:p>
        </p:txBody>
      </p:sp>
      <p:sp>
        <p:nvSpPr>
          <p:cNvPr id="152" name="Google Shape;152;p3"/>
          <p:cNvSpPr/>
          <p:nvPr/>
        </p:nvSpPr>
        <p:spPr>
          <a:xfrm>
            <a:off x="3791102" y="6277356"/>
            <a:ext cx="114300" cy="114300"/>
          </a:xfrm>
          <a:prstGeom prst="roundRect">
            <a:avLst>
              <a:gd fmla="val 266667" name="adj"/>
            </a:avLst>
          </a:prstGeom>
          <a:solidFill>
            <a:srgbClr val="F59E0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3" name="Google Shape;153;p3"/>
          <p:cNvSpPr txBox="1"/>
          <p:nvPr/>
        </p:nvSpPr>
        <p:spPr>
          <a:xfrm>
            <a:off x="3942893" y="6248095"/>
            <a:ext cx="1576426"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900"/>
              <a:buFont typeface="Montserrat"/>
              <a:buNone/>
            </a:pPr>
            <a:r>
              <a:rPr b="0" i="0" lang="en-US" sz="900" u="none" cap="none" strike="noStrike">
                <a:solidFill>
                  <a:srgbClr val="FFFFFF"/>
                </a:solidFill>
                <a:latin typeface="Montserrat"/>
                <a:ea typeface="Montserrat"/>
                <a:cs typeface="Montserrat"/>
                <a:sym typeface="Montserrat"/>
              </a:rPr>
              <a:t>Temporales: 6 variables</a:t>
            </a:r>
            <a:endParaRPr b="0" i="0" sz="900" u="none" cap="none" strike="noStrike">
              <a:solidFill>
                <a:schemeClr val="dk1"/>
              </a:solidFill>
              <a:latin typeface="Calibri"/>
              <a:ea typeface="Calibri"/>
              <a:cs typeface="Calibri"/>
              <a:sym typeface="Calibri"/>
            </a:endParaRPr>
          </a:p>
        </p:txBody>
      </p:sp>
      <p:sp>
        <p:nvSpPr>
          <p:cNvPr id="154" name="Google Shape;154;p3"/>
          <p:cNvSpPr txBox="1"/>
          <p:nvPr/>
        </p:nvSpPr>
        <p:spPr>
          <a:xfrm>
            <a:off x="10660075" y="6248095"/>
            <a:ext cx="1190549"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ontserrat"/>
              <a:buNone/>
            </a:pPr>
            <a:r>
              <a:rPr b="0" i="0" lang="en-US" sz="900" u="none" cap="none" strike="noStrike">
                <a:solidFill>
                  <a:srgbClr val="94A3B8"/>
                </a:solidFill>
                <a:latin typeface="Montserrat"/>
                <a:ea typeface="Montserrat"/>
                <a:cs typeface="Montserrat"/>
                <a:sym typeface="Montserrat"/>
              </a:rPr>
              <a:t>Total: 28 variables</a:t>
            </a:r>
            <a:endParaRPr b="0" i="0" sz="900" u="none" cap="none" strike="noStrike">
              <a:solidFill>
                <a:schemeClr val="dk1"/>
              </a:solidFill>
              <a:latin typeface="Calibri"/>
              <a:ea typeface="Calibri"/>
              <a:cs typeface="Calibri"/>
              <a:sym typeface="Calibri"/>
            </a:endParaRPr>
          </a:p>
        </p:txBody>
      </p:sp>
      <p:sp>
        <p:nvSpPr>
          <p:cNvPr id="155" name="Google Shape;155;p3"/>
          <p:cNvSpPr/>
          <p:nvPr/>
        </p:nvSpPr>
        <p:spPr>
          <a:xfrm>
            <a:off x="381305" y="6476695"/>
            <a:ext cx="11430000" cy="9144"/>
          </a:xfrm>
          <a:prstGeom prst="rect">
            <a:avLst/>
          </a:prstGeom>
          <a:solidFill>
            <a:srgbClr val="FFFFFF">
              <a:alpha val="10196"/>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p3"/>
          <p:cNvSpPr txBox="1"/>
          <p:nvPr/>
        </p:nvSpPr>
        <p:spPr>
          <a:xfrm>
            <a:off x="573329" y="6601054"/>
            <a:ext cx="3145536" cy="1719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Montserrat"/>
              <a:buNone/>
            </a:pPr>
            <a:r>
              <a:rPr b="0" i="0" lang="en-US" sz="900" u="none" cap="none" strike="noStrike">
                <a:solidFill>
                  <a:srgbClr val="94A3B8"/>
                </a:solidFill>
                <a:latin typeface="Montserrat"/>
                <a:ea typeface="Montserrat"/>
                <a:cs typeface="Montserrat"/>
                <a:sym typeface="Montserrat"/>
              </a:rPr>
              <a:t> Municipio de Envigado | Análisis Vial 2018-2025 </a:t>
            </a:r>
            <a:endParaRPr b="0" i="0" sz="900" u="none" cap="none" strike="noStrike">
              <a:solidFill>
                <a:schemeClr val="dk1"/>
              </a:solidFill>
              <a:latin typeface="Calibri"/>
              <a:ea typeface="Calibri"/>
              <a:cs typeface="Calibri"/>
              <a:sym typeface="Calibri"/>
            </a:endParaRPr>
          </a:p>
        </p:txBody>
      </p:sp>
      <p:pic>
        <p:nvPicPr>
          <p:cNvPr descr="preencoded.png" id="157" name="Google Shape;157;p3"/>
          <p:cNvPicPr preferRelativeResize="0"/>
          <p:nvPr/>
        </p:nvPicPr>
        <p:blipFill rotWithShape="1">
          <a:blip r:embed="rId5">
            <a:alphaModFix/>
          </a:blip>
          <a:srcRect b="0" l="-133" r="-133" t="0"/>
          <a:stretch/>
        </p:blipFill>
        <p:spPr>
          <a:xfrm>
            <a:off x="381305" y="6624828"/>
            <a:ext cx="85954" cy="114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a86323efb1_2_0"/>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64" name="Google Shape;164;g3a86323efb1_2_0"/>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165" name="Google Shape;165;g3a86323efb1_2_0"/>
          <p:cNvSpPr txBox="1"/>
          <p:nvPr/>
        </p:nvSpPr>
        <p:spPr>
          <a:xfrm>
            <a:off x="837590" y="190195"/>
            <a:ext cx="50511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FFFFFF"/>
                </a:solidFill>
                <a:latin typeface="Montserrat"/>
                <a:ea typeface="Montserrat"/>
                <a:cs typeface="Montserrat"/>
                <a:sym typeface="Montserrat"/>
              </a:rPr>
              <a:t>SITUACIÓN INICIAL</a:t>
            </a:r>
            <a:endParaRPr/>
          </a:p>
        </p:txBody>
      </p:sp>
      <p:pic>
        <p:nvPicPr>
          <p:cNvPr descr="preencoded.png" id="166" name="Google Shape;166;g3a86323efb1_2_0"/>
          <p:cNvPicPr preferRelativeResize="0"/>
          <p:nvPr/>
        </p:nvPicPr>
        <p:blipFill rotWithShape="1">
          <a:blip r:embed="rId4">
            <a:alphaModFix/>
          </a:blip>
          <a:srcRect b="0" l="0" r="0" t="0"/>
          <a:stretch/>
        </p:blipFill>
        <p:spPr>
          <a:xfrm>
            <a:off x="381305" y="252374"/>
            <a:ext cx="267005" cy="267005"/>
          </a:xfrm>
          <a:prstGeom prst="rect">
            <a:avLst/>
          </a:prstGeom>
          <a:noFill/>
          <a:ln>
            <a:noFill/>
          </a:ln>
        </p:spPr>
      </p:pic>
      <p:sp>
        <p:nvSpPr>
          <p:cNvPr id="167" name="Google Shape;167;g3a86323efb1_2_0"/>
          <p:cNvSpPr/>
          <p:nvPr/>
        </p:nvSpPr>
        <p:spPr>
          <a:xfrm>
            <a:off x="381305" y="857707"/>
            <a:ext cx="11430000" cy="5201100"/>
          </a:xfrm>
          <a:prstGeom prst="roundRect">
            <a:avLst>
              <a:gd fmla="val 773"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g3a86323efb1_2_0"/>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g3a86323efb1_2_0"/>
          <p:cNvSpPr/>
          <p:nvPr/>
        </p:nvSpPr>
        <p:spPr>
          <a:xfrm>
            <a:off x="648290" y="1006750"/>
            <a:ext cx="109413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0" name="Google Shape;170;g3a86323efb1_2_0"/>
          <p:cNvSpPr/>
          <p:nvPr/>
        </p:nvSpPr>
        <p:spPr>
          <a:xfrm>
            <a:off x="6258627" y="1006754"/>
            <a:ext cx="53310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1" name="Google Shape;171;g3a86323efb1_2_0"/>
          <p:cNvSpPr/>
          <p:nvPr/>
        </p:nvSpPr>
        <p:spPr>
          <a:xfrm>
            <a:off x="7127173" y="1351700"/>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RESTRICCIONES INICIALES</a:t>
            </a:r>
            <a:endParaRPr b="1" i="0" sz="2000" u="none" cap="none" strike="noStrike">
              <a:solidFill>
                <a:srgbClr val="000000"/>
              </a:solidFill>
            </a:endParaRPr>
          </a:p>
        </p:txBody>
      </p:sp>
      <p:sp>
        <p:nvSpPr>
          <p:cNvPr id="172" name="Google Shape;172;g3a86323efb1_2_0"/>
          <p:cNvSpPr/>
          <p:nvPr/>
        </p:nvSpPr>
        <p:spPr>
          <a:xfrm>
            <a:off x="1341010" y="1351687"/>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EL PROBLEM</a:t>
            </a:r>
            <a:r>
              <a:rPr b="1" lang="en-US" sz="2000">
                <a:solidFill>
                  <a:srgbClr val="1A3A5C"/>
                </a:solidFill>
              </a:rPr>
              <a:t>A</a:t>
            </a:r>
            <a:endParaRPr b="1" i="0" sz="2000" u="none" cap="none" strike="noStrike">
              <a:solidFill>
                <a:srgbClr val="000000"/>
              </a:solidFill>
            </a:endParaRPr>
          </a:p>
        </p:txBody>
      </p:sp>
      <p:sp>
        <p:nvSpPr>
          <p:cNvPr id="173" name="Google Shape;173;g3a86323efb1_2_0"/>
          <p:cNvSpPr/>
          <p:nvPr/>
        </p:nvSpPr>
        <p:spPr>
          <a:xfrm>
            <a:off x="837600" y="2115500"/>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Los accidentes de tráfico generan dos tipos de resultados: Heridos (0) y Muertos (1).</a:t>
            </a:r>
            <a:endParaRPr b="0" i="0" sz="2052" u="none" cap="none" strike="noStrike">
              <a:solidFill>
                <a:srgbClr val="000000"/>
              </a:solidFill>
              <a:latin typeface="Calibri"/>
              <a:ea typeface="Calibri"/>
              <a:cs typeface="Calibri"/>
              <a:sym typeface="Calibri"/>
            </a:endParaRPr>
          </a:p>
        </p:txBody>
      </p:sp>
      <p:sp>
        <p:nvSpPr>
          <p:cNvPr id="174" name="Google Shape;174;g3a86323efb1_2_0"/>
          <p:cNvSpPr/>
          <p:nvPr/>
        </p:nvSpPr>
        <p:spPr>
          <a:xfrm>
            <a:off x="837600" y="3100946"/>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Identificar qué factores llevan a un desenlace fatal permite orientar políticas de prevención.</a:t>
            </a:r>
            <a:endParaRPr b="0" i="0" sz="2052" u="none" cap="none" strike="noStrike">
              <a:solidFill>
                <a:srgbClr val="000000"/>
              </a:solidFill>
              <a:latin typeface="Calibri"/>
              <a:ea typeface="Calibri"/>
              <a:cs typeface="Calibri"/>
              <a:sym typeface="Calibri"/>
            </a:endParaRPr>
          </a:p>
        </p:txBody>
      </p:sp>
      <p:sp>
        <p:nvSpPr>
          <p:cNvPr id="175" name="Google Shape;175;g3a86323efb1_2_0"/>
          <p:cNvSpPr/>
          <p:nvPr/>
        </p:nvSpPr>
        <p:spPr>
          <a:xfrm>
            <a:off x="837600" y="4147774"/>
            <a:ext cx="5124000" cy="13455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El dataset </a:t>
            </a:r>
            <a:r>
              <a:rPr lang="en-US" sz="2052">
                <a:solidFill>
                  <a:srgbClr val="1E293B"/>
                </a:solidFill>
                <a:latin typeface="Calibri"/>
                <a:ea typeface="Calibri"/>
                <a:cs typeface="Calibri"/>
                <a:sym typeface="Calibri"/>
              </a:rPr>
              <a:t>inicial contiene 9326 registros, en un total de 32 columnas.</a:t>
            </a:r>
            <a:endParaRPr b="0" i="0" sz="2052" u="none" cap="none" strike="noStrike">
              <a:solidFill>
                <a:srgbClr val="000000"/>
              </a:solidFill>
              <a:latin typeface="Calibri"/>
              <a:ea typeface="Calibri"/>
              <a:cs typeface="Calibri"/>
              <a:sym typeface="Calibri"/>
            </a:endParaRPr>
          </a:p>
        </p:txBody>
      </p:sp>
      <p:sp>
        <p:nvSpPr>
          <p:cNvPr id="176" name="Google Shape;176;g3a86323efb1_2_0"/>
          <p:cNvSpPr/>
          <p:nvPr/>
        </p:nvSpPr>
        <p:spPr>
          <a:xfrm>
            <a:off x="6466650" y="2095725"/>
            <a:ext cx="5051100" cy="3572100"/>
          </a:xfrm>
          <a:prstGeom prst="rect">
            <a:avLst/>
          </a:prstGeom>
          <a:noFill/>
          <a:ln>
            <a:noFill/>
          </a:ln>
        </p:spPr>
        <p:txBody>
          <a:bodyPr anchorCtr="0" anchor="ctr" bIns="67400" lIns="134850" spcFirstLastPara="1" rIns="134850" wrap="square" tIns="67400">
            <a:noAutofit/>
          </a:bodyPr>
          <a:lstStyle/>
          <a:p>
            <a:pPr indent="-361714" lvl="0" marL="457200" marR="0" rtl="0" algn="l">
              <a:spcBef>
                <a:spcPts val="0"/>
              </a:spcBef>
              <a:spcAft>
                <a:spcPts val="0"/>
              </a:spcAft>
              <a:buClr>
                <a:srgbClr val="1E293B"/>
              </a:buClr>
              <a:buSzPts val="2096"/>
              <a:buFont typeface="Calibri"/>
              <a:buChar char="●"/>
            </a:pPr>
            <a:r>
              <a:rPr lang="en-US" sz="2096">
                <a:solidFill>
                  <a:srgbClr val="1E293B"/>
                </a:solidFill>
                <a:latin typeface="Calibri"/>
                <a:ea typeface="Calibri"/>
                <a:cs typeface="Calibri"/>
                <a:sym typeface="Calibri"/>
              </a:rPr>
              <a:t>Se quiere centrar el análisis en la variable respuesta ‘Gravedad’ -&gt; Heridos (0) y Muertos (1).</a:t>
            </a:r>
            <a:endParaRPr sz="2096">
              <a:solidFill>
                <a:srgbClr val="1E293B"/>
              </a:solidFill>
              <a:latin typeface="Calibri"/>
              <a:ea typeface="Calibri"/>
              <a:cs typeface="Calibri"/>
              <a:sym typeface="Calibri"/>
            </a:endParaRPr>
          </a:p>
          <a:p>
            <a:pPr indent="-361714" lvl="0" marL="457200" marR="0" rtl="0" algn="l">
              <a:spcBef>
                <a:spcPts val="0"/>
              </a:spcBef>
              <a:spcAft>
                <a:spcPts val="0"/>
              </a:spcAft>
              <a:buClr>
                <a:srgbClr val="1E293B"/>
              </a:buClr>
              <a:buSzPts val="2096"/>
              <a:buFont typeface="Calibri"/>
              <a:buChar char="●"/>
            </a:pPr>
            <a:r>
              <a:rPr lang="en-US" sz="2096">
                <a:solidFill>
                  <a:srgbClr val="1E293B"/>
                </a:solidFill>
                <a:latin typeface="Calibri"/>
                <a:ea typeface="Calibri"/>
                <a:cs typeface="Calibri"/>
                <a:sym typeface="Calibri"/>
              </a:rPr>
              <a:t>De los 9326 registros, sólo 1.39% corresponden a Muertos (0), y los restantes Heridos (0) lo que denota un desbalance extremo, con relación 70:1.</a:t>
            </a:r>
            <a:endParaRPr sz="2096">
              <a:solidFill>
                <a:srgbClr val="1E293B"/>
              </a:solidFill>
              <a:latin typeface="Calibri"/>
              <a:ea typeface="Calibri"/>
              <a:cs typeface="Calibri"/>
              <a:sym typeface="Calibri"/>
            </a:endParaRPr>
          </a:p>
        </p:txBody>
      </p:sp>
      <p:sp>
        <p:nvSpPr>
          <p:cNvPr id="177" name="Google Shape;177;g3a86323efb1_2_0"/>
          <p:cNvSpPr/>
          <p:nvPr/>
        </p:nvSpPr>
        <p:spPr>
          <a:xfrm>
            <a:off x="5961600" y="3002100"/>
            <a:ext cx="642300" cy="853800"/>
          </a:xfrm>
          <a:prstGeom prst="rightArrow">
            <a:avLst>
              <a:gd fmla="val 50000" name="adj1"/>
              <a:gd fmla="val 50000" name="adj2"/>
            </a:avLst>
          </a:prstGeom>
          <a:solidFill>
            <a:schemeClr val="accent1"/>
          </a:solidFill>
          <a:ln cap="flat" cmpd="sng" w="9525">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3a86323efb1_1_230"/>
          <p:cNvPicPr preferRelativeResize="0"/>
          <p:nvPr/>
        </p:nvPicPr>
        <p:blipFill>
          <a:blip r:embed="rId3">
            <a:alphaModFix/>
          </a:blip>
          <a:stretch>
            <a:fillRect/>
          </a:stretch>
        </p:blipFill>
        <p:spPr>
          <a:xfrm>
            <a:off x="2809875" y="2800525"/>
            <a:ext cx="6572250" cy="3987425"/>
          </a:xfrm>
          <a:prstGeom prst="rect">
            <a:avLst/>
          </a:prstGeom>
          <a:noFill/>
          <a:ln>
            <a:noFill/>
          </a:ln>
        </p:spPr>
      </p:pic>
      <p:sp>
        <p:nvSpPr>
          <p:cNvPr id="183" name="Google Shape;183;g3a86323efb1_1_230"/>
          <p:cNvSpPr/>
          <p:nvPr/>
        </p:nvSpPr>
        <p:spPr>
          <a:xfrm>
            <a:off x="0" y="0"/>
            <a:ext cx="12192000" cy="12270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4" name="Google Shape;184;g3a86323efb1_1_230"/>
          <p:cNvSpPr/>
          <p:nvPr/>
        </p:nvSpPr>
        <p:spPr>
          <a:xfrm>
            <a:off x="455825" y="229025"/>
            <a:ext cx="10972800" cy="802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lang="en-US" sz="3500">
                <a:solidFill>
                  <a:srgbClr val="FFFFFF"/>
                </a:solidFill>
                <a:latin typeface="Calibri"/>
                <a:ea typeface="Calibri"/>
                <a:cs typeface="Calibri"/>
                <a:sym typeface="Calibri"/>
              </a:rPr>
              <a:t>Selección de variable respuesta</a:t>
            </a:r>
            <a:endParaRPr b="0" i="0" sz="3500" u="none" cap="none" strike="noStrike">
              <a:solidFill>
                <a:schemeClr val="dk1"/>
              </a:solidFill>
              <a:latin typeface="Calibri"/>
              <a:ea typeface="Calibri"/>
              <a:cs typeface="Calibri"/>
              <a:sym typeface="Calibri"/>
            </a:endParaRPr>
          </a:p>
        </p:txBody>
      </p:sp>
      <p:sp>
        <p:nvSpPr>
          <p:cNvPr id="185" name="Google Shape;185;g3a86323efb1_1_230"/>
          <p:cNvSpPr/>
          <p:nvPr/>
        </p:nvSpPr>
        <p:spPr>
          <a:xfrm>
            <a:off x="2618675" y="1584865"/>
            <a:ext cx="7648500" cy="9486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86" name="Google Shape;186;g3a86323efb1_1_230"/>
          <p:cNvSpPr/>
          <p:nvPr/>
        </p:nvSpPr>
        <p:spPr>
          <a:xfrm>
            <a:off x="2931675" y="1584850"/>
            <a:ext cx="7187700" cy="948600"/>
          </a:xfrm>
          <a:prstGeom prst="rect">
            <a:avLst/>
          </a:prstGeom>
          <a:noFill/>
          <a:ln>
            <a:noFill/>
          </a:ln>
        </p:spPr>
        <p:txBody>
          <a:bodyPr anchorCtr="0" anchor="ctr" bIns="0" lIns="0" spcFirstLastPara="1" rIns="0" wrap="square" tIns="0">
            <a:noAutofit/>
          </a:bodyPr>
          <a:lstStyle/>
          <a:p>
            <a:pPr indent="0" lvl="0" marL="0" rtl="0" algn="ctr">
              <a:lnSpc>
                <a:spcPct val="135714"/>
              </a:lnSpc>
              <a:spcBef>
                <a:spcPts val="0"/>
              </a:spcBef>
              <a:spcAft>
                <a:spcPts val="0"/>
              </a:spcAft>
              <a:buSzPts val="1100"/>
              <a:buNone/>
            </a:pPr>
            <a:r>
              <a:rPr lang="en-US" sz="1050">
                <a:solidFill>
                  <a:srgbClr val="BBBEBF"/>
                </a:solidFill>
                <a:latin typeface="Consolas"/>
                <a:ea typeface="Consolas"/>
                <a:cs typeface="Consolas"/>
                <a:sym typeface="Consolas"/>
              </a:rPr>
              <a:t>── Distribución de Gravedad ──</a:t>
            </a:r>
            <a:endParaRPr sz="1050">
              <a:solidFill>
                <a:srgbClr val="BBBEBF"/>
              </a:solidFill>
              <a:latin typeface="Consolas"/>
              <a:ea typeface="Consolas"/>
              <a:cs typeface="Consolas"/>
              <a:sym typeface="Consolas"/>
            </a:endParaRPr>
          </a:p>
          <a:p>
            <a:pPr indent="0" lvl="0" marL="0" rtl="0" algn="ctr">
              <a:lnSpc>
                <a:spcPct val="135714"/>
              </a:lnSpc>
              <a:spcBef>
                <a:spcPts val="0"/>
              </a:spcBef>
              <a:spcAft>
                <a:spcPts val="0"/>
              </a:spcAft>
              <a:buSzPts val="1100"/>
              <a:buNone/>
            </a:pPr>
            <a:r>
              <a:rPr lang="en-US" sz="1050">
                <a:solidFill>
                  <a:srgbClr val="BBBEBF"/>
                </a:solidFill>
                <a:latin typeface="Consolas"/>
                <a:ea typeface="Consolas"/>
                <a:cs typeface="Consolas"/>
                <a:sym typeface="Consolas"/>
              </a:rPr>
              <a:t>Gravedad</a:t>
            </a:r>
            <a:endParaRPr sz="1050">
              <a:solidFill>
                <a:srgbClr val="BBBEBF"/>
              </a:solidFill>
              <a:latin typeface="Consolas"/>
              <a:ea typeface="Consolas"/>
              <a:cs typeface="Consolas"/>
              <a:sym typeface="Consolas"/>
            </a:endParaRPr>
          </a:p>
          <a:p>
            <a:pPr indent="0" lvl="0" marL="0" rtl="0" algn="ctr">
              <a:lnSpc>
                <a:spcPct val="135714"/>
              </a:lnSpc>
              <a:spcBef>
                <a:spcPts val="0"/>
              </a:spcBef>
              <a:spcAft>
                <a:spcPts val="0"/>
              </a:spcAft>
              <a:buSzPts val="1100"/>
              <a:buNone/>
            </a:pPr>
            <a:r>
              <a:rPr lang="en-US" sz="1050">
                <a:solidFill>
                  <a:srgbClr val="BBBEBF"/>
                </a:solidFill>
                <a:latin typeface="Consolas"/>
                <a:ea typeface="Consolas"/>
                <a:cs typeface="Consolas"/>
                <a:sym typeface="Consolas"/>
              </a:rPr>
              <a:t>Heridos    9196</a:t>
            </a:r>
            <a:endParaRPr sz="1050">
              <a:solidFill>
                <a:srgbClr val="BBBEBF"/>
              </a:solidFill>
              <a:latin typeface="Consolas"/>
              <a:ea typeface="Consolas"/>
              <a:cs typeface="Consolas"/>
              <a:sym typeface="Consolas"/>
            </a:endParaRPr>
          </a:p>
          <a:p>
            <a:pPr indent="0" lvl="0" marL="0" rtl="0" algn="ctr">
              <a:lnSpc>
                <a:spcPct val="135714"/>
              </a:lnSpc>
              <a:spcBef>
                <a:spcPts val="0"/>
              </a:spcBef>
              <a:spcAft>
                <a:spcPts val="0"/>
              </a:spcAft>
              <a:buSzPts val="1100"/>
              <a:buNone/>
            </a:pPr>
            <a:r>
              <a:rPr lang="en-US" sz="1050">
                <a:solidFill>
                  <a:srgbClr val="BBBEBF"/>
                </a:solidFill>
                <a:latin typeface="Consolas"/>
                <a:ea typeface="Consolas"/>
                <a:cs typeface="Consolas"/>
                <a:sym typeface="Consolas"/>
              </a:rPr>
              <a:t>Muertos     130</a:t>
            </a:r>
            <a:r>
              <a:rPr lang="en-US" sz="1100">
                <a:solidFill>
                  <a:schemeClr val="dk1"/>
                </a:solidFill>
              </a:rPr>
              <a:t> </a:t>
            </a:r>
            <a:endParaRPr sz="1850">
              <a:solidFill>
                <a:srgbClr val="C9D1D9"/>
              </a:solidFill>
              <a:highlight>
                <a:srgbClr val="121314"/>
              </a:highlight>
              <a:latin typeface="Consolas"/>
              <a:ea typeface="Consolas"/>
              <a:cs typeface="Consolas"/>
              <a:sym typeface="Consola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a866401fb7_1_40"/>
          <p:cNvSpPr/>
          <p:nvPr/>
        </p:nvSpPr>
        <p:spPr>
          <a:xfrm>
            <a:off x="0" y="0"/>
            <a:ext cx="12192000" cy="12270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 name="Google Shape;192;g3a866401fb7_1_40"/>
          <p:cNvSpPr/>
          <p:nvPr/>
        </p:nvSpPr>
        <p:spPr>
          <a:xfrm>
            <a:off x="455825" y="229025"/>
            <a:ext cx="10972800" cy="802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lang="en-US" sz="3500">
                <a:solidFill>
                  <a:srgbClr val="FFFFFF"/>
                </a:solidFill>
                <a:latin typeface="Calibri"/>
                <a:ea typeface="Calibri"/>
                <a:cs typeface="Calibri"/>
                <a:sym typeface="Calibri"/>
              </a:rPr>
              <a:t>Selección de variable respuesta</a:t>
            </a:r>
            <a:endParaRPr b="0" i="0" sz="3500" u="none" cap="none" strike="noStrike">
              <a:solidFill>
                <a:schemeClr val="dk1"/>
              </a:solidFill>
              <a:latin typeface="Calibri"/>
              <a:ea typeface="Calibri"/>
              <a:cs typeface="Calibri"/>
              <a:sym typeface="Calibri"/>
            </a:endParaRPr>
          </a:p>
        </p:txBody>
      </p:sp>
      <p:pic>
        <p:nvPicPr>
          <p:cNvPr id="193" name="Google Shape;193;g3a866401fb7_1_40"/>
          <p:cNvPicPr preferRelativeResize="0"/>
          <p:nvPr/>
        </p:nvPicPr>
        <p:blipFill>
          <a:blip r:embed="rId3">
            <a:alphaModFix/>
          </a:blip>
          <a:stretch>
            <a:fillRect/>
          </a:stretch>
        </p:blipFill>
        <p:spPr>
          <a:xfrm>
            <a:off x="1431850" y="1976500"/>
            <a:ext cx="9461498" cy="4698000"/>
          </a:xfrm>
          <a:prstGeom prst="rect">
            <a:avLst/>
          </a:prstGeom>
          <a:noFill/>
          <a:ln>
            <a:noFill/>
          </a:ln>
        </p:spPr>
      </p:pic>
      <p:sp>
        <p:nvSpPr>
          <p:cNvPr id="194" name="Google Shape;194;g3a866401fb7_1_40"/>
          <p:cNvSpPr/>
          <p:nvPr/>
        </p:nvSpPr>
        <p:spPr>
          <a:xfrm>
            <a:off x="199225" y="1448500"/>
            <a:ext cx="2831700" cy="5280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195" name="Google Shape;195;g3a866401fb7_1_40"/>
          <p:cNvSpPr/>
          <p:nvPr/>
        </p:nvSpPr>
        <p:spPr>
          <a:xfrm>
            <a:off x="351625" y="1448500"/>
            <a:ext cx="2764500" cy="5280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1850">
                <a:solidFill>
                  <a:srgbClr val="C9D1D9"/>
                </a:solidFill>
                <a:highlight>
                  <a:srgbClr val="121314"/>
                </a:highlight>
                <a:latin typeface="Consolas"/>
                <a:ea typeface="Consolas"/>
                <a:cs typeface="Consolas"/>
                <a:sym typeface="Consolas"/>
              </a:rPr>
              <a:t>EDA inicial</a:t>
            </a:r>
            <a:endParaRPr sz="2000">
              <a:solidFill>
                <a:srgbClr val="5EEAD4"/>
              </a:solidFill>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a866401fb7_1_0"/>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02" name="Google Shape;202;g3a866401fb7_1_0"/>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203" name="Google Shape;203;g3a866401fb7_1_0"/>
          <p:cNvSpPr txBox="1"/>
          <p:nvPr/>
        </p:nvSpPr>
        <p:spPr>
          <a:xfrm>
            <a:off x="837603" y="190200"/>
            <a:ext cx="66288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FFFFFF"/>
                </a:solidFill>
                <a:latin typeface="Montserrat"/>
                <a:ea typeface="Montserrat"/>
                <a:cs typeface="Montserrat"/>
                <a:sym typeface="Montserrat"/>
              </a:rPr>
              <a:t>Selección inicial del modelo</a:t>
            </a:r>
            <a:endParaRPr/>
          </a:p>
        </p:txBody>
      </p:sp>
      <p:sp>
        <p:nvSpPr>
          <p:cNvPr id="204" name="Google Shape;204;g3a866401fb7_1_0"/>
          <p:cNvSpPr/>
          <p:nvPr/>
        </p:nvSpPr>
        <p:spPr>
          <a:xfrm>
            <a:off x="381300" y="857700"/>
            <a:ext cx="11430000" cy="5743500"/>
          </a:xfrm>
          <a:prstGeom prst="roundRect">
            <a:avLst>
              <a:gd fmla="val 773"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5" name="Google Shape;205;g3a866401fb7_1_0"/>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g3a866401fb7_1_0"/>
          <p:cNvSpPr/>
          <p:nvPr/>
        </p:nvSpPr>
        <p:spPr>
          <a:xfrm>
            <a:off x="648300" y="1006750"/>
            <a:ext cx="5514900" cy="5469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g3a866401fb7_1_0"/>
          <p:cNvSpPr/>
          <p:nvPr/>
        </p:nvSpPr>
        <p:spPr>
          <a:xfrm>
            <a:off x="6258625" y="1006750"/>
            <a:ext cx="5331000" cy="5469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g3a866401fb7_1_0"/>
          <p:cNvSpPr/>
          <p:nvPr/>
        </p:nvSpPr>
        <p:spPr>
          <a:xfrm>
            <a:off x="7127175" y="1091900"/>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FLUJO DEL RANDOM FOREST</a:t>
            </a:r>
            <a:endParaRPr b="1" i="0" sz="2000" u="none" cap="none" strike="noStrike">
              <a:solidFill>
                <a:srgbClr val="000000"/>
              </a:solidFill>
            </a:endParaRPr>
          </a:p>
        </p:txBody>
      </p:sp>
      <p:sp>
        <p:nvSpPr>
          <p:cNvPr id="209" name="Google Shape;209;g3a866401fb7_1_0"/>
          <p:cNvSpPr/>
          <p:nvPr/>
        </p:nvSpPr>
        <p:spPr>
          <a:xfrm>
            <a:off x="837600" y="1322101"/>
            <a:ext cx="5124000" cy="18879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lang="en-US" sz="2052">
                <a:solidFill>
                  <a:srgbClr val="1E293B"/>
                </a:solidFill>
                <a:latin typeface="Calibri"/>
                <a:ea typeface="Calibri"/>
                <a:cs typeface="Calibri"/>
                <a:sym typeface="Calibri"/>
              </a:rPr>
              <a:t>Dadas las características del modelo, y teniendo en cuenta que la mayoría de variables son categóricas, se dispone a correr un primer modelo Random Forest, para explicar un primer comportamiento del dataset y la variable respuesta</a:t>
            </a:r>
            <a:endParaRPr b="0" i="0" sz="2052" u="none" cap="none" strike="noStrike">
              <a:solidFill>
                <a:srgbClr val="000000"/>
              </a:solidFill>
              <a:latin typeface="Calibri"/>
              <a:ea typeface="Calibri"/>
              <a:cs typeface="Calibri"/>
              <a:sym typeface="Calibri"/>
            </a:endParaRPr>
          </a:p>
        </p:txBody>
      </p:sp>
      <p:sp>
        <p:nvSpPr>
          <p:cNvPr id="210" name="Google Shape;210;g3a866401fb7_1_0"/>
          <p:cNvSpPr/>
          <p:nvPr/>
        </p:nvSpPr>
        <p:spPr>
          <a:xfrm>
            <a:off x="837600" y="4063050"/>
            <a:ext cx="5124000" cy="2104200"/>
          </a:xfrm>
          <a:prstGeom prst="rect">
            <a:avLst/>
          </a:prstGeom>
          <a:noFill/>
          <a:ln>
            <a:noFill/>
          </a:ln>
        </p:spPr>
        <p:txBody>
          <a:bodyPr anchorCtr="0" anchor="ctr" bIns="65675" lIns="131375" spcFirstLastPara="1" rIns="131375" wrap="square" tIns="65675">
            <a:noAutofit/>
          </a:bodyPr>
          <a:lstStyle/>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"Franja_Horaria",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"Dia_Semana",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"Hora_num",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"Clase_Accidente",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"Clase_Vehiculo",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"Tipo_Victima",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"Sector_Accidente",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"Localidad_Comuna",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"Genero",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"Edad",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"Edad_nivel",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"Causa_Accidente",    </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"Condicion_Climatica",</a:t>
            </a:r>
            <a:endParaRPr sz="1000">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000">
                <a:latin typeface="Calibri"/>
                <a:ea typeface="Calibri"/>
                <a:cs typeface="Calibri"/>
                <a:sym typeface="Calibri"/>
              </a:rPr>
              <a:t>"Tipo_Servicio"</a:t>
            </a:r>
            <a:endParaRPr sz="1000">
              <a:latin typeface="Calibri"/>
              <a:ea typeface="Calibri"/>
              <a:cs typeface="Calibri"/>
              <a:sym typeface="Calibri"/>
            </a:endParaRPr>
          </a:p>
          <a:p>
            <a:pPr indent="0" lvl="0" marL="0" marR="0" rtl="0" algn="l">
              <a:spcBef>
                <a:spcPts val="0"/>
              </a:spcBef>
              <a:spcAft>
                <a:spcPts val="0"/>
              </a:spcAft>
              <a:buClr>
                <a:srgbClr val="1E293B"/>
              </a:buClr>
              <a:buSzPts val="1652"/>
              <a:buFont typeface="Calibri"/>
              <a:buNone/>
            </a:pPr>
            <a:r>
              <a:t/>
            </a:r>
            <a:endParaRPr sz="1000">
              <a:latin typeface="Calibri"/>
              <a:ea typeface="Calibri"/>
              <a:cs typeface="Calibri"/>
              <a:sym typeface="Calibri"/>
            </a:endParaRPr>
          </a:p>
        </p:txBody>
      </p:sp>
      <p:sp>
        <p:nvSpPr>
          <p:cNvPr id="211" name="Google Shape;211;g3a866401fb7_1_0"/>
          <p:cNvSpPr/>
          <p:nvPr/>
        </p:nvSpPr>
        <p:spPr>
          <a:xfrm>
            <a:off x="837600" y="3444500"/>
            <a:ext cx="2764500" cy="5316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a:solidFill>
                  <a:srgbClr val="C9D1D9"/>
                </a:solidFill>
                <a:highlight>
                  <a:srgbClr val="121314"/>
                </a:highlight>
                <a:latin typeface="Consolas"/>
                <a:ea typeface="Consolas"/>
                <a:cs typeface="Consolas"/>
                <a:sym typeface="Consolas"/>
              </a:rPr>
              <a:t>Variables seleccionadas:</a:t>
            </a:r>
            <a:endParaRPr>
              <a:solidFill>
                <a:srgbClr val="5EEAD4"/>
              </a:solidFill>
              <a:latin typeface="Courier New"/>
              <a:ea typeface="Courier New"/>
              <a:cs typeface="Courier New"/>
              <a:sym typeface="Courier New"/>
            </a:endParaRPr>
          </a:p>
        </p:txBody>
      </p:sp>
      <p:sp>
        <p:nvSpPr>
          <p:cNvPr id="212" name="Google Shape;212;g3a866401fb7_1_0"/>
          <p:cNvSpPr/>
          <p:nvPr/>
        </p:nvSpPr>
        <p:spPr>
          <a:xfrm>
            <a:off x="8061825" y="1788425"/>
            <a:ext cx="2175000" cy="400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Selección de variables</a:t>
            </a:r>
            <a:endParaRPr sz="1300">
              <a:latin typeface="Calibri"/>
              <a:ea typeface="Calibri"/>
              <a:cs typeface="Calibri"/>
              <a:sym typeface="Calibri"/>
            </a:endParaRPr>
          </a:p>
        </p:txBody>
      </p:sp>
      <p:sp>
        <p:nvSpPr>
          <p:cNvPr id="213" name="Google Shape;213;g3a866401fb7_1_0"/>
          <p:cNvSpPr/>
          <p:nvPr/>
        </p:nvSpPr>
        <p:spPr>
          <a:xfrm>
            <a:off x="8061825" y="1788425"/>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Selección de variables</a:t>
            </a:r>
            <a:endParaRPr sz="1300">
              <a:latin typeface="Calibri"/>
              <a:ea typeface="Calibri"/>
              <a:cs typeface="Calibri"/>
              <a:sym typeface="Calibri"/>
            </a:endParaRPr>
          </a:p>
        </p:txBody>
      </p:sp>
      <p:sp>
        <p:nvSpPr>
          <p:cNvPr id="214" name="Google Shape;214;g3a866401fb7_1_0"/>
          <p:cNvSpPr/>
          <p:nvPr/>
        </p:nvSpPr>
        <p:spPr>
          <a:xfrm>
            <a:off x="8061825" y="2593200"/>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Procesamiento bajo Label Encoding</a:t>
            </a:r>
            <a:endParaRPr sz="1300">
              <a:latin typeface="Calibri"/>
              <a:ea typeface="Calibri"/>
              <a:cs typeface="Calibri"/>
              <a:sym typeface="Calibri"/>
            </a:endParaRPr>
          </a:p>
        </p:txBody>
      </p:sp>
      <p:sp>
        <p:nvSpPr>
          <p:cNvPr id="215" name="Google Shape;215;g3a866401fb7_1_0"/>
          <p:cNvSpPr/>
          <p:nvPr/>
        </p:nvSpPr>
        <p:spPr>
          <a:xfrm>
            <a:off x="8061825" y="3397975"/>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Definición de Train y Test</a:t>
            </a:r>
            <a:endParaRPr sz="1300">
              <a:latin typeface="Calibri"/>
              <a:ea typeface="Calibri"/>
              <a:cs typeface="Calibri"/>
              <a:sym typeface="Calibri"/>
            </a:endParaRPr>
          </a:p>
        </p:txBody>
      </p:sp>
      <p:sp>
        <p:nvSpPr>
          <p:cNvPr id="216" name="Google Shape;216;g3a866401fb7_1_0"/>
          <p:cNvSpPr/>
          <p:nvPr/>
        </p:nvSpPr>
        <p:spPr>
          <a:xfrm>
            <a:off x="8061825" y="4202750"/>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Aplicación de Oversampling a razón de 1:5 al Train</a:t>
            </a:r>
            <a:endParaRPr sz="1300">
              <a:latin typeface="Calibri"/>
              <a:ea typeface="Calibri"/>
              <a:cs typeface="Calibri"/>
              <a:sym typeface="Calibri"/>
            </a:endParaRPr>
          </a:p>
        </p:txBody>
      </p:sp>
      <p:sp>
        <p:nvSpPr>
          <p:cNvPr id="217" name="Google Shape;217;g3a866401fb7_1_0"/>
          <p:cNvSpPr/>
          <p:nvPr/>
        </p:nvSpPr>
        <p:spPr>
          <a:xfrm>
            <a:off x="8061825" y="5007525"/>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Búsqueda de </a:t>
            </a:r>
            <a:r>
              <a:rPr lang="en-US" sz="1300">
                <a:latin typeface="Calibri"/>
                <a:ea typeface="Calibri"/>
                <a:cs typeface="Calibri"/>
                <a:sym typeface="Calibri"/>
              </a:rPr>
              <a:t>hiper parámetros</a:t>
            </a:r>
            <a:endParaRPr sz="1300">
              <a:latin typeface="Calibri"/>
              <a:ea typeface="Calibri"/>
              <a:cs typeface="Calibri"/>
              <a:sym typeface="Calibri"/>
            </a:endParaRPr>
          </a:p>
          <a:p>
            <a:pPr indent="0" lvl="0" marL="0" rtl="0" algn="ctr">
              <a:spcBef>
                <a:spcPts val="0"/>
              </a:spcBef>
              <a:spcAft>
                <a:spcPts val="0"/>
              </a:spcAft>
              <a:buNone/>
            </a:pPr>
            <a:r>
              <a:rPr lang="en-US" sz="1300">
                <a:latin typeface="Calibri"/>
                <a:ea typeface="Calibri"/>
                <a:cs typeface="Calibri"/>
                <a:sym typeface="Calibri"/>
              </a:rPr>
              <a:t>OOB -&gt; CV</a:t>
            </a:r>
            <a:endParaRPr sz="1300">
              <a:latin typeface="Calibri"/>
              <a:ea typeface="Calibri"/>
              <a:cs typeface="Calibri"/>
              <a:sym typeface="Calibri"/>
            </a:endParaRPr>
          </a:p>
        </p:txBody>
      </p:sp>
      <p:sp>
        <p:nvSpPr>
          <p:cNvPr id="218" name="Google Shape;218;g3a866401fb7_1_0"/>
          <p:cNvSpPr/>
          <p:nvPr/>
        </p:nvSpPr>
        <p:spPr>
          <a:xfrm>
            <a:off x="8061825" y="5812300"/>
            <a:ext cx="2175000" cy="616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latin typeface="Calibri"/>
                <a:ea typeface="Calibri"/>
                <a:cs typeface="Calibri"/>
                <a:sym typeface="Calibri"/>
              </a:rPr>
              <a:t>Construcción de modelo RF y testeo</a:t>
            </a:r>
            <a:endParaRPr sz="1300">
              <a:latin typeface="Calibri"/>
              <a:ea typeface="Calibri"/>
              <a:cs typeface="Calibri"/>
              <a:sym typeface="Calibri"/>
            </a:endParaRPr>
          </a:p>
        </p:txBody>
      </p:sp>
      <p:cxnSp>
        <p:nvCxnSpPr>
          <p:cNvPr id="219" name="Google Shape;219;g3a866401fb7_1_0"/>
          <p:cNvCxnSpPr>
            <a:stCxn id="213" idx="2"/>
            <a:endCxn id="214" idx="0"/>
          </p:cNvCxnSpPr>
          <p:nvPr/>
        </p:nvCxnSpPr>
        <p:spPr>
          <a:xfrm>
            <a:off x="9149325" y="2405225"/>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220" name="Google Shape;220;g3a866401fb7_1_0"/>
          <p:cNvCxnSpPr>
            <a:stCxn id="214" idx="2"/>
            <a:endCxn id="215" idx="0"/>
          </p:cNvCxnSpPr>
          <p:nvPr/>
        </p:nvCxnSpPr>
        <p:spPr>
          <a:xfrm>
            <a:off x="9149325" y="3210000"/>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221" name="Google Shape;221;g3a866401fb7_1_0"/>
          <p:cNvCxnSpPr>
            <a:stCxn id="215" idx="2"/>
            <a:endCxn id="216" idx="0"/>
          </p:cNvCxnSpPr>
          <p:nvPr/>
        </p:nvCxnSpPr>
        <p:spPr>
          <a:xfrm>
            <a:off x="9149325" y="4014775"/>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222" name="Google Shape;222;g3a866401fb7_1_0"/>
          <p:cNvCxnSpPr>
            <a:stCxn id="216" idx="2"/>
            <a:endCxn id="217" idx="0"/>
          </p:cNvCxnSpPr>
          <p:nvPr/>
        </p:nvCxnSpPr>
        <p:spPr>
          <a:xfrm>
            <a:off x="9149325" y="4819550"/>
            <a:ext cx="0" cy="188100"/>
          </a:xfrm>
          <a:prstGeom prst="straightConnector1">
            <a:avLst/>
          </a:prstGeom>
          <a:noFill/>
          <a:ln cap="flat" cmpd="sng" w="9525">
            <a:solidFill>
              <a:schemeClr val="dk2"/>
            </a:solidFill>
            <a:prstDash val="solid"/>
            <a:round/>
            <a:headEnd len="med" w="med" type="none"/>
            <a:tailEnd len="med" w="med" type="triangle"/>
          </a:ln>
        </p:spPr>
      </p:cxnSp>
      <p:cxnSp>
        <p:nvCxnSpPr>
          <p:cNvPr id="223" name="Google Shape;223;g3a866401fb7_1_0"/>
          <p:cNvCxnSpPr>
            <a:stCxn id="217" idx="2"/>
            <a:endCxn id="218" idx="0"/>
          </p:cNvCxnSpPr>
          <p:nvPr/>
        </p:nvCxnSpPr>
        <p:spPr>
          <a:xfrm>
            <a:off x="9149325" y="5624325"/>
            <a:ext cx="0" cy="188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866401fb7_1_86"/>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230" name="Google Shape;230;g3a866401fb7_1_86"/>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231" name="Google Shape;231;g3a866401fb7_1_86"/>
          <p:cNvSpPr txBox="1"/>
          <p:nvPr/>
        </p:nvSpPr>
        <p:spPr>
          <a:xfrm>
            <a:off x="837603" y="190200"/>
            <a:ext cx="66288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FFFFFF"/>
                </a:solidFill>
                <a:latin typeface="Montserrat"/>
                <a:ea typeface="Montserrat"/>
                <a:cs typeface="Montserrat"/>
                <a:sym typeface="Montserrat"/>
              </a:rPr>
              <a:t>Selección inicial del modelo</a:t>
            </a:r>
            <a:endParaRPr/>
          </a:p>
        </p:txBody>
      </p:sp>
      <p:sp>
        <p:nvSpPr>
          <p:cNvPr id="232" name="Google Shape;232;g3a866401fb7_1_86"/>
          <p:cNvSpPr/>
          <p:nvPr/>
        </p:nvSpPr>
        <p:spPr>
          <a:xfrm>
            <a:off x="381300" y="857700"/>
            <a:ext cx="11430000" cy="5743500"/>
          </a:xfrm>
          <a:prstGeom prst="roundRect">
            <a:avLst>
              <a:gd fmla="val 773"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g3a866401fb7_1_86"/>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g3a866401fb7_1_86"/>
          <p:cNvSpPr/>
          <p:nvPr/>
        </p:nvSpPr>
        <p:spPr>
          <a:xfrm>
            <a:off x="648300" y="1006750"/>
            <a:ext cx="5514900" cy="5469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g3a866401fb7_1_86"/>
          <p:cNvSpPr/>
          <p:nvPr/>
        </p:nvSpPr>
        <p:spPr>
          <a:xfrm>
            <a:off x="6258625" y="1006750"/>
            <a:ext cx="5331000" cy="5469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6" name="Google Shape;236;g3a866401fb7_1_86"/>
          <p:cNvSpPr/>
          <p:nvPr/>
        </p:nvSpPr>
        <p:spPr>
          <a:xfrm>
            <a:off x="648300" y="1153700"/>
            <a:ext cx="5364600" cy="5175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preencoded.png" id="237" name="Google Shape;237;g3a866401fb7_1_86"/>
          <p:cNvPicPr preferRelativeResize="0"/>
          <p:nvPr/>
        </p:nvPicPr>
        <p:blipFill rotWithShape="1">
          <a:blip r:embed="rId4">
            <a:alphaModFix/>
          </a:blip>
          <a:srcRect b="0" l="0" r="0" t="0"/>
          <a:stretch/>
        </p:blipFill>
        <p:spPr>
          <a:xfrm>
            <a:off x="860854" y="1220500"/>
            <a:ext cx="548640" cy="548640"/>
          </a:xfrm>
          <a:prstGeom prst="rect">
            <a:avLst/>
          </a:prstGeom>
          <a:noFill/>
          <a:ln>
            <a:noFill/>
          </a:ln>
        </p:spPr>
      </p:pic>
      <p:sp>
        <p:nvSpPr>
          <p:cNvPr id="238" name="Google Shape;238;g3a866401fb7_1_86"/>
          <p:cNvSpPr/>
          <p:nvPr/>
        </p:nvSpPr>
        <p:spPr>
          <a:xfrm>
            <a:off x="1648050" y="1190250"/>
            <a:ext cx="4145400" cy="63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867">
                <a:solidFill>
                  <a:srgbClr val="1A3A5C"/>
                </a:solidFill>
              </a:rPr>
              <a:t>Grid Search</a:t>
            </a:r>
            <a:endParaRPr b="0" i="0" sz="1867" u="none" cap="none" strike="noStrike">
              <a:solidFill>
                <a:srgbClr val="000000"/>
              </a:solidFill>
              <a:latin typeface="Arial"/>
              <a:ea typeface="Arial"/>
              <a:cs typeface="Arial"/>
              <a:sym typeface="Arial"/>
            </a:endParaRPr>
          </a:p>
        </p:txBody>
      </p:sp>
      <p:sp>
        <p:nvSpPr>
          <p:cNvPr id="239" name="Google Shape;239;g3a866401fb7_1_86"/>
          <p:cNvSpPr/>
          <p:nvPr/>
        </p:nvSpPr>
        <p:spPr>
          <a:xfrm>
            <a:off x="953100" y="2593200"/>
            <a:ext cx="4876800" cy="11904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Clr>
                <a:schemeClr val="dk1"/>
              </a:buClr>
              <a:buSzPts val="1100"/>
              <a:buFont typeface="Arial"/>
              <a:buNone/>
            </a:pPr>
            <a:r>
              <a:rPr lang="en-US" sz="1050">
                <a:solidFill>
                  <a:srgbClr val="A5D6FF"/>
                </a:solidFill>
                <a:highlight>
                  <a:srgbClr val="121314"/>
                </a:highlight>
                <a:latin typeface="Consolas"/>
                <a:ea typeface="Consolas"/>
                <a:cs typeface="Consolas"/>
                <a:sym typeface="Consolas"/>
              </a:rPr>
              <a:t>"</a:t>
            </a:r>
            <a:r>
              <a:rPr lang="en-US" sz="1050">
                <a:solidFill>
                  <a:srgbClr val="A5D6FF"/>
                </a:solidFill>
                <a:highlight>
                  <a:srgbClr val="121314"/>
                </a:highlight>
                <a:latin typeface="Consolas"/>
                <a:ea typeface="Consolas"/>
                <a:cs typeface="Consolas"/>
                <a:sym typeface="Consolas"/>
              </a:rPr>
              <a:t>"n_estimators"</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200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300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"max_depth"</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8</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12</a:t>
            </a:r>
            <a:r>
              <a:rPr lang="en-US" sz="1050">
                <a:solidFill>
                  <a:srgbClr val="BBBEBF"/>
                </a:solidFill>
                <a:highlight>
                  <a:srgbClr val="121314"/>
                </a:highlight>
                <a:latin typeface="Consolas"/>
                <a:ea typeface="Consolas"/>
                <a:cs typeface="Consolas"/>
                <a:sym typeface="Consolas"/>
              </a:rPr>
              <a:t>],       </a:t>
            </a:r>
            <a:r>
              <a:rPr lang="en-US" sz="1050">
                <a:solidFill>
                  <a:srgbClr val="8B949E"/>
                </a:solidFill>
                <a:highlight>
                  <a:srgbClr val="121314"/>
                </a:highlight>
                <a:latin typeface="Consolas"/>
                <a:ea typeface="Consolas"/>
                <a:cs typeface="Consolas"/>
                <a:sym typeface="Consolas"/>
              </a:rPr>
              <a:t># 12 &gt;&gt; 8 en 0.012 de AUC</a:t>
            </a:r>
            <a:endParaRPr sz="1050">
              <a:solidFill>
                <a:srgbClr val="8B949E"/>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"min_samples_split"</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20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"min_samples_leaf"</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3</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"max_features"</a:t>
            </a:r>
            <a:r>
              <a:rPr lang="en-US" sz="1050">
                <a:solidFill>
                  <a:srgbClr val="BBBEBF"/>
                </a:solidFill>
                <a:highlight>
                  <a:srgbClr val="121314"/>
                </a:highlight>
                <a:latin typeface="Consolas"/>
                <a:ea typeface="Consolas"/>
                <a:cs typeface="Consolas"/>
                <a:sym typeface="Consolas"/>
              </a:rPr>
              <a:t>     : [</a:t>
            </a:r>
            <a:r>
              <a:rPr lang="en-US" sz="1050">
                <a:solidFill>
                  <a:srgbClr val="A5D6FF"/>
                </a:solidFill>
                <a:highlight>
                  <a:srgbClr val="121314"/>
                </a:highlight>
                <a:latin typeface="Consolas"/>
                <a:ea typeface="Consolas"/>
                <a:cs typeface="Consolas"/>
                <a:sym typeface="Consolas"/>
              </a:rPr>
              <a:t>"sqrt"</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050">
              <a:solidFill>
                <a:srgbClr val="A5D6FF"/>
              </a:solidFill>
              <a:highlight>
                <a:srgbClr val="121314"/>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sz="2033">
              <a:solidFill>
                <a:srgbClr val="0D9488"/>
              </a:solidFill>
              <a:latin typeface="Consolas"/>
              <a:ea typeface="Consolas"/>
              <a:cs typeface="Consolas"/>
              <a:sym typeface="Consolas"/>
            </a:endParaRPr>
          </a:p>
        </p:txBody>
      </p:sp>
      <p:sp>
        <p:nvSpPr>
          <p:cNvPr id="240" name="Google Shape;240;g3a866401fb7_1_86"/>
          <p:cNvSpPr/>
          <p:nvPr/>
        </p:nvSpPr>
        <p:spPr>
          <a:xfrm>
            <a:off x="892200" y="3528225"/>
            <a:ext cx="4876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050">
                <a:solidFill>
                  <a:schemeClr val="accent1"/>
                </a:solidFill>
                <a:latin typeface="Consolas"/>
                <a:ea typeface="Consolas"/>
                <a:cs typeface="Consolas"/>
                <a:sym typeface="Consolas"/>
              </a:rPr>
              <a:t>'n_estimators': 300, 'max_depth': 12, 'min_samples_split': 5, 'min_samples_leaf': 3, 'max_features': 'sqrt'</a:t>
            </a:r>
            <a:r>
              <a:rPr lang="en-US" sz="1100">
                <a:solidFill>
                  <a:schemeClr val="accent3"/>
                </a:solidFill>
              </a:rPr>
              <a:t> </a:t>
            </a:r>
            <a:endParaRPr b="0" i="0" sz="2133" u="none" cap="none" strike="noStrike">
              <a:solidFill>
                <a:schemeClr val="accent3"/>
              </a:solidFill>
              <a:latin typeface="Arial"/>
              <a:ea typeface="Arial"/>
              <a:cs typeface="Arial"/>
              <a:sym typeface="Arial"/>
            </a:endParaRPr>
          </a:p>
        </p:txBody>
      </p:sp>
      <p:sp>
        <p:nvSpPr>
          <p:cNvPr id="241" name="Google Shape;241;g3a866401fb7_1_86"/>
          <p:cNvSpPr/>
          <p:nvPr/>
        </p:nvSpPr>
        <p:spPr>
          <a:xfrm>
            <a:off x="648300" y="1769151"/>
            <a:ext cx="5059800" cy="5487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242" name="Google Shape;242;g3a866401fb7_1_86"/>
          <p:cNvSpPr/>
          <p:nvPr/>
        </p:nvSpPr>
        <p:spPr>
          <a:xfrm>
            <a:off x="725200" y="1769150"/>
            <a:ext cx="4755000" cy="5487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2050">
                <a:solidFill>
                  <a:srgbClr val="C9D1D9"/>
                </a:solidFill>
                <a:highlight>
                  <a:srgbClr val="121314"/>
                </a:highlight>
                <a:latin typeface="Consolas"/>
                <a:ea typeface="Consolas"/>
                <a:cs typeface="Consolas"/>
                <a:sym typeface="Consolas"/>
              </a:rPr>
              <a:t>Out-of-Bag</a:t>
            </a:r>
            <a:endParaRPr sz="2200">
              <a:solidFill>
                <a:srgbClr val="5EEAD4"/>
              </a:solidFill>
              <a:latin typeface="Courier New"/>
              <a:ea typeface="Courier New"/>
              <a:cs typeface="Courier New"/>
              <a:sym typeface="Courier New"/>
            </a:endParaRPr>
          </a:p>
        </p:txBody>
      </p:sp>
      <p:sp>
        <p:nvSpPr>
          <p:cNvPr id="243" name="Google Shape;243;g3a866401fb7_1_86"/>
          <p:cNvSpPr/>
          <p:nvPr/>
        </p:nvSpPr>
        <p:spPr>
          <a:xfrm>
            <a:off x="648300" y="4076926"/>
            <a:ext cx="5059800" cy="5487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244" name="Google Shape;244;g3a866401fb7_1_86"/>
          <p:cNvSpPr/>
          <p:nvPr/>
        </p:nvSpPr>
        <p:spPr>
          <a:xfrm>
            <a:off x="725200" y="4076925"/>
            <a:ext cx="4755000" cy="5487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2050">
                <a:solidFill>
                  <a:srgbClr val="C9D1D9"/>
                </a:solidFill>
                <a:highlight>
                  <a:srgbClr val="121314"/>
                </a:highlight>
                <a:latin typeface="Consolas"/>
                <a:ea typeface="Consolas"/>
                <a:cs typeface="Consolas"/>
                <a:sym typeface="Consolas"/>
              </a:rPr>
              <a:t>Cross-Validation</a:t>
            </a:r>
            <a:endParaRPr sz="2200">
              <a:solidFill>
                <a:srgbClr val="5EEAD4"/>
              </a:solidFill>
              <a:latin typeface="Courier New"/>
              <a:ea typeface="Courier New"/>
              <a:cs typeface="Courier New"/>
              <a:sym typeface="Courier New"/>
            </a:endParaRPr>
          </a:p>
        </p:txBody>
      </p:sp>
      <p:sp>
        <p:nvSpPr>
          <p:cNvPr id="245" name="Google Shape;245;g3a866401fb7_1_86"/>
          <p:cNvSpPr/>
          <p:nvPr/>
        </p:nvSpPr>
        <p:spPr>
          <a:xfrm>
            <a:off x="860850" y="5638300"/>
            <a:ext cx="4876800" cy="5487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Clr>
                <a:schemeClr val="dk1"/>
              </a:buClr>
              <a:buSzPts val="1100"/>
              <a:buFont typeface="Arial"/>
              <a:buNone/>
            </a:pPr>
            <a:r>
              <a:rPr lang="en-US" sz="1050">
                <a:solidFill>
                  <a:srgbClr val="A5D6FF"/>
                </a:solidFill>
                <a:highlight>
                  <a:srgbClr val="121314"/>
                </a:highlight>
                <a:latin typeface="Consolas"/>
                <a:ea typeface="Consolas"/>
                <a:cs typeface="Consolas"/>
                <a:sym typeface="Consolas"/>
              </a:rPr>
              <a:t>"n_estimators"</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200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300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"max_depth"</a:t>
            </a:r>
            <a:r>
              <a:rPr lang="en-US" sz="1050">
                <a:solidFill>
                  <a:srgbClr val="BBBEBF"/>
                </a:solidFill>
                <a:highlight>
                  <a:srgbClr val="121314"/>
                </a:highlight>
                <a:latin typeface="Consolas"/>
                <a:ea typeface="Consolas"/>
                <a:cs typeface="Consolas"/>
                <a:sym typeface="Consolas"/>
              </a:rPr>
              <a:t>        : [</a:t>
            </a:r>
            <a:r>
              <a:rPr lang="en-US" sz="1050">
                <a:solidFill>
                  <a:srgbClr val="79C0FF"/>
                </a:solidFill>
                <a:highlight>
                  <a:srgbClr val="121314"/>
                </a:highlight>
                <a:latin typeface="Consolas"/>
                <a:ea typeface="Consolas"/>
                <a:cs typeface="Consolas"/>
                <a:sym typeface="Consolas"/>
              </a:rPr>
              <a:t>BEST_DEPTH_OOB</a:t>
            </a:r>
            <a:r>
              <a:rPr lang="en-US" sz="1050">
                <a:solidFill>
                  <a:srgbClr val="BBBEBF"/>
                </a:solidFill>
                <a:highlight>
                  <a:srgbClr val="121314"/>
                </a:highlight>
                <a:latin typeface="Consolas"/>
                <a:ea typeface="Consolas"/>
                <a:cs typeface="Consolas"/>
                <a:sym typeface="Consolas"/>
              </a:rPr>
              <a:t>],  </a:t>
            </a:r>
            <a:r>
              <a:rPr lang="en-US" sz="1050">
                <a:solidFill>
                  <a:srgbClr val="8B949E"/>
                </a:solidFill>
                <a:highlight>
                  <a:srgbClr val="121314"/>
                </a:highlight>
                <a:latin typeface="Consolas"/>
                <a:ea typeface="Consolas"/>
                <a:cs typeface="Consolas"/>
                <a:sym typeface="Consolas"/>
              </a:rPr>
              <a:t># fijado por OOB GS</a:t>
            </a:r>
            <a:endParaRPr sz="1050">
              <a:solidFill>
                <a:srgbClr val="8B949E"/>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"min_samples_split"</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20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"min_samples_leaf"</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3</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"max_features"</a:t>
            </a:r>
            <a:r>
              <a:rPr lang="en-US" sz="1050">
                <a:solidFill>
                  <a:srgbClr val="BBBEBF"/>
                </a:solidFill>
                <a:highlight>
                  <a:srgbClr val="121314"/>
                </a:highlight>
                <a:latin typeface="Consolas"/>
                <a:ea typeface="Consolas"/>
                <a:cs typeface="Consolas"/>
                <a:sym typeface="Consolas"/>
              </a:rPr>
              <a:t>     : [</a:t>
            </a:r>
            <a:r>
              <a:rPr lang="en-US" sz="1050">
                <a:solidFill>
                  <a:srgbClr val="A5D6FF"/>
                </a:solidFill>
                <a:highlight>
                  <a:srgbClr val="121314"/>
                </a:highlight>
                <a:latin typeface="Consolas"/>
                <a:ea typeface="Consolas"/>
                <a:cs typeface="Consolas"/>
                <a:sym typeface="Consolas"/>
              </a:rPr>
              <a:t>"sqrt"</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t/>
            </a:r>
            <a:endParaRPr sz="1050">
              <a:solidFill>
                <a:srgbClr val="A5D6F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A5D6FF"/>
              </a:solidFill>
              <a:highlight>
                <a:srgbClr val="121314"/>
              </a:highlight>
              <a:latin typeface="Consolas"/>
              <a:ea typeface="Consolas"/>
              <a:cs typeface="Consolas"/>
              <a:sym typeface="Consolas"/>
            </a:endParaRPr>
          </a:p>
          <a:p>
            <a:pPr indent="0" lvl="0" marL="0" rtl="0" algn="l">
              <a:spcBef>
                <a:spcPts val="0"/>
              </a:spcBef>
              <a:spcAft>
                <a:spcPts val="0"/>
              </a:spcAft>
              <a:buClr>
                <a:srgbClr val="000000"/>
              </a:buClr>
              <a:buFont typeface="Arial"/>
              <a:buNone/>
            </a:pPr>
            <a:r>
              <a:t/>
            </a:r>
            <a:endParaRPr sz="2033">
              <a:solidFill>
                <a:srgbClr val="0D9488"/>
              </a:solidFill>
              <a:latin typeface="Consolas"/>
              <a:ea typeface="Consolas"/>
              <a:cs typeface="Consolas"/>
              <a:sym typeface="Consolas"/>
            </a:endParaRPr>
          </a:p>
          <a:p>
            <a:pPr indent="0" lvl="0" marL="0" rtl="0" algn="l">
              <a:lnSpc>
                <a:spcPct val="135714"/>
              </a:lnSpc>
              <a:spcBef>
                <a:spcPts val="0"/>
              </a:spcBef>
              <a:spcAft>
                <a:spcPts val="0"/>
              </a:spcAft>
              <a:buSzPts val="1100"/>
              <a:buNone/>
            </a:pPr>
            <a:r>
              <a:t/>
            </a:r>
            <a:endParaRPr sz="1050">
              <a:solidFill>
                <a:srgbClr val="A5D6FF"/>
              </a:solidFill>
              <a:highlight>
                <a:srgbClr val="121314"/>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sz="2033">
              <a:solidFill>
                <a:srgbClr val="0D9488"/>
              </a:solidFill>
              <a:latin typeface="Consolas"/>
              <a:ea typeface="Consolas"/>
              <a:cs typeface="Consolas"/>
              <a:sym typeface="Consolas"/>
            </a:endParaRPr>
          </a:p>
        </p:txBody>
      </p:sp>
      <p:sp>
        <p:nvSpPr>
          <p:cNvPr id="246" name="Google Shape;246;g3a866401fb7_1_86"/>
          <p:cNvSpPr/>
          <p:nvPr/>
        </p:nvSpPr>
        <p:spPr>
          <a:xfrm>
            <a:off x="953100" y="5781000"/>
            <a:ext cx="4876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050">
                <a:solidFill>
                  <a:schemeClr val="accent1"/>
                </a:solidFill>
                <a:latin typeface="Consolas"/>
                <a:ea typeface="Consolas"/>
                <a:cs typeface="Consolas"/>
                <a:sym typeface="Consolas"/>
              </a:rPr>
              <a:t>'n_estimators': 300, 'max_depth': 12, 'min_samples_split': 20, 'min_samples_leaf': 10, 'max_features': 'sqrt'</a:t>
            </a:r>
            <a:r>
              <a:rPr lang="en-US" sz="1100">
                <a:solidFill>
                  <a:schemeClr val="accent1"/>
                </a:solidFill>
              </a:rPr>
              <a:t> </a:t>
            </a:r>
            <a:endParaRPr b="0" i="0" sz="2133" cap="none" strike="noStrike">
              <a:solidFill>
                <a:schemeClr val="accent1"/>
              </a:solidFill>
              <a:latin typeface="Arial"/>
              <a:ea typeface="Arial"/>
              <a:cs typeface="Arial"/>
              <a:sym typeface="Arial"/>
            </a:endParaRPr>
          </a:p>
        </p:txBody>
      </p:sp>
      <p:sp>
        <p:nvSpPr>
          <p:cNvPr id="247" name="Google Shape;247;g3a866401fb7_1_86"/>
          <p:cNvSpPr/>
          <p:nvPr/>
        </p:nvSpPr>
        <p:spPr>
          <a:xfrm>
            <a:off x="6411850" y="1153700"/>
            <a:ext cx="11805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8" name="Google Shape;248;g3a866401fb7_1_86"/>
          <p:cNvSpPr/>
          <p:nvPr/>
        </p:nvSpPr>
        <p:spPr>
          <a:xfrm>
            <a:off x="6445584" y="1153700"/>
            <a:ext cx="1180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Clase</a:t>
            </a:r>
            <a:endParaRPr b="0" i="0" sz="1400" u="none" cap="none" strike="noStrike">
              <a:solidFill>
                <a:schemeClr val="dk1"/>
              </a:solidFill>
              <a:latin typeface="Calibri"/>
              <a:ea typeface="Calibri"/>
              <a:cs typeface="Calibri"/>
              <a:sym typeface="Calibri"/>
            </a:endParaRPr>
          </a:p>
        </p:txBody>
      </p:sp>
      <p:sp>
        <p:nvSpPr>
          <p:cNvPr id="249" name="Google Shape;249;g3a866401fb7_1_86"/>
          <p:cNvSpPr/>
          <p:nvPr/>
        </p:nvSpPr>
        <p:spPr>
          <a:xfrm>
            <a:off x="7626271" y="1153700"/>
            <a:ext cx="9108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0" name="Google Shape;250;g3a866401fb7_1_86"/>
          <p:cNvSpPr/>
          <p:nvPr/>
        </p:nvSpPr>
        <p:spPr>
          <a:xfrm>
            <a:off x="7660005" y="1153700"/>
            <a:ext cx="9108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Precisión</a:t>
            </a:r>
            <a:endParaRPr b="0" i="0" sz="1400" u="none" cap="none" strike="noStrike">
              <a:solidFill>
                <a:schemeClr val="dk1"/>
              </a:solidFill>
              <a:latin typeface="Calibri"/>
              <a:ea typeface="Calibri"/>
              <a:cs typeface="Calibri"/>
              <a:sym typeface="Calibri"/>
            </a:endParaRPr>
          </a:p>
        </p:txBody>
      </p:sp>
      <p:sp>
        <p:nvSpPr>
          <p:cNvPr id="251" name="Google Shape;251;g3a866401fb7_1_86"/>
          <p:cNvSpPr/>
          <p:nvPr/>
        </p:nvSpPr>
        <p:spPr>
          <a:xfrm>
            <a:off x="8570821" y="1153700"/>
            <a:ext cx="9108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2" name="Google Shape;252;g3a866401fb7_1_86"/>
          <p:cNvSpPr/>
          <p:nvPr/>
        </p:nvSpPr>
        <p:spPr>
          <a:xfrm>
            <a:off x="8604555" y="1153700"/>
            <a:ext cx="9108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Recall</a:t>
            </a:r>
            <a:endParaRPr b="0" i="0" sz="1400" u="none" cap="none" strike="noStrike">
              <a:solidFill>
                <a:schemeClr val="dk1"/>
              </a:solidFill>
              <a:latin typeface="Calibri"/>
              <a:ea typeface="Calibri"/>
              <a:cs typeface="Calibri"/>
              <a:sym typeface="Calibri"/>
            </a:endParaRPr>
          </a:p>
        </p:txBody>
      </p:sp>
      <p:sp>
        <p:nvSpPr>
          <p:cNvPr id="253" name="Google Shape;253;g3a866401fb7_1_86"/>
          <p:cNvSpPr/>
          <p:nvPr/>
        </p:nvSpPr>
        <p:spPr>
          <a:xfrm>
            <a:off x="9515371" y="1153700"/>
            <a:ext cx="9108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4" name="Google Shape;254;g3a866401fb7_1_86"/>
          <p:cNvSpPr/>
          <p:nvPr/>
        </p:nvSpPr>
        <p:spPr>
          <a:xfrm>
            <a:off x="9549105" y="1153700"/>
            <a:ext cx="9108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F1-Score</a:t>
            </a:r>
            <a:endParaRPr b="0" i="0" sz="1400" u="none" cap="none" strike="noStrike">
              <a:solidFill>
                <a:schemeClr val="dk1"/>
              </a:solidFill>
              <a:latin typeface="Calibri"/>
              <a:ea typeface="Calibri"/>
              <a:cs typeface="Calibri"/>
              <a:sym typeface="Calibri"/>
            </a:endParaRPr>
          </a:p>
        </p:txBody>
      </p:sp>
      <p:sp>
        <p:nvSpPr>
          <p:cNvPr id="255" name="Google Shape;255;g3a866401fb7_1_86"/>
          <p:cNvSpPr/>
          <p:nvPr/>
        </p:nvSpPr>
        <p:spPr>
          <a:xfrm>
            <a:off x="10459921" y="1153700"/>
            <a:ext cx="9108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6" name="Google Shape;256;g3a866401fb7_1_86"/>
          <p:cNvSpPr/>
          <p:nvPr/>
        </p:nvSpPr>
        <p:spPr>
          <a:xfrm>
            <a:off x="10493655" y="1153700"/>
            <a:ext cx="9108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Soporte</a:t>
            </a:r>
            <a:endParaRPr b="0" i="0" sz="1400" u="none" cap="none" strike="noStrike">
              <a:solidFill>
                <a:schemeClr val="dk1"/>
              </a:solidFill>
              <a:latin typeface="Calibri"/>
              <a:ea typeface="Calibri"/>
              <a:cs typeface="Calibri"/>
              <a:sym typeface="Calibri"/>
            </a:endParaRPr>
          </a:p>
        </p:txBody>
      </p:sp>
      <p:sp>
        <p:nvSpPr>
          <p:cNvPr id="257" name="Google Shape;257;g3a866401fb7_1_86"/>
          <p:cNvSpPr/>
          <p:nvPr/>
        </p:nvSpPr>
        <p:spPr>
          <a:xfrm>
            <a:off x="6411850" y="1616994"/>
            <a:ext cx="11805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8" name="Google Shape;258;g3a866401fb7_1_86"/>
          <p:cNvSpPr/>
          <p:nvPr/>
        </p:nvSpPr>
        <p:spPr>
          <a:xfrm>
            <a:off x="6452331" y="1616994"/>
            <a:ext cx="111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Heridos (0)</a:t>
            </a:r>
            <a:endParaRPr b="0" i="0" sz="1500" u="none" cap="none" strike="noStrike">
              <a:solidFill>
                <a:schemeClr val="dk1"/>
              </a:solidFill>
              <a:latin typeface="Calibri"/>
              <a:ea typeface="Calibri"/>
              <a:cs typeface="Calibri"/>
              <a:sym typeface="Calibri"/>
            </a:endParaRPr>
          </a:p>
        </p:txBody>
      </p:sp>
      <p:sp>
        <p:nvSpPr>
          <p:cNvPr id="259" name="Google Shape;259;g3a866401fb7_1_86"/>
          <p:cNvSpPr/>
          <p:nvPr/>
        </p:nvSpPr>
        <p:spPr>
          <a:xfrm>
            <a:off x="7626271" y="1616994"/>
            <a:ext cx="9108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0" name="Google Shape;260;g3a866401fb7_1_86"/>
          <p:cNvSpPr/>
          <p:nvPr/>
        </p:nvSpPr>
        <p:spPr>
          <a:xfrm>
            <a:off x="7666752" y="1616994"/>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99</a:t>
            </a:r>
            <a:endParaRPr b="0" i="0" sz="1500" u="none" cap="none" strike="noStrike">
              <a:solidFill>
                <a:schemeClr val="dk1"/>
              </a:solidFill>
              <a:latin typeface="Calibri"/>
              <a:ea typeface="Calibri"/>
              <a:cs typeface="Calibri"/>
              <a:sym typeface="Calibri"/>
            </a:endParaRPr>
          </a:p>
        </p:txBody>
      </p:sp>
      <p:sp>
        <p:nvSpPr>
          <p:cNvPr id="261" name="Google Shape;261;g3a866401fb7_1_86"/>
          <p:cNvSpPr/>
          <p:nvPr/>
        </p:nvSpPr>
        <p:spPr>
          <a:xfrm>
            <a:off x="8570821" y="1616994"/>
            <a:ext cx="9108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2" name="Google Shape;262;g3a866401fb7_1_86"/>
          <p:cNvSpPr/>
          <p:nvPr/>
        </p:nvSpPr>
        <p:spPr>
          <a:xfrm>
            <a:off x="8611302" y="1616994"/>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0.99</a:t>
            </a:r>
            <a:endParaRPr b="0" i="0" sz="1500" u="none" cap="none" strike="noStrike">
              <a:solidFill>
                <a:schemeClr val="dk1"/>
              </a:solidFill>
              <a:latin typeface="Calibri"/>
              <a:ea typeface="Calibri"/>
              <a:cs typeface="Calibri"/>
              <a:sym typeface="Calibri"/>
            </a:endParaRPr>
          </a:p>
        </p:txBody>
      </p:sp>
      <p:sp>
        <p:nvSpPr>
          <p:cNvPr id="263" name="Google Shape;263;g3a866401fb7_1_86"/>
          <p:cNvSpPr/>
          <p:nvPr/>
        </p:nvSpPr>
        <p:spPr>
          <a:xfrm>
            <a:off x="9515371" y="1616994"/>
            <a:ext cx="9108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4" name="Google Shape;264;g3a866401fb7_1_86"/>
          <p:cNvSpPr/>
          <p:nvPr/>
        </p:nvSpPr>
        <p:spPr>
          <a:xfrm>
            <a:off x="9555852" y="1616994"/>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99</a:t>
            </a:r>
            <a:endParaRPr b="0" i="0" sz="1500" u="none" cap="none" strike="noStrike">
              <a:solidFill>
                <a:schemeClr val="dk1"/>
              </a:solidFill>
              <a:latin typeface="Calibri"/>
              <a:ea typeface="Calibri"/>
              <a:cs typeface="Calibri"/>
              <a:sym typeface="Calibri"/>
            </a:endParaRPr>
          </a:p>
        </p:txBody>
      </p:sp>
      <p:sp>
        <p:nvSpPr>
          <p:cNvPr id="265" name="Google Shape;265;g3a866401fb7_1_86"/>
          <p:cNvSpPr/>
          <p:nvPr/>
        </p:nvSpPr>
        <p:spPr>
          <a:xfrm>
            <a:off x="10459921" y="1616994"/>
            <a:ext cx="9108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6" name="Google Shape;266;g3a866401fb7_1_86"/>
          <p:cNvSpPr/>
          <p:nvPr/>
        </p:nvSpPr>
        <p:spPr>
          <a:xfrm>
            <a:off x="10500402" y="1616994"/>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1840</a:t>
            </a:r>
            <a:endParaRPr b="0" i="0" sz="1500" u="none" cap="none" strike="noStrike">
              <a:solidFill>
                <a:schemeClr val="dk1"/>
              </a:solidFill>
              <a:latin typeface="Calibri"/>
              <a:ea typeface="Calibri"/>
              <a:cs typeface="Calibri"/>
              <a:sym typeface="Calibri"/>
            </a:endParaRPr>
          </a:p>
        </p:txBody>
      </p:sp>
      <p:sp>
        <p:nvSpPr>
          <p:cNvPr id="267" name="Google Shape;267;g3a866401fb7_1_86"/>
          <p:cNvSpPr/>
          <p:nvPr/>
        </p:nvSpPr>
        <p:spPr>
          <a:xfrm>
            <a:off x="6411850" y="2104672"/>
            <a:ext cx="11805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g3a866401fb7_1_86"/>
          <p:cNvSpPr/>
          <p:nvPr/>
        </p:nvSpPr>
        <p:spPr>
          <a:xfrm>
            <a:off x="6452331" y="2104672"/>
            <a:ext cx="111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Muertos (1)</a:t>
            </a:r>
            <a:endParaRPr b="0" i="0" sz="1500" u="none" cap="none" strike="noStrike">
              <a:solidFill>
                <a:schemeClr val="dk1"/>
              </a:solidFill>
              <a:latin typeface="Calibri"/>
              <a:ea typeface="Calibri"/>
              <a:cs typeface="Calibri"/>
              <a:sym typeface="Calibri"/>
            </a:endParaRPr>
          </a:p>
        </p:txBody>
      </p:sp>
      <p:sp>
        <p:nvSpPr>
          <p:cNvPr id="269" name="Google Shape;269;g3a866401fb7_1_86"/>
          <p:cNvSpPr/>
          <p:nvPr/>
        </p:nvSpPr>
        <p:spPr>
          <a:xfrm>
            <a:off x="7626271" y="2104672"/>
            <a:ext cx="9108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g3a866401fb7_1_86"/>
          <p:cNvSpPr/>
          <p:nvPr/>
        </p:nvSpPr>
        <p:spPr>
          <a:xfrm>
            <a:off x="7666752" y="2104672"/>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0.06</a:t>
            </a:r>
            <a:endParaRPr b="0" i="0" sz="1500" u="none" cap="none" strike="noStrike">
              <a:solidFill>
                <a:schemeClr val="dk1"/>
              </a:solidFill>
              <a:latin typeface="Calibri"/>
              <a:ea typeface="Calibri"/>
              <a:cs typeface="Calibri"/>
              <a:sym typeface="Calibri"/>
            </a:endParaRPr>
          </a:p>
        </p:txBody>
      </p:sp>
      <p:sp>
        <p:nvSpPr>
          <p:cNvPr id="271" name="Google Shape;271;g3a866401fb7_1_86"/>
          <p:cNvSpPr/>
          <p:nvPr/>
        </p:nvSpPr>
        <p:spPr>
          <a:xfrm>
            <a:off x="8570821" y="2104672"/>
            <a:ext cx="9108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2" name="Google Shape;272;g3a866401fb7_1_86"/>
          <p:cNvSpPr/>
          <p:nvPr/>
        </p:nvSpPr>
        <p:spPr>
          <a:xfrm>
            <a:off x="8611302" y="2104672"/>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04</a:t>
            </a:r>
            <a:endParaRPr b="0" i="0" sz="1500" u="none" cap="none" strike="noStrike">
              <a:solidFill>
                <a:schemeClr val="dk1"/>
              </a:solidFill>
              <a:latin typeface="Calibri"/>
              <a:ea typeface="Calibri"/>
              <a:cs typeface="Calibri"/>
              <a:sym typeface="Calibri"/>
            </a:endParaRPr>
          </a:p>
        </p:txBody>
      </p:sp>
      <p:sp>
        <p:nvSpPr>
          <p:cNvPr id="273" name="Google Shape;273;g3a866401fb7_1_86"/>
          <p:cNvSpPr/>
          <p:nvPr/>
        </p:nvSpPr>
        <p:spPr>
          <a:xfrm>
            <a:off x="9515371" y="2104672"/>
            <a:ext cx="9108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4" name="Google Shape;274;g3a866401fb7_1_86"/>
          <p:cNvSpPr/>
          <p:nvPr/>
        </p:nvSpPr>
        <p:spPr>
          <a:xfrm>
            <a:off x="9555852" y="2104672"/>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05</a:t>
            </a:r>
            <a:endParaRPr b="0" i="0" sz="1500" u="none" cap="none" strike="noStrike">
              <a:solidFill>
                <a:schemeClr val="dk1"/>
              </a:solidFill>
              <a:latin typeface="Calibri"/>
              <a:ea typeface="Calibri"/>
              <a:cs typeface="Calibri"/>
              <a:sym typeface="Calibri"/>
            </a:endParaRPr>
          </a:p>
        </p:txBody>
      </p:sp>
      <p:sp>
        <p:nvSpPr>
          <p:cNvPr id="275" name="Google Shape;275;g3a866401fb7_1_86"/>
          <p:cNvSpPr/>
          <p:nvPr/>
        </p:nvSpPr>
        <p:spPr>
          <a:xfrm>
            <a:off x="10459921" y="2104672"/>
            <a:ext cx="9108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6" name="Google Shape;276;g3a866401fb7_1_86"/>
          <p:cNvSpPr/>
          <p:nvPr/>
        </p:nvSpPr>
        <p:spPr>
          <a:xfrm>
            <a:off x="10500402" y="2104672"/>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26</a:t>
            </a:r>
            <a:endParaRPr b="0" i="0" sz="1500" u="none" cap="none" strike="noStrike">
              <a:solidFill>
                <a:schemeClr val="dk1"/>
              </a:solidFill>
              <a:latin typeface="Calibri"/>
              <a:ea typeface="Calibri"/>
              <a:cs typeface="Calibri"/>
              <a:sym typeface="Calibri"/>
            </a:endParaRPr>
          </a:p>
        </p:txBody>
      </p:sp>
      <p:sp>
        <p:nvSpPr>
          <p:cNvPr id="277" name="Google Shape;277;g3a866401fb7_1_86"/>
          <p:cNvSpPr/>
          <p:nvPr/>
        </p:nvSpPr>
        <p:spPr>
          <a:xfrm>
            <a:off x="6411850" y="2592350"/>
            <a:ext cx="11805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8" name="Google Shape;278;g3a866401fb7_1_86"/>
          <p:cNvSpPr/>
          <p:nvPr/>
        </p:nvSpPr>
        <p:spPr>
          <a:xfrm>
            <a:off x="6452331" y="2592350"/>
            <a:ext cx="111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Accuracy</a:t>
            </a:r>
            <a:endParaRPr b="0" i="0" sz="1500" u="none" cap="none" strike="noStrike">
              <a:solidFill>
                <a:schemeClr val="dk1"/>
              </a:solidFill>
              <a:latin typeface="Calibri"/>
              <a:ea typeface="Calibri"/>
              <a:cs typeface="Calibri"/>
              <a:sym typeface="Calibri"/>
            </a:endParaRPr>
          </a:p>
        </p:txBody>
      </p:sp>
      <p:sp>
        <p:nvSpPr>
          <p:cNvPr id="279" name="Google Shape;279;g3a866401fb7_1_86"/>
          <p:cNvSpPr/>
          <p:nvPr/>
        </p:nvSpPr>
        <p:spPr>
          <a:xfrm>
            <a:off x="7626271" y="2592350"/>
            <a:ext cx="9108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0" name="Google Shape;280;g3a866401fb7_1_86"/>
          <p:cNvSpPr/>
          <p:nvPr/>
        </p:nvSpPr>
        <p:spPr>
          <a:xfrm>
            <a:off x="7666752" y="2592350"/>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281" name="Google Shape;281;g3a866401fb7_1_86"/>
          <p:cNvSpPr/>
          <p:nvPr/>
        </p:nvSpPr>
        <p:spPr>
          <a:xfrm>
            <a:off x="8570821" y="2592350"/>
            <a:ext cx="9108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2" name="Google Shape;282;g3a866401fb7_1_86"/>
          <p:cNvSpPr/>
          <p:nvPr/>
        </p:nvSpPr>
        <p:spPr>
          <a:xfrm>
            <a:off x="8611302" y="2592350"/>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283" name="Google Shape;283;g3a866401fb7_1_86"/>
          <p:cNvSpPr/>
          <p:nvPr/>
        </p:nvSpPr>
        <p:spPr>
          <a:xfrm>
            <a:off x="9515371" y="2592350"/>
            <a:ext cx="9108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4" name="Google Shape;284;g3a866401fb7_1_86"/>
          <p:cNvSpPr/>
          <p:nvPr/>
        </p:nvSpPr>
        <p:spPr>
          <a:xfrm>
            <a:off x="9555852" y="2592350"/>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0.</a:t>
            </a:r>
            <a:r>
              <a:rPr b="1" lang="en-US" sz="1500">
                <a:solidFill>
                  <a:srgbClr val="1E293B"/>
                </a:solidFill>
                <a:latin typeface="Calibri"/>
                <a:ea typeface="Calibri"/>
                <a:cs typeface="Calibri"/>
                <a:sym typeface="Calibri"/>
              </a:rPr>
              <a:t>98</a:t>
            </a:r>
            <a:endParaRPr b="0" i="0" sz="1500" u="none" cap="none" strike="noStrike">
              <a:solidFill>
                <a:schemeClr val="dk1"/>
              </a:solidFill>
              <a:latin typeface="Calibri"/>
              <a:ea typeface="Calibri"/>
              <a:cs typeface="Calibri"/>
              <a:sym typeface="Calibri"/>
            </a:endParaRPr>
          </a:p>
        </p:txBody>
      </p:sp>
      <p:sp>
        <p:nvSpPr>
          <p:cNvPr id="285" name="Google Shape;285;g3a866401fb7_1_86"/>
          <p:cNvSpPr/>
          <p:nvPr/>
        </p:nvSpPr>
        <p:spPr>
          <a:xfrm>
            <a:off x="10459921" y="2592350"/>
            <a:ext cx="9108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6" name="Google Shape;286;g3a866401fb7_1_86"/>
          <p:cNvSpPr/>
          <p:nvPr/>
        </p:nvSpPr>
        <p:spPr>
          <a:xfrm>
            <a:off x="10500402" y="2592350"/>
            <a:ext cx="8433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1</a:t>
            </a:r>
            <a:r>
              <a:rPr b="1" lang="en-US" sz="1500">
                <a:solidFill>
                  <a:srgbClr val="1E293B"/>
                </a:solidFill>
                <a:latin typeface="Calibri"/>
                <a:ea typeface="Calibri"/>
                <a:cs typeface="Calibri"/>
                <a:sym typeface="Calibri"/>
              </a:rPr>
              <a:t>866</a:t>
            </a:r>
            <a:endParaRPr b="0" i="0" sz="1500" u="none" cap="none" strike="noStrike">
              <a:solidFill>
                <a:schemeClr val="dk1"/>
              </a:solidFill>
              <a:latin typeface="Calibri"/>
              <a:ea typeface="Calibri"/>
              <a:cs typeface="Calibri"/>
              <a:sym typeface="Calibri"/>
            </a:endParaRPr>
          </a:p>
        </p:txBody>
      </p:sp>
      <p:graphicFrame>
        <p:nvGraphicFramePr>
          <p:cNvPr id="287" name="Google Shape;287;g3a866401fb7_1_86"/>
          <p:cNvGraphicFramePr/>
          <p:nvPr/>
        </p:nvGraphicFramePr>
        <p:xfrm>
          <a:off x="6546626" y="3297398"/>
          <a:ext cx="3000000" cy="3000000"/>
        </p:xfrm>
        <a:graphic>
          <a:graphicData uri="http://schemas.openxmlformats.org/drawingml/2006/table">
            <a:tbl>
              <a:tblPr>
                <a:noFill/>
                <a:tableStyleId>{38C2099B-79C9-4A69-BC85-5F42607CA374}</a:tableStyleId>
              </a:tblPr>
              <a:tblGrid>
                <a:gridCol w="1342625"/>
                <a:gridCol w="1726525"/>
                <a:gridCol w="1685850"/>
              </a:tblGrid>
              <a:tr h="731300">
                <a:tc>
                  <a:txBody>
                    <a:bodyPr/>
                    <a:lstStyle/>
                    <a:p>
                      <a:pPr indent="0" lvl="0" marL="0" marR="0" rtl="0" algn="l">
                        <a:spcBef>
                          <a:spcPts val="0"/>
                        </a:spcBef>
                        <a:spcAft>
                          <a:spcPts val="0"/>
                        </a:spcAft>
                        <a:buClr>
                          <a:schemeClr val="dk1"/>
                        </a:buClr>
                        <a:buSzPts val="1600"/>
                        <a:buFont typeface="Calibri"/>
                        <a:buNone/>
                      </a:pPr>
                      <a:r>
                        <a:t/>
                      </a:r>
                      <a:endParaRPr sz="1600" u="none" cap="none" strike="noStrike"/>
                    </a:p>
                  </a:txBody>
                  <a:tcPr marT="60950" marB="60950" marR="121925" marL="121925">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r>
              <a:tr h="1103075">
                <a:tc>
                  <a:txBody>
                    <a:bodyPr/>
                    <a:lstStyle/>
                    <a:p>
                      <a:pPr indent="0" lvl="0" marL="0" marR="0" rtl="0" algn="ctr">
                        <a:spcBef>
                          <a:spcPts val="0"/>
                        </a:spcBef>
                        <a:spcAft>
                          <a:spcPts val="0"/>
                        </a:spcAft>
                        <a:buClr>
                          <a:srgbClr val="5EEAD4"/>
                        </a:buClr>
                        <a:buSzPts val="1600"/>
                        <a:buFont typeface="Calibri"/>
                        <a:buNone/>
                      </a:pPr>
                      <a:r>
                        <a:rPr b="1" lang="en-US" sz="1600" u="none" cap="none" strike="noStrike">
                          <a:solidFill>
                            <a:srgbClr val="5EEAD4"/>
                          </a:solidFill>
                        </a:rPr>
                        <a:t>Real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1825</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15</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Positivos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3A2A0D"/>
                    </a:solidFill>
                  </a:tcPr>
                </a:tc>
              </a:tr>
              <a:tr h="1103075">
                <a:tc>
                  <a:txBody>
                    <a:bodyPr/>
                    <a:lstStyle/>
                    <a:p>
                      <a:pPr indent="0" lvl="0" marL="0" marR="0" rtl="0" algn="ctr">
                        <a:spcBef>
                          <a:spcPts val="0"/>
                        </a:spcBef>
                        <a:spcAft>
                          <a:spcPts val="0"/>
                        </a:spcAft>
                        <a:buClr>
                          <a:srgbClr val="E84C4C"/>
                        </a:buClr>
                        <a:buSzPts val="1600"/>
                        <a:buFont typeface="Calibri"/>
                        <a:buNone/>
                      </a:pPr>
                      <a:r>
                        <a:rPr b="1" lang="en-US" sz="1600" u="none" cap="none" strike="noStrike">
                          <a:solidFill>
                            <a:srgbClr val="E84C4C"/>
                          </a:solidFill>
                        </a:rPr>
                        <a:t>Real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25</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4A1010"/>
                    </a:solidFill>
                  </a:tcPr>
                </a:tc>
                <a:tc>
                  <a:txBody>
                    <a:bodyPr/>
                    <a:lstStyle/>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1</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Positivos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g3a86323efb1_2_137"/>
          <p:cNvSpPr/>
          <p:nvPr/>
        </p:nvSpPr>
        <p:spPr>
          <a:xfrm>
            <a:off x="0" y="0"/>
            <a:ext cx="12192000" cy="9225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4" name="Google Shape;294;g3a86323efb1_2_137"/>
          <p:cNvSpPr/>
          <p:nvPr/>
        </p:nvSpPr>
        <p:spPr>
          <a:xfrm>
            <a:off x="487675" y="68725"/>
            <a:ext cx="11094600" cy="8538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lang="en-US" sz="3500">
                <a:solidFill>
                  <a:srgbClr val="FFFFFF"/>
                </a:solidFill>
                <a:latin typeface="Calibri"/>
                <a:ea typeface="Calibri"/>
                <a:cs typeface="Calibri"/>
                <a:sym typeface="Calibri"/>
              </a:rPr>
              <a:t>Replanteamiento del problema</a:t>
            </a:r>
            <a:endParaRPr b="0" i="0" sz="3500" u="none" cap="none" strike="noStrike">
              <a:solidFill>
                <a:schemeClr val="dk1"/>
              </a:solidFill>
              <a:latin typeface="Calibri"/>
              <a:ea typeface="Calibri"/>
              <a:cs typeface="Calibri"/>
              <a:sym typeface="Calibri"/>
            </a:endParaRPr>
          </a:p>
        </p:txBody>
      </p:sp>
      <p:sp>
        <p:nvSpPr>
          <p:cNvPr id="295" name="Google Shape;295;g3a86323efb1_2_137"/>
          <p:cNvSpPr/>
          <p:nvPr/>
        </p:nvSpPr>
        <p:spPr>
          <a:xfrm>
            <a:off x="6096000" y="3754875"/>
            <a:ext cx="2560500" cy="10530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6" name="Google Shape;296;g3a86323efb1_2_137"/>
          <p:cNvSpPr/>
          <p:nvPr/>
        </p:nvSpPr>
        <p:spPr>
          <a:xfrm>
            <a:off x="6096000" y="3815055"/>
            <a:ext cx="2560500" cy="564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5100"/>
              <a:buFont typeface="Calibri"/>
              <a:buNone/>
            </a:pPr>
            <a:r>
              <a:rPr b="1" i="0" lang="en-US" sz="5100" u="none" cap="none" strike="noStrike">
                <a:solidFill>
                  <a:srgbClr val="2F3C7E"/>
                </a:solidFill>
                <a:latin typeface="Calibri"/>
                <a:ea typeface="Calibri"/>
                <a:cs typeface="Calibri"/>
                <a:sym typeface="Calibri"/>
              </a:rPr>
              <a:t>500</a:t>
            </a:r>
            <a:endParaRPr b="0" i="0" sz="5100" u="none" cap="none" strike="noStrike">
              <a:solidFill>
                <a:schemeClr val="dk1"/>
              </a:solidFill>
              <a:latin typeface="Calibri"/>
              <a:ea typeface="Calibri"/>
              <a:cs typeface="Calibri"/>
              <a:sym typeface="Calibri"/>
            </a:endParaRPr>
          </a:p>
        </p:txBody>
      </p:sp>
      <p:sp>
        <p:nvSpPr>
          <p:cNvPr id="297" name="Google Shape;297;g3a86323efb1_2_137"/>
          <p:cNvSpPr/>
          <p:nvPr/>
        </p:nvSpPr>
        <p:spPr>
          <a:xfrm>
            <a:off x="6096000" y="4356675"/>
            <a:ext cx="2560500" cy="338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800" u="none" cap="none" strike="noStrike">
                <a:solidFill>
                  <a:srgbClr val="64748B"/>
                </a:solidFill>
                <a:latin typeface="Calibri"/>
                <a:ea typeface="Calibri"/>
                <a:cs typeface="Calibri"/>
                <a:sym typeface="Calibri"/>
              </a:rPr>
              <a:t>Registros totales</a:t>
            </a:r>
            <a:endParaRPr b="1" i="0" sz="1800" u="none" cap="none" strike="noStrike">
              <a:solidFill>
                <a:schemeClr val="dk1"/>
              </a:solidFill>
              <a:latin typeface="Calibri"/>
              <a:ea typeface="Calibri"/>
              <a:cs typeface="Calibri"/>
              <a:sym typeface="Calibri"/>
            </a:endParaRPr>
          </a:p>
        </p:txBody>
      </p:sp>
      <p:sp>
        <p:nvSpPr>
          <p:cNvPr id="298" name="Google Shape;298;g3a86323efb1_2_137"/>
          <p:cNvSpPr/>
          <p:nvPr/>
        </p:nvSpPr>
        <p:spPr>
          <a:xfrm>
            <a:off x="9021900" y="3754750"/>
            <a:ext cx="2560500" cy="10530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9" name="Google Shape;299;g3a86323efb1_2_137"/>
          <p:cNvSpPr/>
          <p:nvPr/>
        </p:nvSpPr>
        <p:spPr>
          <a:xfrm>
            <a:off x="9021900" y="3875232"/>
            <a:ext cx="2560500" cy="564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5100"/>
              <a:buFont typeface="Calibri"/>
              <a:buNone/>
            </a:pPr>
            <a:r>
              <a:rPr b="1" i="0" lang="en-US" sz="5100" u="none" cap="none" strike="noStrike">
                <a:solidFill>
                  <a:srgbClr val="990011"/>
                </a:solidFill>
                <a:latin typeface="Calibri"/>
                <a:ea typeface="Calibri"/>
                <a:cs typeface="Calibri"/>
                <a:sym typeface="Calibri"/>
              </a:rPr>
              <a:t>130</a:t>
            </a:r>
            <a:endParaRPr b="0" i="0" sz="5100" u="none" cap="none" strike="noStrike">
              <a:solidFill>
                <a:schemeClr val="dk1"/>
              </a:solidFill>
              <a:latin typeface="Calibri"/>
              <a:ea typeface="Calibri"/>
              <a:cs typeface="Calibri"/>
              <a:sym typeface="Calibri"/>
            </a:endParaRPr>
          </a:p>
        </p:txBody>
      </p:sp>
      <p:sp>
        <p:nvSpPr>
          <p:cNvPr id="300" name="Google Shape;300;g3a86323efb1_2_137"/>
          <p:cNvSpPr/>
          <p:nvPr/>
        </p:nvSpPr>
        <p:spPr>
          <a:xfrm>
            <a:off x="9021900" y="4416832"/>
            <a:ext cx="2560500" cy="338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700" u="none" cap="none" strike="noStrike">
                <a:solidFill>
                  <a:srgbClr val="64748B"/>
                </a:solidFill>
                <a:latin typeface="Calibri"/>
                <a:ea typeface="Calibri"/>
                <a:cs typeface="Calibri"/>
                <a:sym typeface="Calibri"/>
              </a:rPr>
              <a:t>Muertos (26%)</a:t>
            </a:r>
            <a:endParaRPr b="1" i="0" sz="1700" u="none" cap="none" strike="noStrike">
              <a:solidFill>
                <a:schemeClr val="dk1"/>
              </a:solidFill>
              <a:latin typeface="Calibri"/>
              <a:ea typeface="Calibri"/>
              <a:cs typeface="Calibri"/>
              <a:sym typeface="Calibri"/>
            </a:endParaRPr>
          </a:p>
        </p:txBody>
      </p:sp>
      <p:sp>
        <p:nvSpPr>
          <p:cNvPr id="301" name="Google Shape;301;g3a86323efb1_2_137"/>
          <p:cNvSpPr/>
          <p:nvPr/>
        </p:nvSpPr>
        <p:spPr>
          <a:xfrm>
            <a:off x="6096000" y="5478450"/>
            <a:ext cx="2560500" cy="922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2" name="Google Shape;302;g3a86323efb1_2_137"/>
          <p:cNvSpPr/>
          <p:nvPr/>
        </p:nvSpPr>
        <p:spPr>
          <a:xfrm>
            <a:off x="6096000" y="5531167"/>
            <a:ext cx="2560500" cy="494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5100"/>
              <a:buFont typeface="Calibri"/>
              <a:buNone/>
            </a:pPr>
            <a:r>
              <a:rPr b="1" i="0" lang="en-US" sz="5100" u="none" cap="none" strike="noStrike">
                <a:solidFill>
                  <a:srgbClr val="166534"/>
                </a:solidFill>
                <a:latin typeface="Calibri"/>
                <a:ea typeface="Calibri"/>
                <a:cs typeface="Calibri"/>
                <a:sym typeface="Calibri"/>
              </a:rPr>
              <a:t>370</a:t>
            </a:r>
            <a:endParaRPr b="0" i="0" sz="5100" u="none" cap="none" strike="noStrike">
              <a:solidFill>
                <a:schemeClr val="dk1"/>
              </a:solidFill>
              <a:latin typeface="Calibri"/>
              <a:ea typeface="Calibri"/>
              <a:cs typeface="Calibri"/>
              <a:sym typeface="Calibri"/>
            </a:endParaRPr>
          </a:p>
        </p:txBody>
      </p:sp>
      <p:sp>
        <p:nvSpPr>
          <p:cNvPr id="303" name="Google Shape;303;g3a86323efb1_2_137"/>
          <p:cNvSpPr/>
          <p:nvPr/>
        </p:nvSpPr>
        <p:spPr>
          <a:xfrm>
            <a:off x="6096000" y="6005621"/>
            <a:ext cx="2560500" cy="29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700" u="none" cap="none" strike="noStrike">
                <a:solidFill>
                  <a:srgbClr val="64748B"/>
                </a:solidFill>
                <a:latin typeface="Calibri"/>
                <a:ea typeface="Calibri"/>
                <a:cs typeface="Calibri"/>
                <a:sym typeface="Calibri"/>
              </a:rPr>
              <a:t>Heridos aleatorios (74%)</a:t>
            </a:r>
            <a:endParaRPr b="1" i="0" sz="1700" u="none" cap="none" strike="noStrike">
              <a:solidFill>
                <a:schemeClr val="dk1"/>
              </a:solidFill>
              <a:latin typeface="Calibri"/>
              <a:ea typeface="Calibri"/>
              <a:cs typeface="Calibri"/>
              <a:sym typeface="Calibri"/>
            </a:endParaRPr>
          </a:p>
        </p:txBody>
      </p:sp>
      <p:sp>
        <p:nvSpPr>
          <p:cNvPr id="304" name="Google Shape;304;g3a86323efb1_2_137"/>
          <p:cNvSpPr/>
          <p:nvPr/>
        </p:nvSpPr>
        <p:spPr>
          <a:xfrm>
            <a:off x="9021900" y="5478450"/>
            <a:ext cx="2560500" cy="922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5" name="Google Shape;305;g3a86323efb1_2_137"/>
          <p:cNvSpPr/>
          <p:nvPr/>
        </p:nvSpPr>
        <p:spPr>
          <a:xfrm>
            <a:off x="9021900" y="5531170"/>
            <a:ext cx="2560500" cy="49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5100"/>
              <a:buFont typeface="Calibri"/>
              <a:buNone/>
            </a:pPr>
            <a:r>
              <a:rPr b="1" i="0" lang="en-US" sz="5100" u="none" cap="none" strike="noStrike">
                <a:solidFill>
                  <a:srgbClr val="64748B"/>
                </a:solidFill>
                <a:latin typeface="Calibri"/>
                <a:ea typeface="Calibri"/>
                <a:cs typeface="Calibri"/>
                <a:sym typeface="Calibri"/>
              </a:rPr>
              <a:t>32</a:t>
            </a:r>
            <a:endParaRPr b="0" i="0" sz="5100" u="none" cap="none" strike="noStrike">
              <a:solidFill>
                <a:schemeClr val="dk1"/>
              </a:solidFill>
              <a:latin typeface="Calibri"/>
              <a:ea typeface="Calibri"/>
              <a:cs typeface="Calibri"/>
              <a:sym typeface="Calibri"/>
            </a:endParaRPr>
          </a:p>
        </p:txBody>
      </p:sp>
      <p:sp>
        <p:nvSpPr>
          <p:cNvPr id="306" name="Google Shape;306;g3a86323efb1_2_137"/>
          <p:cNvSpPr/>
          <p:nvPr/>
        </p:nvSpPr>
        <p:spPr>
          <a:xfrm>
            <a:off x="9021900" y="6005648"/>
            <a:ext cx="2560500" cy="29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800" u="none" cap="none" strike="noStrike">
                <a:solidFill>
                  <a:srgbClr val="64748B"/>
                </a:solidFill>
                <a:latin typeface="Calibri"/>
                <a:ea typeface="Calibri"/>
                <a:cs typeface="Calibri"/>
                <a:sym typeface="Calibri"/>
              </a:rPr>
              <a:t>Columnas originales</a:t>
            </a:r>
            <a:endParaRPr b="1" i="0" sz="1800" u="none" cap="none" strike="noStrike">
              <a:solidFill>
                <a:schemeClr val="dk1"/>
              </a:solidFill>
              <a:latin typeface="Calibri"/>
              <a:ea typeface="Calibri"/>
              <a:cs typeface="Calibri"/>
              <a:sym typeface="Calibri"/>
            </a:endParaRPr>
          </a:p>
        </p:txBody>
      </p:sp>
      <p:pic>
        <p:nvPicPr>
          <p:cNvPr id="307" name="Google Shape;307;g3a86323efb1_2_137"/>
          <p:cNvPicPr preferRelativeResize="0"/>
          <p:nvPr/>
        </p:nvPicPr>
        <p:blipFill rotWithShape="1">
          <a:blip r:embed="rId3">
            <a:alphaModFix/>
          </a:blip>
          <a:srcRect b="0" l="0" r="0" t="0"/>
          <a:stretch/>
        </p:blipFill>
        <p:spPr>
          <a:xfrm>
            <a:off x="487675" y="3754874"/>
            <a:ext cx="5486400" cy="2646000"/>
          </a:xfrm>
          <a:prstGeom prst="rect">
            <a:avLst/>
          </a:prstGeom>
          <a:noFill/>
          <a:ln>
            <a:noFill/>
          </a:ln>
        </p:spPr>
      </p:pic>
      <p:sp>
        <p:nvSpPr>
          <p:cNvPr id="308" name="Google Shape;308;g3a86323efb1_2_137"/>
          <p:cNvSpPr/>
          <p:nvPr/>
        </p:nvSpPr>
        <p:spPr>
          <a:xfrm>
            <a:off x="609600" y="1056850"/>
            <a:ext cx="9117300" cy="697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ALEATORIZACIÓN DEL MODELO Y AUMENTO DE PROPORCIÓN EN VARIABLE OBJETIVO</a:t>
            </a:r>
            <a:endParaRPr b="1" i="0" sz="2000" u="none" cap="none" strike="noStrike">
              <a:solidFill>
                <a:srgbClr val="000000"/>
              </a:solidFill>
            </a:endParaRPr>
          </a:p>
        </p:txBody>
      </p:sp>
      <p:sp>
        <p:nvSpPr>
          <p:cNvPr id="309" name="Google Shape;309;g3a86323efb1_2_137"/>
          <p:cNvSpPr/>
          <p:nvPr/>
        </p:nvSpPr>
        <p:spPr>
          <a:xfrm>
            <a:off x="487800" y="1858713"/>
            <a:ext cx="11094600" cy="15285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lang="en-US" sz="2052">
                <a:solidFill>
                  <a:srgbClr val="1E293B"/>
                </a:solidFill>
                <a:latin typeface="Calibri"/>
                <a:ea typeface="Calibri"/>
                <a:cs typeface="Calibri"/>
                <a:sym typeface="Calibri"/>
              </a:rPr>
              <a:t>Teniendo en cuenta que modelo Random Forest inicial logra denotar, por las condiciones de desbalance en variable objetivo, teniendo que aplicar un oversampling realmente agresivo (y los problemas con un hipotético SMOTE), se decide realizar una aleatorización del dataset, asegurando los 130 registros de ‘Muertos’, y eligiendo al azar 370 registros de ‘Heridos’ para conformar un dataset final de 500 registros, con 32 columnas.</a:t>
            </a:r>
            <a:endParaRPr b="0" i="0" sz="2052" u="none" cap="none" strike="noStrike">
              <a:solidFill>
                <a:srgbClr val="000000"/>
              </a:solidFill>
              <a:latin typeface="Calibri"/>
              <a:ea typeface="Calibri"/>
              <a:cs typeface="Calibri"/>
              <a:sym typeface="Calibri"/>
            </a:endParaRPr>
          </a:p>
        </p:txBody>
      </p:sp>
      <p:sp>
        <p:nvSpPr>
          <p:cNvPr id="310" name="Google Shape;310;g3a86323efb1_2_137"/>
          <p:cNvSpPr/>
          <p:nvPr/>
        </p:nvSpPr>
        <p:spPr>
          <a:xfrm>
            <a:off x="6096000" y="4941700"/>
            <a:ext cx="5486400" cy="4029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311" name="Google Shape;311;g3a86323efb1_2_137"/>
          <p:cNvSpPr/>
          <p:nvPr/>
        </p:nvSpPr>
        <p:spPr>
          <a:xfrm>
            <a:off x="6096000" y="4941700"/>
            <a:ext cx="5486400" cy="40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a:solidFill>
                  <a:srgbClr val="5EEAD4"/>
                </a:solidFill>
                <a:latin typeface="Courier New"/>
                <a:ea typeface="Courier New"/>
                <a:cs typeface="Courier New"/>
                <a:sym typeface="Courier New"/>
              </a:rPr>
              <a:t>Objetivo</a:t>
            </a:r>
            <a:r>
              <a:rPr lang="en-US">
                <a:solidFill>
                  <a:srgbClr val="5EEAD4"/>
                </a:solidFill>
                <a:latin typeface="Courier New"/>
                <a:ea typeface="Courier New"/>
                <a:cs typeface="Courier New"/>
                <a:sym typeface="Courier New"/>
              </a:rPr>
              <a:t>:Perspectiva de predicción de ‘Muertos’</a:t>
            </a:r>
            <a:endParaRPr b="0" i="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a866401fb7_1_51"/>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318" name="Google Shape;318;g3a866401fb7_1_51"/>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319" name="Google Shape;319;g3a866401fb7_1_51"/>
          <p:cNvSpPr txBox="1"/>
          <p:nvPr/>
        </p:nvSpPr>
        <p:spPr>
          <a:xfrm>
            <a:off x="837590" y="190195"/>
            <a:ext cx="50511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FFFFFF"/>
                </a:solidFill>
                <a:latin typeface="Montserrat"/>
                <a:ea typeface="Montserrat"/>
                <a:cs typeface="Montserrat"/>
                <a:sym typeface="Montserrat"/>
              </a:rPr>
              <a:t>Random Forest</a:t>
            </a:r>
            <a:endParaRPr/>
          </a:p>
        </p:txBody>
      </p:sp>
      <p:pic>
        <p:nvPicPr>
          <p:cNvPr descr="preencoded.png" id="320" name="Google Shape;320;g3a866401fb7_1_51"/>
          <p:cNvPicPr preferRelativeResize="0"/>
          <p:nvPr/>
        </p:nvPicPr>
        <p:blipFill rotWithShape="1">
          <a:blip r:embed="rId4">
            <a:alphaModFix/>
          </a:blip>
          <a:srcRect b="0" l="0" r="0" t="0"/>
          <a:stretch/>
        </p:blipFill>
        <p:spPr>
          <a:xfrm>
            <a:off x="381305" y="252374"/>
            <a:ext cx="267005" cy="267005"/>
          </a:xfrm>
          <a:prstGeom prst="rect">
            <a:avLst/>
          </a:prstGeom>
          <a:noFill/>
          <a:ln>
            <a:noFill/>
          </a:ln>
        </p:spPr>
      </p:pic>
      <p:sp>
        <p:nvSpPr>
          <p:cNvPr id="321" name="Google Shape;321;g3a866401fb7_1_51"/>
          <p:cNvSpPr/>
          <p:nvPr/>
        </p:nvSpPr>
        <p:spPr>
          <a:xfrm>
            <a:off x="381305" y="857707"/>
            <a:ext cx="11430000" cy="5201100"/>
          </a:xfrm>
          <a:prstGeom prst="roundRect">
            <a:avLst>
              <a:gd fmla="val 773"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2" name="Google Shape;322;g3a866401fb7_1_51"/>
          <p:cNvSpPr/>
          <p:nvPr/>
        </p:nvSpPr>
        <p:spPr>
          <a:xfrm>
            <a:off x="381305" y="6172200"/>
            <a:ext cx="11430000" cy="323700"/>
          </a:xfrm>
          <a:prstGeom prst="roundRect">
            <a:avLst>
              <a:gd fmla="val 132934" name="adj"/>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3" name="Google Shape;323;g3a866401fb7_1_51"/>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4" name="Google Shape;324;g3a866401fb7_1_51"/>
          <p:cNvSpPr/>
          <p:nvPr/>
        </p:nvSpPr>
        <p:spPr>
          <a:xfrm>
            <a:off x="512064" y="6058814"/>
            <a:ext cx="11210400" cy="52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1" lang="en-US" sz="1000" u="none" cap="none" strike="noStrike">
                <a:solidFill>
                  <a:srgbClr val="5EEAD4"/>
                </a:solidFill>
                <a:latin typeface="Arial"/>
                <a:ea typeface="Arial"/>
                <a:cs typeface="Arial"/>
                <a:sym typeface="Arial"/>
              </a:rPr>
              <a:t>A diferencia del dataset completo (9,326 registros con 1.4% Muertos), este subconjunto de 500 registros tiene mayor proporción de Muertos (26%), lo que favorece el aprendizaje del modelo.</a:t>
            </a:r>
            <a:endParaRPr b="0" i="0" sz="1000" u="none" cap="none" strike="noStrike">
              <a:solidFill>
                <a:srgbClr val="000000"/>
              </a:solidFill>
              <a:latin typeface="Arial"/>
              <a:ea typeface="Arial"/>
              <a:cs typeface="Arial"/>
              <a:sym typeface="Arial"/>
            </a:endParaRPr>
          </a:p>
        </p:txBody>
      </p:sp>
      <p:sp>
        <p:nvSpPr>
          <p:cNvPr id="325" name="Google Shape;325;g3a866401fb7_1_51"/>
          <p:cNvSpPr/>
          <p:nvPr/>
        </p:nvSpPr>
        <p:spPr>
          <a:xfrm>
            <a:off x="648310" y="1006754"/>
            <a:ext cx="55149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6" name="Google Shape;326;g3a866401fb7_1_51"/>
          <p:cNvSpPr/>
          <p:nvPr/>
        </p:nvSpPr>
        <p:spPr>
          <a:xfrm>
            <a:off x="6258627" y="1006754"/>
            <a:ext cx="53310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327" name="Google Shape;327;g3a866401fb7_1_51"/>
          <p:cNvPicPr preferRelativeResize="0"/>
          <p:nvPr/>
        </p:nvPicPr>
        <p:blipFill rotWithShape="1">
          <a:blip r:embed="rId5">
            <a:alphaModFix/>
          </a:blip>
          <a:srcRect b="0" l="0" r="0" t="0"/>
          <a:stretch/>
        </p:blipFill>
        <p:spPr>
          <a:xfrm>
            <a:off x="5888730" y="1044713"/>
            <a:ext cx="616756" cy="616756"/>
          </a:xfrm>
          <a:prstGeom prst="rect">
            <a:avLst/>
          </a:prstGeom>
          <a:noFill/>
          <a:ln>
            <a:noFill/>
          </a:ln>
        </p:spPr>
      </p:pic>
      <p:sp>
        <p:nvSpPr>
          <p:cNvPr id="328" name="Google Shape;328;g3a866401fb7_1_51"/>
          <p:cNvSpPr/>
          <p:nvPr/>
        </p:nvSpPr>
        <p:spPr>
          <a:xfrm>
            <a:off x="7127173" y="1351700"/>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LA SOLUCIÓN</a:t>
            </a:r>
            <a:endParaRPr b="1" i="0" sz="2000" u="none" cap="none" strike="noStrike">
              <a:solidFill>
                <a:srgbClr val="000000"/>
              </a:solidFill>
            </a:endParaRPr>
          </a:p>
        </p:txBody>
      </p:sp>
      <p:sp>
        <p:nvSpPr>
          <p:cNvPr id="329" name="Google Shape;329;g3a866401fb7_1_51"/>
          <p:cNvSpPr/>
          <p:nvPr/>
        </p:nvSpPr>
        <p:spPr>
          <a:xfrm>
            <a:off x="1341010" y="1351687"/>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EL PROBLEMA</a:t>
            </a:r>
            <a:endParaRPr b="1" i="0" sz="2000" u="none" cap="none" strike="noStrike">
              <a:solidFill>
                <a:srgbClr val="000000"/>
              </a:solidFill>
            </a:endParaRPr>
          </a:p>
        </p:txBody>
      </p:sp>
      <p:sp>
        <p:nvSpPr>
          <p:cNvPr id="330" name="Google Shape;330;g3a866401fb7_1_51"/>
          <p:cNvSpPr/>
          <p:nvPr/>
        </p:nvSpPr>
        <p:spPr>
          <a:xfrm>
            <a:off x="837600" y="2115500"/>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Los accidentes de tráfico generan dos tipos de resultados: Heridos (0) y Muertos (1).</a:t>
            </a:r>
            <a:endParaRPr b="0" i="0" sz="2052" u="none" cap="none" strike="noStrike">
              <a:solidFill>
                <a:srgbClr val="000000"/>
              </a:solidFill>
              <a:latin typeface="Calibri"/>
              <a:ea typeface="Calibri"/>
              <a:cs typeface="Calibri"/>
              <a:sym typeface="Calibri"/>
            </a:endParaRPr>
          </a:p>
        </p:txBody>
      </p:sp>
      <p:sp>
        <p:nvSpPr>
          <p:cNvPr id="331" name="Google Shape;331;g3a866401fb7_1_51"/>
          <p:cNvSpPr/>
          <p:nvPr/>
        </p:nvSpPr>
        <p:spPr>
          <a:xfrm>
            <a:off x="837600" y="3100946"/>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Identificar qué factores llevan a un desenlace fatal permite orientar políticas de prevención.</a:t>
            </a:r>
            <a:endParaRPr b="0" i="0" sz="2052" u="none" cap="none" strike="noStrike">
              <a:solidFill>
                <a:srgbClr val="000000"/>
              </a:solidFill>
              <a:latin typeface="Calibri"/>
              <a:ea typeface="Calibri"/>
              <a:cs typeface="Calibri"/>
              <a:sym typeface="Calibri"/>
            </a:endParaRPr>
          </a:p>
        </p:txBody>
      </p:sp>
      <p:sp>
        <p:nvSpPr>
          <p:cNvPr id="332" name="Google Shape;332;g3a866401fb7_1_51"/>
          <p:cNvSpPr/>
          <p:nvPr/>
        </p:nvSpPr>
        <p:spPr>
          <a:xfrm>
            <a:off x="837600" y="4147774"/>
            <a:ext cx="5124000" cy="13455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El dataset presenta un </a:t>
            </a:r>
            <a:r>
              <a:rPr lang="en-US" sz="2052">
                <a:solidFill>
                  <a:srgbClr val="1E293B"/>
                </a:solidFill>
                <a:latin typeface="Calibri"/>
                <a:ea typeface="Calibri"/>
                <a:cs typeface="Calibri"/>
                <a:sym typeface="Calibri"/>
              </a:rPr>
              <a:t>desbalance</a:t>
            </a:r>
            <a:r>
              <a:rPr b="0" i="0" lang="en-US" sz="2052" u="none" cap="none" strike="noStrike">
                <a:solidFill>
                  <a:srgbClr val="1E293B"/>
                </a:solidFill>
                <a:latin typeface="Calibri"/>
                <a:ea typeface="Calibri"/>
                <a:cs typeface="Calibri"/>
                <a:sym typeface="Calibri"/>
              </a:rPr>
              <a:t> </a:t>
            </a:r>
            <a:r>
              <a:rPr lang="en-US" sz="2052">
                <a:solidFill>
                  <a:srgbClr val="1E293B"/>
                </a:solidFill>
                <a:latin typeface="Calibri"/>
                <a:ea typeface="Calibri"/>
                <a:cs typeface="Calibri"/>
                <a:sym typeface="Calibri"/>
              </a:rPr>
              <a:t>moderado</a:t>
            </a:r>
            <a:r>
              <a:rPr b="0" i="0" lang="en-US" sz="2052" u="none" cap="none" strike="noStrike">
                <a:solidFill>
                  <a:srgbClr val="1E293B"/>
                </a:solidFill>
                <a:latin typeface="Calibri"/>
                <a:ea typeface="Calibri"/>
                <a:cs typeface="Calibri"/>
                <a:sym typeface="Calibri"/>
              </a:rPr>
              <a:t>: solo el 26% corresponde a Muertos. </a:t>
            </a:r>
            <a:r>
              <a:rPr lang="en-US" sz="2052">
                <a:solidFill>
                  <a:srgbClr val="1E293B"/>
                </a:solidFill>
                <a:latin typeface="Calibri"/>
                <a:ea typeface="Calibri"/>
                <a:cs typeface="Calibri"/>
                <a:sym typeface="Calibri"/>
              </a:rPr>
              <a:t>La razón dista mucho ahora de la original (70:1) y se tiene algo más sensato</a:t>
            </a:r>
            <a:endParaRPr b="0" i="0" sz="2052" u="none" cap="none" strike="noStrike">
              <a:solidFill>
                <a:srgbClr val="000000"/>
              </a:solidFill>
              <a:latin typeface="Calibri"/>
              <a:ea typeface="Calibri"/>
              <a:cs typeface="Calibri"/>
              <a:sym typeface="Calibri"/>
            </a:endParaRPr>
          </a:p>
        </p:txBody>
      </p:sp>
      <p:sp>
        <p:nvSpPr>
          <p:cNvPr id="333" name="Google Shape;333;g3a866401fb7_1_51"/>
          <p:cNvSpPr/>
          <p:nvPr/>
        </p:nvSpPr>
        <p:spPr>
          <a:xfrm>
            <a:off x="6466650" y="2095726"/>
            <a:ext cx="5260200" cy="8766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lang="en-US" sz="2096">
                <a:solidFill>
                  <a:srgbClr val="1E293B"/>
                </a:solidFill>
                <a:latin typeface="Calibri"/>
                <a:ea typeface="Calibri"/>
                <a:cs typeface="Calibri"/>
                <a:sym typeface="Calibri"/>
              </a:rPr>
              <a:t>Nodos de decisión binaria. </a:t>
            </a:r>
            <a:endParaRPr b="0" i="0" sz="2096" u="none" cap="none" strike="noStrike">
              <a:solidFill>
                <a:srgbClr val="000000"/>
              </a:solidFill>
              <a:latin typeface="Calibri"/>
              <a:ea typeface="Calibri"/>
              <a:cs typeface="Calibri"/>
              <a:sym typeface="Calibri"/>
            </a:endParaRPr>
          </a:p>
        </p:txBody>
      </p:sp>
      <p:sp>
        <p:nvSpPr>
          <p:cNvPr id="334" name="Google Shape;334;g3a866401fb7_1_51"/>
          <p:cNvSpPr/>
          <p:nvPr/>
        </p:nvSpPr>
        <p:spPr>
          <a:xfrm>
            <a:off x="6435025" y="3099538"/>
            <a:ext cx="4978200" cy="8766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b="0" i="0" lang="en-US" sz="2096" u="none" cap="none" strike="noStrike">
                <a:solidFill>
                  <a:srgbClr val="1E293B"/>
                </a:solidFill>
                <a:latin typeface="Calibri"/>
                <a:ea typeface="Calibri"/>
                <a:cs typeface="Calibri"/>
                <a:sym typeface="Calibri"/>
              </a:rPr>
              <a:t>Salida: Heridos = 0 / Muertos = 1, con umbral de clasificación optimizable.</a:t>
            </a:r>
            <a:endParaRPr b="0" i="0" sz="2096" u="none" cap="none" strike="noStrike">
              <a:solidFill>
                <a:srgbClr val="000000"/>
              </a:solidFill>
              <a:latin typeface="Calibri"/>
              <a:ea typeface="Calibri"/>
              <a:cs typeface="Calibri"/>
              <a:sym typeface="Calibri"/>
            </a:endParaRPr>
          </a:p>
        </p:txBody>
      </p:sp>
      <p:sp>
        <p:nvSpPr>
          <p:cNvPr id="335" name="Google Shape;335;g3a866401fb7_1_51"/>
          <p:cNvSpPr/>
          <p:nvPr/>
        </p:nvSpPr>
        <p:spPr>
          <a:xfrm>
            <a:off x="6480625" y="4147763"/>
            <a:ext cx="4887000" cy="11535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b="0" i="0" lang="en-US" sz="2096" u="none" cap="none" strike="noStrike">
                <a:solidFill>
                  <a:srgbClr val="1E293B"/>
                </a:solidFill>
                <a:latin typeface="Calibri"/>
                <a:ea typeface="Calibri"/>
                <a:cs typeface="Calibri"/>
                <a:sym typeface="Calibri"/>
              </a:rPr>
              <a:t>Permite priorizar el Recall de la clase Muertos</a:t>
            </a:r>
            <a:r>
              <a:rPr lang="en-US" sz="2096">
                <a:solidFill>
                  <a:srgbClr val="1E293B"/>
                </a:solidFill>
                <a:latin typeface="Calibri"/>
                <a:ea typeface="Calibri"/>
                <a:cs typeface="Calibri"/>
                <a:sym typeface="Calibri"/>
              </a:rPr>
              <a:t>, F1, y AUC-ROC, </a:t>
            </a:r>
            <a:r>
              <a:rPr b="0" i="0" lang="en-US" sz="2096" u="none" cap="none" strike="noStrike">
                <a:solidFill>
                  <a:srgbClr val="1E293B"/>
                </a:solidFill>
                <a:latin typeface="Calibri"/>
                <a:ea typeface="Calibri"/>
                <a:cs typeface="Calibri"/>
                <a:sym typeface="Calibri"/>
              </a:rPr>
              <a:t>minimizando falsos negativos.</a:t>
            </a:r>
            <a:endParaRPr b="0" i="0" sz="2096" u="none" cap="none" strike="noStrik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0" name="Shape 340"/>
        <p:cNvGrpSpPr/>
        <p:nvPr/>
      </p:nvGrpSpPr>
      <p:grpSpPr>
        <a:xfrm>
          <a:off x="0" y="0"/>
          <a:ext cx="0" cy="0"/>
          <a:chOff x="0" y="0"/>
          <a:chExt cx="0" cy="0"/>
        </a:xfrm>
      </p:grpSpPr>
      <p:sp>
        <p:nvSpPr>
          <p:cNvPr id="341" name="Google Shape;341;g3a86323efb1_2_50"/>
          <p:cNvSpPr/>
          <p:nvPr/>
        </p:nvSpPr>
        <p:spPr>
          <a:xfrm>
            <a:off x="0" y="0"/>
            <a:ext cx="12192000" cy="6981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2" name="Google Shape;342;g3a86323efb1_2_50"/>
          <p:cNvSpPr/>
          <p:nvPr/>
        </p:nvSpPr>
        <p:spPr>
          <a:xfrm>
            <a:off x="455825" y="78225"/>
            <a:ext cx="10972800" cy="548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Variables del Modelo</a:t>
            </a:r>
            <a:endParaRPr b="0" i="0" sz="3500" u="none" cap="none" strike="noStrike">
              <a:solidFill>
                <a:schemeClr val="dk1"/>
              </a:solidFill>
              <a:latin typeface="Calibri"/>
              <a:ea typeface="Calibri"/>
              <a:cs typeface="Calibri"/>
              <a:sym typeface="Calibri"/>
            </a:endParaRPr>
          </a:p>
        </p:txBody>
      </p:sp>
      <p:sp>
        <p:nvSpPr>
          <p:cNvPr id="343" name="Google Shape;343;g3a86323efb1_2_50"/>
          <p:cNvSpPr/>
          <p:nvPr/>
        </p:nvSpPr>
        <p:spPr>
          <a:xfrm>
            <a:off x="455825" y="698088"/>
            <a:ext cx="3901500" cy="4320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Variable</a:t>
            </a:r>
            <a:endParaRPr b="1" sz="1500">
              <a:solidFill>
                <a:schemeClr val="lt1"/>
              </a:solidFill>
              <a:latin typeface="Calibri"/>
              <a:ea typeface="Calibri"/>
              <a:cs typeface="Calibri"/>
              <a:sym typeface="Calibri"/>
            </a:endParaRPr>
          </a:p>
        </p:txBody>
      </p:sp>
      <p:sp>
        <p:nvSpPr>
          <p:cNvPr id="344" name="Google Shape;344;g3a86323efb1_2_50"/>
          <p:cNvSpPr/>
          <p:nvPr/>
        </p:nvSpPr>
        <p:spPr>
          <a:xfrm>
            <a:off x="516775" y="-422775"/>
            <a:ext cx="39015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Variable</a:t>
            </a:r>
            <a:endParaRPr b="0" i="0" sz="1500" u="none" cap="none" strike="noStrike">
              <a:solidFill>
                <a:schemeClr val="dk1"/>
              </a:solidFill>
              <a:latin typeface="Calibri"/>
              <a:ea typeface="Calibri"/>
              <a:cs typeface="Calibri"/>
              <a:sym typeface="Calibri"/>
            </a:endParaRPr>
          </a:p>
        </p:txBody>
      </p:sp>
      <p:sp>
        <p:nvSpPr>
          <p:cNvPr id="345" name="Google Shape;345;g3a86323efb1_2_50"/>
          <p:cNvSpPr/>
          <p:nvPr/>
        </p:nvSpPr>
        <p:spPr>
          <a:xfrm>
            <a:off x="4418234" y="698088"/>
            <a:ext cx="2072700" cy="4320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500">
                <a:solidFill>
                  <a:schemeClr val="lt1"/>
                </a:solidFill>
              </a:rPr>
              <a:t>Tipo</a:t>
            </a:r>
            <a:endParaRPr b="1" sz="1500">
              <a:solidFill>
                <a:schemeClr val="lt1"/>
              </a:solidFill>
            </a:endParaRPr>
          </a:p>
        </p:txBody>
      </p:sp>
      <p:sp>
        <p:nvSpPr>
          <p:cNvPr id="346" name="Google Shape;346;g3a86323efb1_2_50"/>
          <p:cNvSpPr/>
          <p:nvPr/>
        </p:nvSpPr>
        <p:spPr>
          <a:xfrm>
            <a:off x="4479189" y="-422775"/>
            <a:ext cx="20727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Tipo</a:t>
            </a:r>
            <a:endParaRPr b="0" i="0" sz="1500" u="none" cap="none" strike="noStrike">
              <a:solidFill>
                <a:schemeClr val="dk1"/>
              </a:solidFill>
              <a:latin typeface="Calibri"/>
              <a:ea typeface="Calibri"/>
              <a:cs typeface="Calibri"/>
              <a:sym typeface="Calibri"/>
            </a:endParaRPr>
          </a:p>
        </p:txBody>
      </p:sp>
      <p:sp>
        <p:nvSpPr>
          <p:cNvPr id="347" name="Google Shape;347;g3a86323efb1_2_50"/>
          <p:cNvSpPr/>
          <p:nvPr/>
        </p:nvSpPr>
        <p:spPr>
          <a:xfrm>
            <a:off x="6612797" y="-422775"/>
            <a:ext cx="24384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Valores / Rango</a:t>
            </a:r>
            <a:endParaRPr b="0" i="0" sz="1500" u="none" cap="none" strike="noStrike">
              <a:solidFill>
                <a:schemeClr val="dk1"/>
              </a:solidFill>
              <a:latin typeface="Calibri"/>
              <a:ea typeface="Calibri"/>
              <a:cs typeface="Calibri"/>
              <a:sym typeface="Calibri"/>
            </a:endParaRPr>
          </a:p>
        </p:txBody>
      </p:sp>
      <p:sp>
        <p:nvSpPr>
          <p:cNvPr id="348" name="Google Shape;348;g3a86323efb1_2_50"/>
          <p:cNvSpPr/>
          <p:nvPr/>
        </p:nvSpPr>
        <p:spPr>
          <a:xfrm>
            <a:off x="455825" y="1130249"/>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9" name="Google Shape;349;g3a86323efb1_2_50"/>
          <p:cNvSpPr/>
          <p:nvPr/>
        </p:nvSpPr>
        <p:spPr>
          <a:xfrm>
            <a:off x="541169" y="1130249"/>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Franja_Horaria</a:t>
            </a:r>
            <a:endParaRPr b="0" i="0" sz="1300" u="none" cap="none" strike="noStrike">
              <a:solidFill>
                <a:schemeClr val="dk1"/>
              </a:solidFill>
              <a:latin typeface="Calibri"/>
              <a:ea typeface="Calibri"/>
              <a:cs typeface="Calibri"/>
              <a:sym typeface="Calibri"/>
            </a:endParaRPr>
          </a:p>
        </p:txBody>
      </p:sp>
      <p:sp>
        <p:nvSpPr>
          <p:cNvPr id="350" name="Google Shape;350;g3a86323efb1_2_50"/>
          <p:cNvSpPr/>
          <p:nvPr/>
        </p:nvSpPr>
        <p:spPr>
          <a:xfrm>
            <a:off x="4418234" y="1130249"/>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1" name="Google Shape;351;g3a86323efb1_2_50"/>
          <p:cNvSpPr/>
          <p:nvPr/>
        </p:nvSpPr>
        <p:spPr>
          <a:xfrm>
            <a:off x="4503578" y="1130249"/>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52" name="Google Shape;352;g3a86323efb1_2_50"/>
          <p:cNvSpPr/>
          <p:nvPr/>
        </p:nvSpPr>
        <p:spPr>
          <a:xfrm>
            <a:off x="455825" y="1539665"/>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3" name="Google Shape;353;g3a86323efb1_2_50"/>
          <p:cNvSpPr/>
          <p:nvPr/>
        </p:nvSpPr>
        <p:spPr>
          <a:xfrm>
            <a:off x="541169" y="1539665"/>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Dia_Semana</a:t>
            </a:r>
            <a:endParaRPr b="0" i="0" sz="1300" u="none" cap="none" strike="noStrike">
              <a:solidFill>
                <a:schemeClr val="dk1"/>
              </a:solidFill>
              <a:latin typeface="Calibri"/>
              <a:ea typeface="Calibri"/>
              <a:cs typeface="Calibri"/>
              <a:sym typeface="Calibri"/>
            </a:endParaRPr>
          </a:p>
        </p:txBody>
      </p:sp>
      <p:sp>
        <p:nvSpPr>
          <p:cNvPr id="354" name="Google Shape;354;g3a86323efb1_2_50"/>
          <p:cNvSpPr/>
          <p:nvPr/>
        </p:nvSpPr>
        <p:spPr>
          <a:xfrm>
            <a:off x="4418234" y="1539665"/>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5" name="Google Shape;355;g3a86323efb1_2_50"/>
          <p:cNvSpPr/>
          <p:nvPr/>
        </p:nvSpPr>
        <p:spPr>
          <a:xfrm>
            <a:off x="4503578" y="1539665"/>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56" name="Google Shape;356;g3a86323efb1_2_50"/>
          <p:cNvSpPr/>
          <p:nvPr/>
        </p:nvSpPr>
        <p:spPr>
          <a:xfrm>
            <a:off x="455825" y="1949082"/>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g3a86323efb1_2_50"/>
          <p:cNvSpPr/>
          <p:nvPr/>
        </p:nvSpPr>
        <p:spPr>
          <a:xfrm>
            <a:off x="541169" y="1949082"/>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Hora_num</a:t>
            </a:r>
            <a:endParaRPr b="0" i="0" sz="1300" u="none" cap="none" strike="noStrike">
              <a:solidFill>
                <a:schemeClr val="dk1"/>
              </a:solidFill>
              <a:latin typeface="Calibri"/>
              <a:ea typeface="Calibri"/>
              <a:cs typeface="Calibri"/>
              <a:sym typeface="Calibri"/>
            </a:endParaRPr>
          </a:p>
        </p:txBody>
      </p:sp>
      <p:sp>
        <p:nvSpPr>
          <p:cNvPr id="358" name="Google Shape;358;g3a86323efb1_2_50"/>
          <p:cNvSpPr/>
          <p:nvPr/>
        </p:nvSpPr>
        <p:spPr>
          <a:xfrm>
            <a:off x="4418234" y="1949082"/>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g3a86323efb1_2_50"/>
          <p:cNvSpPr/>
          <p:nvPr/>
        </p:nvSpPr>
        <p:spPr>
          <a:xfrm>
            <a:off x="4503578" y="1949082"/>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360" name="Google Shape;360;g3a86323efb1_2_50"/>
          <p:cNvSpPr/>
          <p:nvPr/>
        </p:nvSpPr>
        <p:spPr>
          <a:xfrm>
            <a:off x="455825" y="2358498"/>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1" name="Google Shape;361;g3a86323efb1_2_50"/>
          <p:cNvSpPr/>
          <p:nvPr/>
        </p:nvSpPr>
        <p:spPr>
          <a:xfrm>
            <a:off x="541169" y="2358498"/>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Clase_Accidente</a:t>
            </a:r>
            <a:endParaRPr b="0" i="0" sz="1300" u="none" cap="none" strike="noStrike">
              <a:solidFill>
                <a:schemeClr val="dk1"/>
              </a:solidFill>
              <a:latin typeface="Calibri"/>
              <a:ea typeface="Calibri"/>
              <a:cs typeface="Calibri"/>
              <a:sym typeface="Calibri"/>
            </a:endParaRPr>
          </a:p>
        </p:txBody>
      </p:sp>
      <p:sp>
        <p:nvSpPr>
          <p:cNvPr id="362" name="Google Shape;362;g3a86323efb1_2_50"/>
          <p:cNvSpPr/>
          <p:nvPr/>
        </p:nvSpPr>
        <p:spPr>
          <a:xfrm>
            <a:off x="4418234" y="2358498"/>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3" name="Google Shape;363;g3a86323efb1_2_50"/>
          <p:cNvSpPr/>
          <p:nvPr/>
        </p:nvSpPr>
        <p:spPr>
          <a:xfrm>
            <a:off x="4503578" y="2358498"/>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64" name="Google Shape;364;g3a86323efb1_2_50"/>
          <p:cNvSpPr/>
          <p:nvPr/>
        </p:nvSpPr>
        <p:spPr>
          <a:xfrm>
            <a:off x="455825" y="2767914"/>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g3a86323efb1_2_50"/>
          <p:cNvSpPr/>
          <p:nvPr/>
        </p:nvSpPr>
        <p:spPr>
          <a:xfrm>
            <a:off x="541169" y="2767914"/>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Clas</a:t>
            </a:r>
            <a:r>
              <a:rPr lang="en-US" sz="1300">
                <a:solidFill>
                  <a:srgbClr val="1E293B"/>
                </a:solidFill>
                <a:latin typeface="Calibri"/>
                <a:ea typeface="Calibri"/>
                <a:cs typeface="Calibri"/>
                <a:sym typeface="Calibri"/>
              </a:rPr>
              <a:t>e_Vehiculo</a:t>
            </a:r>
            <a:endParaRPr b="0" i="0" sz="1300" u="none" cap="none" strike="noStrike">
              <a:solidFill>
                <a:schemeClr val="dk1"/>
              </a:solidFill>
              <a:latin typeface="Calibri"/>
              <a:ea typeface="Calibri"/>
              <a:cs typeface="Calibri"/>
              <a:sym typeface="Calibri"/>
            </a:endParaRPr>
          </a:p>
        </p:txBody>
      </p:sp>
      <p:sp>
        <p:nvSpPr>
          <p:cNvPr id="366" name="Google Shape;366;g3a86323efb1_2_50"/>
          <p:cNvSpPr/>
          <p:nvPr/>
        </p:nvSpPr>
        <p:spPr>
          <a:xfrm>
            <a:off x="4418234" y="2767914"/>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7" name="Google Shape;367;g3a86323efb1_2_50"/>
          <p:cNvSpPr/>
          <p:nvPr/>
        </p:nvSpPr>
        <p:spPr>
          <a:xfrm>
            <a:off x="4503578" y="2767914"/>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68" name="Google Shape;368;g3a86323efb1_2_50"/>
          <p:cNvSpPr/>
          <p:nvPr/>
        </p:nvSpPr>
        <p:spPr>
          <a:xfrm>
            <a:off x="455825" y="3177331"/>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9" name="Google Shape;369;g3a86323efb1_2_50"/>
          <p:cNvSpPr/>
          <p:nvPr/>
        </p:nvSpPr>
        <p:spPr>
          <a:xfrm>
            <a:off x="541169" y="3177331"/>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Tipo_</a:t>
            </a:r>
            <a:r>
              <a:rPr lang="en-US" sz="1300">
                <a:solidFill>
                  <a:srgbClr val="1E293B"/>
                </a:solidFill>
                <a:latin typeface="Calibri"/>
                <a:ea typeface="Calibri"/>
                <a:cs typeface="Calibri"/>
                <a:sym typeface="Calibri"/>
              </a:rPr>
              <a:t>Victima</a:t>
            </a:r>
            <a:endParaRPr b="0" i="0" sz="1300" u="none" cap="none" strike="noStrike">
              <a:solidFill>
                <a:schemeClr val="dk1"/>
              </a:solidFill>
              <a:latin typeface="Calibri"/>
              <a:ea typeface="Calibri"/>
              <a:cs typeface="Calibri"/>
              <a:sym typeface="Calibri"/>
            </a:endParaRPr>
          </a:p>
        </p:txBody>
      </p:sp>
      <p:sp>
        <p:nvSpPr>
          <p:cNvPr id="370" name="Google Shape;370;g3a86323efb1_2_50"/>
          <p:cNvSpPr/>
          <p:nvPr/>
        </p:nvSpPr>
        <p:spPr>
          <a:xfrm>
            <a:off x="4418234" y="3177331"/>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1" name="Google Shape;371;g3a86323efb1_2_50"/>
          <p:cNvSpPr/>
          <p:nvPr/>
        </p:nvSpPr>
        <p:spPr>
          <a:xfrm>
            <a:off x="4503578" y="3177331"/>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72" name="Google Shape;372;g3a86323efb1_2_50"/>
          <p:cNvSpPr/>
          <p:nvPr/>
        </p:nvSpPr>
        <p:spPr>
          <a:xfrm>
            <a:off x="455825" y="3586747"/>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3" name="Google Shape;373;g3a86323efb1_2_50"/>
          <p:cNvSpPr/>
          <p:nvPr/>
        </p:nvSpPr>
        <p:spPr>
          <a:xfrm>
            <a:off x="541169" y="3586747"/>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Sector_Accidente</a:t>
            </a:r>
            <a:endParaRPr b="0" i="0" sz="1300" u="none" cap="none" strike="noStrike">
              <a:solidFill>
                <a:schemeClr val="dk1"/>
              </a:solidFill>
              <a:latin typeface="Calibri"/>
              <a:ea typeface="Calibri"/>
              <a:cs typeface="Calibri"/>
              <a:sym typeface="Calibri"/>
            </a:endParaRPr>
          </a:p>
        </p:txBody>
      </p:sp>
      <p:sp>
        <p:nvSpPr>
          <p:cNvPr id="374" name="Google Shape;374;g3a86323efb1_2_50"/>
          <p:cNvSpPr/>
          <p:nvPr/>
        </p:nvSpPr>
        <p:spPr>
          <a:xfrm>
            <a:off x="4418234" y="3586747"/>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g3a86323efb1_2_50"/>
          <p:cNvSpPr/>
          <p:nvPr/>
        </p:nvSpPr>
        <p:spPr>
          <a:xfrm>
            <a:off x="4503578" y="3586747"/>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76" name="Google Shape;376;g3a86323efb1_2_50"/>
          <p:cNvSpPr/>
          <p:nvPr/>
        </p:nvSpPr>
        <p:spPr>
          <a:xfrm>
            <a:off x="455825" y="3996163"/>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7" name="Google Shape;377;g3a86323efb1_2_50"/>
          <p:cNvSpPr/>
          <p:nvPr/>
        </p:nvSpPr>
        <p:spPr>
          <a:xfrm>
            <a:off x="541169" y="3996163"/>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Localidad_Comuna</a:t>
            </a:r>
            <a:endParaRPr b="0" i="0" sz="1300" u="none" cap="none" strike="noStrike">
              <a:solidFill>
                <a:schemeClr val="dk1"/>
              </a:solidFill>
              <a:latin typeface="Calibri"/>
              <a:ea typeface="Calibri"/>
              <a:cs typeface="Calibri"/>
              <a:sym typeface="Calibri"/>
            </a:endParaRPr>
          </a:p>
        </p:txBody>
      </p:sp>
      <p:sp>
        <p:nvSpPr>
          <p:cNvPr id="378" name="Google Shape;378;g3a86323efb1_2_50"/>
          <p:cNvSpPr/>
          <p:nvPr/>
        </p:nvSpPr>
        <p:spPr>
          <a:xfrm>
            <a:off x="4418234" y="3996163"/>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g3a86323efb1_2_50"/>
          <p:cNvSpPr/>
          <p:nvPr/>
        </p:nvSpPr>
        <p:spPr>
          <a:xfrm>
            <a:off x="4503578" y="3996163"/>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80" name="Google Shape;380;g3a86323efb1_2_50"/>
          <p:cNvSpPr/>
          <p:nvPr/>
        </p:nvSpPr>
        <p:spPr>
          <a:xfrm>
            <a:off x="455825" y="4405580"/>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1" name="Google Shape;381;g3a86323efb1_2_50"/>
          <p:cNvSpPr/>
          <p:nvPr/>
        </p:nvSpPr>
        <p:spPr>
          <a:xfrm>
            <a:off x="541169" y="4405580"/>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Genero</a:t>
            </a:r>
            <a:endParaRPr b="0" i="0" sz="1300" u="none" cap="none" strike="noStrike">
              <a:solidFill>
                <a:schemeClr val="dk1"/>
              </a:solidFill>
              <a:latin typeface="Calibri"/>
              <a:ea typeface="Calibri"/>
              <a:cs typeface="Calibri"/>
              <a:sym typeface="Calibri"/>
            </a:endParaRPr>
          </a:p>
        </p:txBody>
      </p:sp>
      <p:sp>
        <p:nvSpPr>
          <p:cNvPr id="382" name="Google Shape;382;g3a86323efb1_2_50"/>
          <p:cNvSpPr/>
          <p:nvPr/>
        </p:nvSpPr>
        <p:spPr>
          <a:xfrm>
            <a:off x="4418234" y="4405580"/>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3" name="Google Shape;383;g3a86323efb1_2_50"/>
          <p:cNvSpPr/>
          <p:nvPr/>
        </p:nvSpPr>
        <p:spPr>
          <a:xfrm>
            <a:off x="4503578" y="4405580"/>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84" name="Google Shape;384;g3a86323efb1_2_50"/>
          <p:cNvSpPr/>
          <p:nvPr/>
        </p:nvSpPr>
        <p:spPr>
          <a:xfrm>
            <a:off x="455825" y="481499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g3a86323efb1_2_50"/>
          <p:cNvSpPr/>
          <p:nvPr/>
        </p:nvSpPr>
        <p:spPr>
          <a:xfrm>
            <a:off x="541169" y="481499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Edad</a:t>
            </a:r>
            <a:endParaRPr b="0" i="0" sz="1300" u="none" cap="none" strike="noStrike">
              <a:solidFill>
                <a:schemeClr val="dk1"/>
              </a:solidFill>
              <a:latin typeface="Calibri"/>
              <a:ea typeface="Calibri"/>
              <a:cs typeface="Calibri"/>
              <a:sym typeface="Calibri"/>
            </a:endParaRPr>
          </a:p>
        </p:txBody>
      </p:sp>
      <p:sp>
        <p:nvSpPr>
          <p:cNvPr id="386" name="Google Shape;386;g3a86323efb1_2_50"/>
          <p:cNvSpPr/>
          <p:nvPr/>
        </p:nvSpPr>
        <p:spPr>
          <a:xfrm>
            <a:off x="4418234" y="481499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7" name="Google Shape;387;g3a86323efb1_2_50"/>
          <p:cNvSpPr/>
          <p:nvPr/>
        </p:nvSpPr>
        <p:spPr>
          <a:xfrm>
            <a:off x="4503578" y="481499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388" name="Google Shape;388;g3a86323efb1_2_50"/>
          <p:cNvSpPr/>
          <p:nvPr/>
        </p:nvSpPr>
        <p:spPr>
          <a:xfrm>
            <a:off x="455825" y="5224412"/>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9" name="Google Shape;389;g3a86323efb1_2_50"/>
          <p:cNvSpPr/>
          <p:nvPr/>
        </p:nvSpPr>
        <p:spPr>
          <a:xfrm>
            <a:off x="541159" y="6159291"/>
            <a:ext cx="3779700" cy="595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Estado_Embriaguez</a:t>
            </a:r>
            <a:endParaRPr b="0" i="0" sz="1300" u="none" cap="none" strike="noStrike">
              <a:solidFill>
                <a:schemeClr val="dk1"/>
              </a:solidFill>
              <a:latin typeface="Calibri"/>
              <a:ea typeface="Calibri"/>
              <a:cs typeface="Calibri"/>
              <a:sym typeface="Calibri"/>
            </a:endParaRPr>
          </a:p>
        </p:txBody>
      </p:sp>
      <p:sp>
        <p:nvSpPr>
          <p:cNvPr id="390" name="Google Shape;390;g3a86323efb1_2_50"/>
          <p:cNvSpPr/>
          <p:nvPr/>
        </p:nvSpPr>
        <p:spPr>
          <a:xfrm>
            <a:off x="4418234" y="5224412"/>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1" name="Google Shape;391;g3a86323efb1_2_50"/>
          <p:cNvSpPr/>
          <p:nvPr/>
        </p:nvSpPr>
        <p:spPr>
          <a:xfrm>
            <a:off x="4503578" y="5224412"/>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392" name="Google Shape;392;g3a86323efb1_2_50"/>
          <p:cNvSpPr/>
          <p:nvPr/>
        </p:nvSpPr>
        <p:spPr>
          <a:xfrm>
            <a:off x="9308175" y="1584949"/>
            <a:ext cx="2499300" cy="50028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3" name="Google Shape;393;g3a86323efb1_2_50"/>
          <p:cNvSpPr/>
          <p:nvPr/>
        </p:nvSpPr>
        <p:spPr>
          <a:xfrm>
            <a:off x="9308174" y="1584960"/>
            <a:ext cx="2499300" cy="4632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4" name="Google Shape;394;g3a86323efb1_2_50"/>
          <p:cNvSpPr/>
          <p:nvPr/>
        </p:nvSpPr>
        <p:spPr>
          <a:xfrm>
            <a:off x="9285238" y="1584960"/>
            <a:ext cx="2499300" cy="46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Calibri"/>
              <a:buNone/>
            </a:pPr>
            <a:r>
              <a:rPr b="1" i="0" lang="en-US" sz="2200" u="none" cap="none" strike="noStrike">
                <a:solidFill>
                  <a:srgbClr val="FFFFFF"/>
                </a:solidFill>
                <a:latin typeface="Calibri"/>
                <a:ea typeface="Calibri"/>
                <a:cs typeface="Calibri"/>
                <a:sym typeface="Calibri"/>
              </a:rPr>
              <a:t>OBJETIVO</a:t>
            </a:r>
            <a:endParaRPr b="0" i="0" sz="2200" u="none" cap="none" strike="noStrike">
              <a:solidFill>
                <a:schemeClr val="dk1"/>
              </a:solidFill>
              <a:latin typeface="Calibri"/>
              <a:ea typeface="Calibri"/>
              <a:cs typeface="Calibri"/>
              <a:sym typeface="Calibri"/>
            </a:endParaRPr>
          </a:p>
        </p:txBody>
      </p:sp>
      <p:sp>
        <p:nvSpPr>
          <p:cNvPr id="395" name="Google Shape;395;g3a86323efb1_2_50"/>
          <p:cNvSpPr/>
          <p:nvPr/>
        </p:nvSpPr>
        <p:spPr>
          <a:xfrm>
            <a:off x="9399684" y="2102007"/>
            <a:ext cx="23163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2100"/>
              <a:buFont typeface="Calibri"/>
              <a:buNone/>
            </a:pPr>
            <a:r>
              <a:rPr b="1" i="0" lang="en-US" sz="2300" u="none" cap="none" strike="noStrike">
                <a:solidFill>
                  <a:srgbClr val="990011"/>
                </a:solidFill>
                <a:latin typeface="Calibri"/>
                <a:ea typeface="Calibri"/>
                <a:cs typeface="Calibri"/>
                <a:sym typeface="Calibri"/>
              </a:rPr>
              <a:t>Gravedad</a:t>
            </a:r>
            <a:endParaRPr b="0" i="0" sz="2300" u="none" cap="none" strike="noStrike">
              <a:solidFill>
                <a:schemeClr val="dk1"/>
              </a:solidFill>
              <a:latin typeface="Calibri"/>
              <a:ea typeface="Calibri"/>
              <a:cs typeface="Calibri"/>
              <a:sym typeface="Calibri"/>
            </a:endParaRPr>
          </a:p>
        </p:txBody>
      </p:sp>
      <p:sp>
        <p:nvSpPr>
          <p:cNvPr id="396" name="Google Shape;396;g3a86323efb1_2_50"/>
          <p:cNvSpPr/>
          <p:nvPr/>
        </p:nvSpPr>
        <p:spPr>
          <a:xfrm>
            <a:off x="9399684" y="2650695"/>
            <a:ext cx="2316300" cy="79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700"/>
              <a:buFont typeface="Calibri"/>
              <a:buNone/>
            </a:pPr>
            <a:r>
              <a:rPr b="0" i="0" lang="en-US" sz="2200" u="none" cap="none" strike="noStrike">
                <a:solidFill>
                  <a:srgbClr val="1C2951"/>
                </a:solidFill>
                <a:latin typeface="Calibri"/>
                <a:ea typeface="Calibri"/>
                <a:cs typeface="Calibri"/>
                <a:sym typeface="Calibri"/>
              </a:rPr>
              <a:t>Heridos = 0</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700"/>
              <a:buFont typeface="Calibri"/>
              <a:buNone/>
            </a:pPr>
            <a:r>
              <a:rPr b="0" i="0" lang="en-US" sz="2200" u="none" cap="none" strike="noStrike">
                <a:solidFill>
                  <a:srgbClr val="1C2951"/>
                </a:solidFill>
                <a:latin typeface="Calibri"/>
                <a:ea typeface="Calibri"/>
                <a:cs typeface="Calibri"/>
                <a:sym typeface="Calibri"/>
              </a:rPr>
              <a:t>Muertos = 1</a:t>
            </a:r>
            <a:endParaRPr b="0" i="0" sz="2200" u="none" cap="none" strike="noStrike">
              <a:solidFill>
                <a:schemeClr val="dk1"/>
              </a:solidFill>
              <a:latin typeface="Calibri"/>
              <a:ea typeface="Calibri"/>
              <a:cs typeface="Calibri"/>
              <a:sym typeface="Calibri"/>
            </a:endParaRPr>
          </a:p>
        </p:txBody>
      </p:sp>
      <p:sp>
        <p:nvSpPr>
          <p:cNvPr id="397" name="Google Shape;397;g3a86323efb1_2_50"/>
          <p:cNvSpPr/>
          <p:nvPr/>
        </p:nvSpPr>
        <p:spPr>
          <a:xfrm>
            <a:off x="9369150" y="3440475"/>
            <a:ext cx="2316300" cy="301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lang="en-US" sz="1900">
                <a:solidFill>
                  <a:srgbClr val="64748B"/>
                </a:solidFill>
                <a:latin typeface="Calibri"/>
                <a:ea typeface="Calibri"/>
                <a:cs typeface="Calibri"/>
                <a:sym typeface="Calibri"/>
              </a:rPr>
              <a:t>Dada la estrategia aumento de proporción de muertos de dataset de 500 registros, realizado para la selección del dataset, no es necesaria una técnica de balanceo.</a:t>
            </a:r>
            <a:endParaRPr b="0" i="0" sz="1900" u="none" cap="none" strike="noStrike">
              <a:solidFill>
                <a:schemeClr val="dk1"/>
              </a:solidFill>
              <a:latin typeface="Calibri"/>
              <a:ea typeface="Calibri"/>
              <a:cs typeface="Calibri"/>
              <a:sym typeface="Calibri"/>
            </a:endParaRPr>
          </a:p>
        </p:txBody>
      </p:sp>
      <p:grpSp>
        <p:nvGrpSpPr>
          <p:cNvPr id="398" name="Google Shape;398;g3a86323efb1_2_50"/>
          <p:cNvGrpSpPr/>
          <p:nvPr/>
        </p:nvGrpSpPr>
        <p:grpSpPr>
          <a:xfrm>
            <a:off x="9420700" y="147975"/>
            <a:ext cx="2557800" cy="409200"/>
            <a:chOff x="609600" y="304800"/>
            <a:chExt cx="2557800" cy="409200"/>
          </a:xfrm>
        </p:grpSpPr>
        <p:sp>
          <p:nvSpPr>
            <p:cNvPr id="399" name="Google Shape;399;g3a86323efb1_2_50"/>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400" name="Google Shape;400;g3a86323efb1_2_50"/>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Random Forest</a:t>
              </a:r>
              <a:endParaRPr b="1" i="0" sz="2259" u="none" cap="none" strike="noStrike">
                <a:solidFill>
                  <a:schemeClr val="dk1"/>
                </a:solidFill>
                <a:latin typeface="Calibri"/>
                <a:ea typeface="Calibri"/>
                <a:cs typeface="Calibri"/>
                <a:sym typeface="Calibri"/>
              </a:endParaRPr>
            </a:p>
          </p:txBody>
        </p:sp>
      </p:grpSp>
      <p:sp>
        <p:nvSpPr>
          <p:cNvPr id="401" name="Google Shape;401;g3a86323efb1_2_50"/>
          <p:cNvSpPr/>
          <p:nvPr/>
        </p:nvSpPr>
        <p:spPr>
          <a:xfrm>
            <a:off x="455825" y="5633830"/>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2" name="Google Shape;402;g3a86323efb1_2_50"/>
          <p:cNvSpPr/>
          <p:nvPr/>
        </p:nvSpPr>
        <p:spPr>
          <a:xfrm>
            <a:off x="541169" y="5633830"/>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Causa_Accidente</a:t>
            </a:r>
            <a:endParaRPr b="0" i="0" sz="1300" u="none" cap="none" strike="noStrike">
              <a:solidFill>
                <a:schemeClr val="dk1"/>
              </a:solidFill>
              <a:latin typeface="Calibri"/>
              <a:ea typeface="Calibri"/>
              <a:cs typeface="Calibri"/>
              <a:sym typeface="Calibri"/>
            </a:endParaRPr>
          </a:p>
        </p:txBody>
      </p:sp>
      <p:sp>
        <p:nvSpPr>
          <p:cNvPr id="403" name="Google Shape;403;g3a86323efb1_2_50"/>
          <p:cNvSpPr/>
          <p:nvPr/>
        </p:nvSpPr>
        <p:spPr>
          <a:xfrm>
            <a:off x="4418234" y="5633830"/>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4" name="Google Shape;404;g3a86323efb1_2_50"/>
          <p:cNvSpPr/>
          <p:nvPr/>
        </p:nvSpPr>
        <p:spPr>
          <a:xfrm>
            <a:off x="4503578" y="5633830"/>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405" name="Google Shape;405;g3a86323efb1_2_50"/>
          <p:cNvSpPr/>
          <p:nvPr/>
        </p:nvSpPr>
        <p:spPr>
          <a:xfrm>
            <a:off x="455825" y="604324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6" name="Google Shape;406;g3a86323efb1_2_50"/>
          <p:cNvSpPr/>
          <p:nvPr/>
        </p:nvSpPr>
        <p:spPr>
          <a:xfrm>
            <a:off x="541169" y="604324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Condicion_Climatica</a:t>
            </a:r>
            <a:endParaRPr b="0" i="0" sz="1300" u="none" cap="none" strike="noStrike">
              <a:solidFill>
                <a:schemeClr val="dk1"/>
              </a:solidFill>
              <a:latin typeface="Calibri"/>
              <a:ea typeface="Calibri"/>
              <a:cs typeface="Calibri"/>
              <a:sym typeface="Calibri"/>
            </a:endParaRPr>
          </a:p>
        </p:txBody>
      </p:sp>
      <p:sp>
        <p:nvSpPr>
          <p:cNvPr id="407" name="Google Shape;407;g3a86323efb1_2_50"/>
          <p:cNvSpPr/>
          <p:nvPr/>
        </p:nvSpPr>
        <p:spPr>
          <a:xfrm>
            <a:off x="4418234" y="604324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8" name="Google Shape;408;g3a86323efb1_2_50"/>
          <p:cNvSpPr/>
          <p:nvPr/>
        </p:nvSpPr>
        <p:spPr>
          <a:xfrm>
            <a:off x="4503578" y="604324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409" name="Google Shape;409;g3a86323efb1_2_50"/>
          <p:cNvSpPr/>
          <p:nvPr/>
        </p:nvSpPr>
        <p:spPr>
          <a:xfrm>
            <a:off x="455825" y="645264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0" name="Google Shape;410;g3a86323efb1_2_50"/>
          <p:cNvSpPr/>
          <p:nvPr/>
        </p:nvSpPr>
        <p:spPr>
          <a:xfrm>
            <a:off x="541169" y="645264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Tipo_Servicio</a:t>
            </a:r>
            <a:endParaRPr b="0" i="0" sz="1300" u="none" cap="none" strike="noStrike">
              <a:solidFill>
                <a:schemeClr val="dk1"/>
              </a:solidFill>
              <a:latin typeface="Calibri"/>
              <a:ea typeface="Calibri"/>
              <a:cs typeface="Calibri"/>
              <a:sym typeface="Calibri"/>
            </a:endParaRPr>
          </a:p>
        </p:txBody>
      </p:sp>
      <p:sp>
        <p:nvSpPr>
          <p:cNvPr id="411" name="Google Shape;411;g3a86323efb1_2_50"/>
          <p:cNvSpPr/>
          <p:nvPr/>
        </p:nvSpPr>
        <p:spPr>
          <a:xfrm>
            <a:off x="4418234" y="645264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2" name="Google Shape;412;g3a86323efb1_2_50"/>
          <p:cNvSpPr/>
          <p:nvPr/>
        </p:nvSpPr>
        <p:spPr>
          <a:xfrm>
            <a:off x="4503578" y="645264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413" name="Google Shape;413;g3a86323efb1_2_50"/>
          <p:cNvSpPr/>
          <p:nvPr/>
        </p:nvSpPr>
        <p:spPr>
          <a:xfrm>
            <a:off x="571775" y="5224500"/>
            <a:ext cx="3901500" cy="392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Edad_Nivel</a:t>
            </a:r>
            <a:endParaRPr b="0" i="0" sz="1300" u="none" cap="none" strike="noStrike">
              <a:solidFill>
                <a:schemeClr val="dk1"/>
              </a:solidFill>
              <a:latin typeface="Calibri"/>
              <a:ea typeface="Calibri"/>
              <a:cs typeface="Calibri"/>
              <a:sym typeface="Calibri"/>
            </a:endParaRPr>
          </a:p>
        </p:txBody>
      </p:sp>
      <p:sp>
        <p:nvSpPr>
          <p:cNvPr id="414" name="Google Shape;414;g3a86323efb1_2_50"/>
          <p:cNvSpPr/>
          <p:nvPr/>
        </p:nvSpPr>
        <p:spPr>
          <a:xfrm>
            <a:off x="6766550" y="2645275"/>
            <a:ext cx="2210100" cy="2837400"/>
          </a:xfrm>
          <a:prstGeom prst="rect">
            <a:avLst/>
          </a:prstGeom>
          <a:solidFill>
            <a:srgbClr val="FEF3C7"/>
          </a:solidFill>
          <a:ln cap="flat" cmpd="sng" w="1015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415" name="Google Shape;415;g3a86323efb1_2_50"/>
          <p:cNvSpPr/>
          <p:nvPr/>
        </p:nvSpPr>
        <p:spPr>
          <a:xfrm>
            <a:off x="6808484" y="2358575"/>
            <a:ext cx="2035200" cy="351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33" u="none" cap="none" strike="noStrike">
                <a:solidFill>
                  <a:srgbClr val="7A5200"/>
                </a:solidFill>
                <a:latin typeface="Arial"/>
                <a:ea typeface="Arial"/>
                <a:cs typeface="Arial"/>
                <a:sym typeface="Arial"/>
              </a:rPr>
              <a:t>⚠ </a:t>
            </a:r>
            <a:r>
              <a:rPr lang="en-US" sz="1433">
                <a:solidFill>
                  <a:srgbClr val="7A5200"/>
                </a:solidFill>
              </a:rPr>
              <a:t>Se establece una selección de 14 variables, donde los parámetros de homogeneidad de la data, y eliminación de correlaciones entre variables consecutivas determinar el carácter aleatorio.</a:t>
            </a:r>
            <a:endParaRPr b="0" i="0" sz="1433"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a86323efb1_2_180"/>
          <p:cNvSpPr/>
          <p:nvPr/>
        </p:nvSpPr>
        <p:spPr>
          <a:xfrm>
            <a:off x="609600" y="424705"/>
            <a:ext cx="10972800" cy="6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1A3A5C"/>
                </a:solidFill>
                <a:latin typeface="Georgia"/>
                <a:ea typeface="Georgia"/>
                <a:cs typeface="Georgia"/>
                <a:sym typeface="Georgia"/>
              </a:rPr>
              <a:t>Transformación de Datos</a:t>
            </a:r>
            <a:endParaRPr b="0" i="0" sz="3467" u="none" cap="none" strike="noStrike">
              <a:solidFill>
                <a:srgbClr val="000000"/>
              </a:solidFill>
              <a:latin typeface="Arial"/>
              <a:ea typeface="Arial"/>
              <a:cs typeface="Arial"/>
              <a:sym typeface="Arial"/>
            </a:endParaRPr>
          </a:p>
        </p:txBody>
      </p:sp>
      <p:sp>
        <p:nvSpPr>
          <p:cNvPr id="422" name="Google Shape;422;g3a86323efb1_2_180"/>
          <p:cNvSpPr/>
          <p:nvPr/>
        </p:nvSpPr>
        <p:spPr>
          <a:xfrm>
            <a:off x="548650" y="1584949"/>
            <a:ext cx="5364600" cy="5175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preencoded.png" id="423" name="Google Shape;423;g3a86323efb1_2_180"/>
          <p:cNvPicPr preferRelativeResize="0"/>
          <p:nvPr/>
        </p:nvPicPr>
        <p:blipFill rotWithShape="1">
          <a:blip r:embed="rId3">
            <a:alphaModFix/>
          </a:blip>
          <a:srcRect b="0" l="0" r="0" t="0"/>
          <a:stretch/>
        </p:blipFill>
        <p:spPr>
          <a:xfrm>
            <a:off x="877824" y="1828800"/>
            <a:ext cx="548640" cy="548640"/>
          </a:xfrm>
          <a:prstGeom prst="rect">
            <a:avLst/>
          </a:prstGeom>
          <a:noFill/>
          <a:ln>
            <a:noFill/>
          </a:ln>
        </p:spPr>
      </p:pic>
      <p:sp>
        <p:nvSpPr>
          <p:cNvPr id="424" name="Google Shape;424;g3a86323efb1_2_180"/>
          <p:cNvSpPr/>
          <p:nvPr/>
        </p:nvSpPr>
        <p:spPr>
          <a:xfrm>
            <a:off x="1548384" y="1828800"/>
            <a:ext cx="4145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067">
                <a:solidFill>
                  <a:srgbClr val="1A3A5C"/>
                </a:solidFill>
              </a:rPr>
              <a:t>Label Encoding</a:t>
            </a:r>
            <a:endParaRPr b="0" i="0" sz="2067" u="none" cap="none" strike="noStrike">
              <a:solidFill>
                <a:srgbClr val="000000"/>
              </a:solidFill>
              <a:latin typeface="Arial"/>
              <a:ea typeface="Arial"/>
              <a:cs typeface="Arial"/>
              <a:sym typeface="Arial"/>
            </a:endParaRPr>
          </a:p>
        </p:txBody>
      </p:sp>
      <p:sp>
        <p:nvSpPr>
          <p:cNvPr id="425" name="Google Shape;425;g3a86323efb1_2_180"/>
          <p:cNvSpPr/>
          <p:nvPr/>
        </p:nvSpPr>
        <p:spPr>
          <a:xfrm>
            <a:off x="670560" y="2499360"/>
            <a:ext cx="5059800" cy="6339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426" name="Google Shape;426;g3a86323efb1_2_180"/>
          <p:cNvSpPr/>
          <p:nvPr/>
        </p:nvSpPr>
        <p:spPr>
          <a:xfrm>
            <a:off x="877625" y="2499350"/>
            <a:ext cx="4755000" cy="6339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1850">
                <a:solidFill>
                  <a:srgbClr val="C9D1D9"/>
                </a:solidFill>
                <a:highlight>
                  <a:srgbClr val="121314"/>
                </a:highlight>
                <a:latin typeface="Consolas"/>
                <a:ea typeface="Consolas"/>
                <a:cs typeface="Consolas"/>
                <a:sym typeface="Consolas"/>
              </a:rPr>
              <a:t>le</a:t>
            </a:r>
            <a:r>
              <a:rPr lang="en-US" sz="1850">
                <a:solidFill>
                  <a:srgbClr val="BBBEBF"/>
                </a:solidFill>
                <a:highlight>
                  <a:srgbClr val="121314"/>
                </a:highlight>
                <a:latin typeface="Consolas"/>
                <a:ea typeface="Consolas"/>
                <a:cs typeface="Consolas"/>
                <a:sym typeface="Consolas"/>
              </a:rPr>
              <a:t> </a:t>
            </a:r>
            <a:r>
              <a:rPr lang="en-US" sz="1850">
                <a:solidFill>
                  <a:srgbClr val="D4D4D4"/>
                </a:solidFill>
                <a:highlight>
                  <a:srgbClr val="121314"/>
                </a:highlight>
                <a:latin typeface="Consolas"/>
                <a:ea typeface="Consolas"/>
                <a:cs typeface="Consolas"/>
                <a:sym typeface="Consolas"/>
              </a:rPr>
              <a:t>=</a:t>
            </a:r>
            <a:r>
              <a:rPr lang="en-US" sz="1850">
                <a:solidFill>
                  <a:srgbClr val="BBBEBF"/>
                </a:solidFill>
                <a:highlight>
                  <a:srgbClr val="121314"/>
                </a:highlight>
                <a:latin typeface="Consolas"/>
                <a:ea typeface="Consolas"/>
                <a:cs typeface="Consolas"/>
                <a:sym typeface="Consolas"/>
              </a:rPr>
              <a:t> </a:t>
            </a:r>
            <a:r>
              <a:rPr lang="en-US" sz="1850">
                <a:solidFill>
                  <a:srgbClr val="4EC9B0"/>
                </a:solidFill>
                <a:highlight>
                  <a:srgbClr val="121314"/>
                </a:highlight>
                <a:latin typeface="Consolas"/>
                <a:ea typeface="Consolas"/>
                <a:cs typeface="Consolas"/>
                <a:sym typeface="Consolas"/>
              </a:rPr>
              <a:t>LabelEncoder</a:t>
            </a:r>
            <a:r>
              <a:rPr lang="en-US" sz="1850">
                <a:solidFill>
                  <a:srgbClr val="BBBEBF"/>
                </a:solidFill>
                <a:highlight>
                  <a:srgbClr val="121314"/>
                </a:highlight>
                <a:latin typeface="Consolas"/>
                <a:ea typeface="Consolas"/>
                <a:cs typeface="Consolas"/>
                <a:sym typeface="Consolas"/>
              </a:rPr>
              <a:t>()</a:t>
            </a:r>
            <a:endParaRPr sz="2000">
              <a:solidFill>
                <a:srgbClr val="5EEAD4"/>
              </a:solidFill>
              <a:latin typeface="Courier New"/>
              <a:ea typeface="Courier New"/>
              <a:cs typeface="Courier New"/>
              <a:sym typeface="Courier New"/>
            </a:endParaRPr>
          </a:p>
        </p:txBody>
      </p:sp>
      <p:sp>
        <p:nvSpPr>
          <p:cNvPr id="427" name="Google Shape;427;g3a86323efb1_2_180"/>
          <p:cNvSpPr/>
          <p:nvPr/>
        </p:nvSpPr>
        <p:spPr>
          <a:xfrm>
            <a:off x="670450" y="2980800"/>
            <a:ext cx="5059800" cy="3048000"/>
          </a:xfrm>
          <a:prstGeom prst="rect">
            <a:avLst/>
          </a:prstGeom>
          <a:noFill/>
          <a:ln>
            <a:noFill/>
          </a:ln>
        </p:spPr>
        <p:txBody>
          <a:bodyPr anchorCtr="0" anchor="ctr" bIns="45700" lIns="91425" spcFirstLastPara="1" rIns="91425" wrap="square" tIns="45700">
            <a:noAutofit/>
          </a:bodyPr>
          <a:lstStyle/>
          <a:p>
            <a:pPr indent="-482589" lvl="0" marL="457189" marR="0" rtl="0" algn="l">
              <a:lnSpc>
                <a:spcPct val="100000"/>
              </a:lnSpc>
              <a:spcBef>
                <a:spcPts val="0"/>
              </a:spcBef>
              <a:spcAft>
                <a:spcPts val="0"/>
              </a:spcAft>
              <a:buClr>
                <a:srgbClr val="000000"/>
              </a:buClr>
              <a:buSzPts val="1867"/>
              <a:buFont typeface="Arial"/>
              <a:buChar char="•"/>
            </a:pPr>
            <a:r>
              <a:rPr lang="en-US" sz="1867">
                <a:solidFill>
                  <a:srgbClr val="64748B"/>
                </a:solidFill>
              </a:rPr>
              <a:t>Mantiene la dimensionalidad manejable.</a:t>
            </a:r>
            <a:endParaRPr sz="1867">
              <a:solidFill>
                <a:srgbClr val="64748B"/>
              </a:solidFill>
            </a:endParaRPr>
          </a:p>
          <a:p>
            <a:pPr indent="-482589" lvl="0" marL="457189" marR="0" rtl="0" algn="l">
              <a:lnSpc>
                <a:spcPct val="100000"/>
              </a:lnSpc>
              <a:spcBef>
                <a:spcPts val="0"/>
              </a:spcBef>
              <a:spcAft>
                <a:spcPts val="0"/>
              </a:spcAft>
              <a:buClr>
                <a:srgbClr val="64748B"/>
              </a:buClr>
              <a:buSzPts val="1867"/>
              <a:buChar char="•"/>
            </a:pPr>
            <a:r>
              <a:rPr lang="en-US" sz="1867">
                <a:solidFill>
                  <a:srgbClr val="64748B"/>
                </a:solidFill>
              </a:rPr>
              <a:t>El Random Forest es robusto, lo que puede manejar la ordinalidad arbitraria.</a:t>
            </a:r>
            <a:endParaRPr sz="1867">
              <a:solidFill>
                <a:srgbClr val="64748B"/>
              </a:solidFill>
            </a:endParaRPr>
          </a:p>
          <a:p>
            <a:pPr indent="-482589" lvl="0" marL="457189" marR="0" rtl="0" algn="l">
              <a:lnSpc>
                <a:spcPct val="100000"/>
              </a:lnSpc>
              <a:spcBef>
                <a:spcPts val="0"/>
              </a:spcBef>
              <a:spcAft>
                <a:spcPts val="0"/>
              </a:spcAft>
              <a:buClr>
                <a:srgbClr val="64748B"/>
              </a:buClr>
              <a:buSzPts val="1867"/>
              <a:buChar char="•"/>
            </a:pPr>
            <a:r>
              <a:rPr lang="en-US" sz="1867">
                <a:solidFill>
                  <a:srgbClr val="64748B"/>
                </a:solidFill>
              </a:rPr>
              <a:t>Al hacer particiones binarias, el RF puede abarcar cada despliegue de la calificación de la variable a tratar. </a:t>
            </a:r>
            <a:endParaRPr sz="1867">
              <a:solidFill>
                <a:srgbClr val="64748B"/>
              </a:solidFill>
            </a:endParaRPr>
          </a:p>
        </p:txBody>
      </p:sp>
      <p:sp>
        <p:nvSpPr>
          <p:cNvPr id="428" name="Google Shape;428;g3a86323efb1_2_180"/>
          <p:cNvSpPr/>
          <p:nvPr/>
        </p:nvSpPr>
        <p:spPr>
          <a:xfrm>
            <a:off x="6217925" y="1584950"/>
            <a:ext cx="5364600" cy="51759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preencoded.png" id="429" name="Google Shape;429;g3a86323efb1_2_180"/>
          <p:cNvPicPr preferRelativeResize="0"/>
          <p:nvPr/>
        </p:nvPicPr>
        <p:blipFill rotWithShape="1">
          <a:blip r:embed="rId4">
            <a:alphaModFix/>
          </a:blip>
          <a:srcRect b="0" l="0" r="0" t="0"/>
          <a:stretch/>
        </p:blipFill>
        <p:spPr>
          <a:xfrm>
            <a:off x="6430479" y="1651750"/>
            <a:ext cx="548640" cy="548640"/>
          </a:xfrm>
          <a:prstGeom prst="rect">
            <a:avLst/>
          </a:prstGeom>
          <a:noFill/>
          <a:ln>
            <a:noFill/>
          </a:ln>
        </p:spPr>
      </p:pic>
      <p:sp>
        <p:nvSpPr>
          <p:cNvPr id="430" name="Google Shape;430;g3a86323efb1_2_180"/>
          <p:cNvSpPr/>
          <p:nvPr/>
        </p:nvSpPr>
        <p:spPr>
          <a:xfrm>
            <a:off x="7217675" y="1621500"/>
            <a:ext cx="4145400" cy="63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867">
                <a:solidFill>
                  <a:srgbClr val="1A3A5C"/>
                </a:solidFill>
              </a:rPr>
              <a:t>Grid </a:t>
            </a:r>
            <a:r>
              <a:rPr b="1" lang="en-US" sz="1867">
                <a:solidFill>
                  <a:srgbClr val="1A3A5C"/>
                </a:solidFill>
              </a:rPr>
              <a:t>Search</a:t>
            </a:r>
            <a:endParaRPr b="0" i="0" sz="1867" u="none" cap="none" strike="noStrike">
              <a:solidFill>
                <a:srgbClr val="000000"/>
              </a:solidFill>
              <a:latin typeface="Arial"/>
              <a:ea typeface="Arial"/>
              <a:cs typeface="Arial"/>
              <a:sym typeface="Arial"/>
            </a:endParaRPr>
          </a:p>
        </p:txBody>
      </p:sp>
      <p:sp>
        <p:nvSpPr>
          <p:cNvPr id="431" name="Google Shape;431;g3a86323efb1_2_180"/>
          <p:cNvSpPr/>
          <p:nvPr/>
        </p:nvSpPr>
        <p:spPr>
          <a:xfrm>
            <a:off x="6522725" y="2912350"/>
            <a:ext cx="4876800" cy="13026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Clr>
                <a:schemeClr val="dk1"/>
              </a:buClr>
              <a:buSzPts val="1100"/>
              <a:buFont typeface="Arial"/>
              <a:buNone/>
            </a:pPr>
            <a:r>
              <a:rPr lang="en-US" sz="1050">
                <a:solidFill>
                  <a:srgbClr val="A5D6FF"/>
                </a:solidFill>
                <a:highlight>
                  <a:srgbClr val="121314"/>
                </a:highlight>
                <a:latin typeface="Consolas"/>
                <a:ea typeface="Consolas"/>
                <a:cs typeface="Consolas"/>
                <a:sym typeface="Consolas"/>
              </a:rPr>
              <a:t>"n_estimators"</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200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300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"max_depth"</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8</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12</a:t>
            </a:r>
            <a:r>
              <a:rPr lang="en-US" sz="1050">
                <a:solidFill>
                  <a:srgbClr val="BBBEBF"/>
                </a:solidFill>
                <a:highlight>
                  <a:srgbClr val="121314"/>
                </a:highlight>
                <a:latin typeface="Consolas"/>
                <a:ea typeface="Consolas"/>
                <a:cs typeface="Consolas"/>
                <a:sym typeface="Consolas"/>
              </a:rPr>
              <a:t>],       </a:t>
            </a:r>
            <a:r>
              <a:rPr lang="en-US" sz="1050">
                <a:solidFill>
                  <a:srgbClr val="8B949E"/>
                </a:solidFill>
                <a:highlight>
                  <a:srgbClr val="121314"/>
                </a:highlight>
                <a:latin typeface="Consolas"/>
                <a:ea typeface="Consolas"/>
                <a:cs typeface="Consolas"/>
                <a:sym typeface="Consolas"/>
              </a:rPr>
              <a:t># 12 &gt;&gt; 8 en 0.012 de AUC</a:t>
            </a:r>
            <a:endParaRPr sz="1050">
              <a:solidFill>
                <a:srgbClr val="8B949E"/>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"min_samples_split"</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20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"min_samples_leaf"</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3</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"max_features"</a:t>
            </a:r>
            <a:r>
              <a:rPr lang="en-US" sz="1050">
                <a:solidFill>
                  <a:srgbClr val="BBBEBF"/>
                </a:solidFill>
                <a:highlight>
                  <a:srgbClr val="121314"/>
                </a:highlight>
                <a:latin typeface="Consolas"/>
                <a:ea typeface="Consolas"/>
                <a:cs typeface="Consolas"/>
                <a:sym typeface="Consolas"/>
              </a:rPr>
              <a:t>     : [</a:t>
            </a:r>
            <a:r>
              <a:rPr lang="en-US" sz="1050">
                <a:solidFill>
                  <a:srgbClr val="A5D6FF"/>
                </a:solidFill>
                <a:highlight>
                  <a:srgbClr val="121314"/>
                </a:highlight>
                <a:latin typeface="Consolas"/>
                <a:ea typeface="Consolas"/>
                <a:cs typeface="Consolas"/>
                <a:sym typeface="Consolas"/>
              </a:rPr>
              <a:t>"sqrt"</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sz="2033">
              <a:solidFill>
                <a:srgbClr val="0D9488"/>
              </a:solidFill>
              <a:latin typeface="Consolas"/>
              <a:ea typeface="Consolas"/>
              <a:cs typeface="Consolas"/>
              <a:sym typeface="Consolas"/>
            </a:endParaRPr>
          </a:p>
        </p:txBody>
      </p:sp>
      <p:sp>
        <p:nvSpPr>
          <p:cNvPr id="432" name="Google Shape;432;g3a86323efb1_2_180"/>
          <p:cNvSpPr/>
          <p:nvPr/>
        </p:nvSpPr>
        <p:spPr>
          <a:xfrm>
            <a:off x="6461825" y="3959475"/>
            <a:ext cx="4876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150">
                <a:solidFill>
                  <a:schemeClr val="accent1"/>
                </a:solidFill>
                <a:latin typeface="Consolas"/>
                <a:ea typeface="Consolas"/>
                <a:cs typeface="Consolas"/>
                <a:sym typeface="Consolas"/>
              </a:rPr>
              <a:t>'n_estimators': 300, 'max_depth': 8, 'min_samples_split': 10, 'min_samples_leaf': 5, 'max_features': 'sqrt'}</a:t>
            </a:r>
            <a:r>
              <a:rPr lang="en-US" sz="1200">
                <a:solidFill>
                  <a:schemeClr val="accent1"/>
                </a:solidFill>
              </a:rPr>
              <a:t> </a:t>
            </a:r>
            <a:endParaRPr b="0" i="0" sz="2133" u="none" cap="none" strike="noStrike">
              <a:solidFill>
                <a:schemeClr val="accent1"/>
              </a:solidFill>
              <a:latin typeface="Arial"/>
              <a:ea typeface="Arial"/>
              <a:cs typeface="Arial"/>
              <a:sym typeface="Arial"/>
            </a:endParaRPr>
          </a:p>
        </p:txBody>
      </p:sp>
      <p:sp>
        <p:nvSpPr>
          <p:cNvPr id="433" name="Google Shape;433;g3a86323efb1_2_180"/>
          <p:cNvSpPr/>
          <p:nvPr/>
        </p:nvSpPr>
        <p:spPr>
          <a:xfrm>
            <a:off x="774850" y="5856775"/>
            <a:ext cx="5059800" cy="829200"/>
          </a:xfrm>
          <a:prstGeom prst="rect">
            <a:avLst/>
          </a:prstGeom>
          <a:solidFill>
            <a:srgbClr val="FEF3C7"/>
          </a:solidFill>
          <a:ln cap="flat" cmpd="sng" w="1015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434" name="Google Shape;434;g3a86323efb1_2_180"/>
          <p:cNvSpPr/>
          <p:nvPr/>
        </p:nvSpPr>
        <p:spPr>
          <a:xfrm>
            <a:off x="870850" y="5789125"/>
            <a:ext cx="4659000" cy="82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33" u="none" cap="none" strike="noStrike">
                <a:solidFill>
                  <a:srgbClr val="7A5200"/>
                </a:solidFill>
                <a:latin typeface="Arial"/>
                <a:ea typeface="Arial"/>
                <a:cs typeface="Arial"/>
                <a:sym typeface="Arial"/>
              </a:rPr>
              <a:t>⚠ </a:t>
            </a:r>
            <a:r>
              <a:rPr lang="en-US" sz="1433">
                <a:solidFill>
                  <a:srgbClr val="7A5200"/>
                </a:solidFill>
              </a:rPr>
              <a:t>Random Forest es un modelo basado en árboles de decisiones, ya que toma decisiones mediante cálculos de partición binaria, no mediante cálculos de distancia.</a:t>
            </a:r>
            <a:endParaRPr b="0" i="0" sz="1433" u="none" cap="none" strike="noStrike">
              <a:solidFill>
                <a:srgbClr val="000000"/>
              </a:solidFill>
              <a:latin typeface="Arial"/>
              <a:ea typeface="Arial"/>
              <a:cs typeface="Arial"/>
              <a:sym typeface="Arial"/>
            </a:endParaRPr>
          </a:p>
        </p:txBody>
      </p:sp>
      <p:sp>
        <p:nvSpPr>
          <p:cNvPr id="435" name="Google Shape;435;g3a86323efb1_2_180"/>
          <p:cNvSpPr/>
          <p:nvPr/>
        </p:nvSpPr>
        <p:spPr>
          <a:xfrm>
            <a:off x="6217925" y="2200401"/>
            <a:ext cx="5059800" cy="5487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436" name="Google Shape;436;g3a86323efb1_2_180"/>
          <p:cNvSpPr/>
          <p:nvPr/>
        </p:nvSpPr>
        <p:spPr>
          <a:xfrm>
            <a:off x="6294825" y="2200400"/>
            <a:ext cx="4755000" cy="5487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2050">
                <a:solidFill>
                  <a:srgbClr val="C9D1D9"/>
                </a:solidFill>
                <a:highlight>
                  <a:srgbClr val="121314"/>
                </a:highlight>
                <a:latin typeface="Consolas"/>
                <a:ea typeface="Consolas"/>
                <a:cs typeface="Consolas"/>
                <a:sym typeface="Consolas"/>
              </a:rPr>
              <a:t>Out-of-Bag</a:t>
            </a:r>
            <a:endParaRPr sz="2200">
              <a:solidFill>
                <a:srgbClr val="5EEAD4"/>
              </a:solidFill>
              <a:latin typeface="Courier New"/>
              <a:ea typeface="Courier New"/>
              <a:cs typeface="Courier New"/>
              <a:sym typeface="Courier New"/>
            </a:endParaRPr>
          </a:p>
        </p:txBody>
      </p:sp>
      <p:sp>
        <p:nvSpPr>
          <p:cNvPr id="437" name="Google Shape;437;g3a86323efb1_2_180"/>
          <p:cNvSpPr/>
          <p:nvPr/>
        </p:nvSpPr>
        <p:spPr>
          <a:xfrm>
            <a:off x="6217925" y="4508176"/>
            <a:ext cx="5059800" cy="54870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438" name="Google Shape;438;g3a86323efb1_2_180"/>
          <p:cNvSpPr/>
          <p:nvPr/>
        </p:nvSpPr>
        <p:spPr>
          <a:xfrm>
            <a:off x="6294825" y="4508175"/>
            <a:ext cx="4755000" cy="5487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SzPts val="1100"/>
              <a:buNone/>
            </a:pPr>
            <a:r>
              <a:rPr lang="en-US" sz="2050">
                <a:solidFill>
                  <a:srgbClr val="C9D1D9"/>
                </a:solidFill>
                <a:highlight>
                  <a:srgbClr val="121314"/>
                </a:highlight>
                <a:latin typeface="Consolas"/>
                <a:ea typeface="Consolas"/>
                <a:cs typeface="Consolas"/>
                <a:sym typeface="Consolas"/>
              </a:rPr>
              <a:t>Cross-Validation</a:t>
            </a:r>
            <a:endParaRPr sz="2200">
              <a:solidFill>
                <a:srgbClr val="5EEAD4"/>
              </a:solidFill>
              <a:latin typeface="Courier New"/>
              <a:ea typeface="Courier New"/>
              <a:cs typeface="Courier New"/>
              <a:sym typeface="Courier New"/>
            </a:endParaRPr>
          </a:p>
        </p:txBody>
      </p:sp>
      <p:sp>
        <p:nvSpPr>
          <p:cNvPr id="439" name="Google Shape;439;g3a86323efb1_2_180"/>
          <p:cNvSpPr/>
          <p:nvPr/>
        </p:nvSpPr>
        <p:spPr>
          <a:xfrm>
            <a:off x="6430475" y="5789125"/>
            <a:ext cx="4876800" cy="829200"/>
          </a:xfrm>
          <a:prstGeom prst="rect">
            <a:avLst/>
          </a:prstGeom>
          <a:noFill/>
          <a:ln>
            <a:noFill/>
          </a:ln>
        </p:spPr>
        <p:txBody>
          <a:bodyPr anchorCtr="0" anchor="ctr" bIns="0" lIns="0" spcFirstLastPara="1" rIns="0" wrap="square" tIns="0">
            <a:noAutofit/>
          </a:bodyPr>
          <a:lstStyle/>
          <a:p>
            <a:pPr indent="0" lvl="0" marL="0" rtl="0" algn="l">
              <a:lnSpc>
                <a:spcPct val="135714"/>
              </a:lnSpc>
              <a:spcBef>
                <a:spcPts val="0"/>
              </a:spcBef>
              <a:spcAft>
                <a:spcPts val="0"/>
              </a:spcAft>
              <a:buClr>
                <a:schemeClr val="dk1"/>
              </a:buClr>
              <a:buSzPts val="1100"/>
              <a:buFont typeface="Arial"/>
              <a:buNone/>
            </a:pPr>
            <a:r>
              <a:rPr lang="en-US" sz="1050">
                <a:solidFill>
                  <a:srgbClr val="A5D6FF"/>
                </a:solidFill>
                <a:highlight>
                  <a:srgbClr val="121314"/>
                </a:highlight>
                <a:latin typeface="Consolas"/>
                <a:ea typeface="Consolas"/>
                <a:cs typeface="Consolas"/>
                <a:sym typeface="Consolas"/>
              </a:rPr>
              <a:t>"n_estimators"</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200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300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"max_depth"</a:t>
            </a:r>
            <a:r>
              <a:rPr lang="en-US" sz="1050">
                <a:solidFill>
                  <a:srgbClr val="BBBEBF"/>
                </a:solidFill>
                <a:highlight>
                  <a:srgbClr val="121314"/>
                </a:highlight>
                <a:latin typeface="Consolas"/>
                <a:ea typeface="Consolas"/>
                <a:cs typeface="Consolas"/>
                <a:sym typeface="Consolas"/>
              </a:rPr>
              <a:t>        : [</a:t>
            </a:r>
            <a:r>
              <a:rPr lang="en-US" sz="1050">
                <a:solidFill>
                  <a:srgbClr val="79C0FF"/>
                </a:solidFill>
                <a:highlight>
                  <a:srgbClr val="121314"/>
                </a:highlight>
                <a:latin typeface="Consolas"/>
                <a:ea typeface="Consolas"/>
                <a:cs typeface="Consolas"/>
                <a:sym typeface="Consolas"/>
              </a:rPr>
              <a:t>BEST_DEPTH_OOB</a:t>
            </a:r>
            <a:r>
              <a:rPr lang="en-US" sz="1050">
                <a:solidFill>
                  <a:srgbClr val="BBBEBF"/>
                </a:solidFill>
                <a:highlight>
                  <a:srgbClr val="121314"/>
                </a:highlight>
                <a:latin typeface="Consolas"/>
                <a:ea typeface="Consolas"/>
                <a:cs typeface="Consolas"/>
                <a:sym typeface="Consolas"/>
              </a:rPr>
              <a:t>],  </a:t>
            </a:r>
            <a:r>
              <a:rPr lang="en-US" sz="1050">
                <a:solidFill>
                  <a:srgbClr val="8B949E"/>
                </a:solidFill>
                <a:highlight>
                  <a:srgbClr val="121314"/>
                </a:highlight>
                <a:latin typeface="Consolas"/>
                <a:ea typeface="Consolas"/>
                <a:cs typeface="Consolas"/>
                <a:sym typeface="Consolas"/>
              </a:rPr>
              <a:t># fijado por OOB GS</a:t>
            </a:r>
            <a:endParaRPr sz="1050">
              <a:solidFill>
                <a:srgbClr val="8B949E"/>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"min_samples_split"</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20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"min_samples_leaf"</a:t>
            </a:r>
            <a:r>
              <a:rPr lang="en-US" sz="1050">
                <a:solidFill>
                  <a:srgbClr val="BBBEBF"/>
                </a:solidFill>
                <a:highlight>
                  <a:srgbClr val="121314"/>
                </a:highlight>
                <a:latin typeface="Consolas"/>
                <a:ea typeface="Consolas"/>
                <a:cs typeface="Consolas"/>
                <a:sym typeface="Consolas"/>
              </a:rPr>
              <a:t> : [</a:t>
            </a:r>
            <a:r>
              <a:rPr lang="en-US" sz="1050">
                <a:solidFill>
                  <a:srgbClr val="B5CEA8"/>
                </a:solidFill>
                <a:highlight>
                  <a:srgbClr val="121314"/>
                </a:highlight>
                <a:latin typeface="Consolas"/>
                <a:ea typeface="Consolas"/>
                <a:cs typeface="Consolas"/>
                <a:sym typeface="Consolas"/>
              </a:rPr>
              <a:t>3</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5</a:t>
            </a:r>
            <a:r>
              <a:rPr lang="en-US" sz="1050">
                <a:solidFill>
                  <a:srgbClr val="BBBEBF"/>
                </a:solidFill>
                <a:highlight>
                  <a:srgbClr val="121314"/>
                </a:highlight>
                <a:latin typeface="Consolas"/>
                <a:ea typeface="Consolas"/>
                <a:cs typeface="Consolas"/>
                <a:sym typeface="Consolas"/>
              </a:rPr>
              <a:t>, </a:t>
            </a:r>
            <a:r>
              <a:rPr lang="en-US" sz="1050">
                <a:solidFill>
                  <a:srgbClr val="B5CEA8"/>
                </a:solidFill>
                <a:highlight>
                  <a:srgbClr val="121314"/>
                </a:highlight>
                <a:latin typeface="Consolas"/>
                <a:ea typeface="Consolas"/>
                <a:cs typeface="Consolas"/>
                <a:sym typeface="Consolas"/>
              </a:rPr>
              <a:t>10</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Clr>
                <a:schemeClr val="dk1"/>
              </a:buClr>
              <a:buSzPts val="1100"/>
              <a:buFont typeface="Arial"/>
              <a:buNone/>
            </a:pPr>
            <a:r>
              <a:rPr lang="en-US" sz="1050">
                <a:solidFill>
                  <a:srgbClr val="BBBEBF"/>
                </a:solidFill>
                <a:highlight>
                  <a:srgbClr val="121314"/>
                </a:highlight>
                <a:latin typeface="Consolas"/>
                <a:ea typeface="Consolas"/>
                <a:cs typeface="Consolas"/>
                <a:sym typeface="Consolas"/>
              </a:rPr>
              <a:t>    </a:t>
            </a:r>
            <a:r>
              <a:rPr lang="en-US" sz="1050">
                <a:solidFill>
                  <a:srgbClr val="A5D6FF"/>
                </a:solidFill>
                <a:highlight>
                  <a:srgbClr val="121314"/>
                </a:highlight>
                <a:latin typeface="Consolas"/>
                <a:ea typeface="Consolas"/>
                <a:cs typeface="Consolas"/>
                <a:sym typeface="Consolas"/>
              </a:rPr>
              <a:t>"max_features"</a:t>
            </a:r>
            <a:r>
              <a:rPr lang="en-US" sz="1050">
                <a:solidFill>
                  <a:srgbClr val="BBBEBF"/>
                </a:solidFill>
                <a:highlight>
                  <a:srgbClr val="121314"/>
                </a:highlight>
                <a:latin typeface="Consolas"/>
                <a:ea typeface="Consolas"/>
                <a:cs typeface="Consolas"/>
                <a:sym typeface="Consolas"/>
              </a:rPr>
              <a:t>     : [</a:t>
            </a:r>
            <a:r>
              <a:rPr lang="en-US" sz="1050">
                <a:solidFill>
                  <a:srgbClr val="A5D6FF"/>
                </a:solidFill>
                <a:highlight>
                  <a:srgbClr val="121314"/>
                </a:highlight>
                <a:latin typeface="Consolas"/>
                <a:ea typeface="Consolas"/>
                <a:cs typeface="Consolas"/>
                <a:sym typeface="Consolas"/>
              </a:rPr>
              <a:t>"sqrt"</a:t>
            </a:r>
            <a:r>
              <a:rPr lang="en-US" sz="1050">
                <a:solidFill>
                  <a:srgbClr val="BBBEBF"/>
                </a:solidFill>
                <a:highlight>
                  <a:srgbClr val="121314"/>
                </a:highlight>
                <a:latin typeface="Consolas"/>
                <a:ea typeface="Consolas"/>
                <a:cs typeface="Consolas"/>
                <a:sym typeface="Consolas"/>
              </a:rPr>
              <a:t>]</a:t>
            </a:r>
            <a:endParaRPr sz="1050">
              <a:solidFill>
                <a:srgbClr val="BBBEBF"/>
              </a:solidFill>
              <a:highlight>
                <a:srgbClr val="121314"/>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50">
              <a:solidFill>
                <a:srgbClr val="A5D6FF"/>
              </a:solidFill>
              <a:highlight>
                <a:srgbClr val="121314"/>
              </a:highlight>
              <a:latin typeface="Consolas"/>
              <a:ea typeface="Consolas"/>
              <a:cs typeface="Consolas"/>
              <a:sym typeface="Consolas"/>
            </a:endParaRPr>
          </a:p>
          <a:p>
            <a:pPr indent="0" lvl="0" marL="0" rtl="0" algn="l">
              <a:spcBef>
                <a:spcPts val="0"/>
              </a:spcBef>
              <a:spcAft>
                <a:spcPts val="0"/>
              </a:spcAft>
              <a:buClr>
                <a:srgbClr val="000000"/>
              </a:buClr>
              <a:buFont typeface="Arial"/>
              <a:buNone/>
            </a:pPr>
            <a:r>
              <a:t/>
            </a:r>
            <a:endParaRPr sz="2033">
              <a:solidFill>
                <a:srgbClr val="0D9488"/>
              </a:solidFill>
              <a:latin typeface="Consolas"/>
              <a:ea typeface="Consolas"/>
              <a:cs typeface="Consolas"/>
              <a:sym typeface="Consolas"/>
            </a:endParaRPr>
          </a:p>
          <a:p>
            <a:pPr indent="0" lvl="0" marL="0" rtl="0" algn="l">
              <a:lnSpc>
                <a:spcPct val="135714"/>
              </a:lnSpc>
              <a:spcBef>
                <a:spcPts val="0"/>
              </a:spcBef>
              <a:spcAft>
                <a:spcPts val="0"/>
              </a:spcAft>
              <a:buSzPts val="1100"/>
              <a:buNone/>
            </a:pPr>
            <a:r>
              <a:t/>
            </a:r>
            <a:endParaRPr sz="1050">
              <a:solidFill>
                <a:srgbClr val="A5D6FF"/>
              </a:solidFill>
              <a:highlight>
                <a:srgbClr val="121314"/>
              </a:highlight>
              <a:latin typeface="Consolas"/>
              <a:ea typeface="Consolas"/>
              <a:cs typeface="Consolas"/>
              <a:sym typeface="Consolas"/>
            </a:endParaRPr>
          </a:p>
          <a:p>
            <a:pPr indent="0" lvl="0" marL="0" marR="0" rtl="0" algn="l">
              <a:lnSpc>
                <a:spcPct val="100000"/>
              </a:lnSpc>
              <a:spcBef>
                <a:spcPts val="0"/>
              </a:spcBef>
              <a:spcAft>
                <a:spcPts val="0"/>
              </a:spcAft>
              <a:buNone/>
            </a:pPr>
            <a:r>
              <a:t/>
            </a:r>
            <a:endParaRPr sz="2033">
              <a:solidFill>
                <a:srgbClr val="0D9488"/>
              </a:solidFill>
              <a:latin typeface="Consolas"/>
              <a:ea typeface="Consolas"/>
              <a:cs typeface="Consolas"/>
              <a:sym typeface="Consolas"/>
            </a:endParaRPr>
          </a:p>
        </p:txBody>
      </p:sp>
      <p:sp>
        <p:nvSpPr>
          <p:cNvPr id="440" name="Google Shape;440;g3a86323efb1_2_180"/>
          <p:cNvSpPr/>
          <p:nvPr/>
        </p:nvSpPr>
        <p:spPr>
          <a:xfrm>
            <a:off x="6522725" y="6212250"/>
            <a:ext cx="48768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150">
                <a:solidFill>
                  <a:schemeClr val="accent1"/>
                </a:solidFill>
                <a:latin typeface="Consolas"/>
                <a:ea typeface="Consolas"/>
                <a:cs typeface="Consolas"/>
                <a:sym typeface="Consolas"/>
              </a:rPr>
              <a:t>'</a:t>
            </a:r>
            <a:r>
              <a:rPr lang="en-US" sz="1150">
                <a:solidFill>
                  <a:schemeClr val="accent1"/>
                </a:solidFill>
                <a:latin typeface="Consolas"/>
                <a:ea typeface="Consolas"/>
                <a:cs typeface="Consolas"/>
                <a:sym typeface="Consolas"/>
              </a:rPr>
              <a:t>'n_estimators': 200, 'max_depth': 8, 'min_samples_split': 5, 'min_samples_leaf': 5, 'max_features': 'sqrt'</a:t>
            </a:r>
            <a:r>
              <a:rPr lang="en-US" sz="1200">
                <a:solidFill>
                  <a:schemeClr val="accent1"/>
                </a:solidFill>
              </a:rPr>
              <a:t> </a:t>
            </a:r>
            <a:endParaRPr b="0" i="0" sz="2133" u="none" cap="none" strike="noStrike">
              <a:solidFill>
                <a:schemeClr val="accent1"/>
              </a:solidFill>
              <a:latin typeface="Arial"/>
              <a:ea typeface="Arial"/>
              <a:cs typeface="Arial"/>
              <a:sym typeface="Arial"/>
            </a:endParaRPr>
          </a:p>
        </p:txBody>
      </p:sp>
      <p:grpSp>
        <p:nvGrpSpPr>
          <p:cNvPr id="441" name="Google Shape;441;g3a86323efb1_2_180"/>
          <p:cNvGrpSpPr/>
          <p:nvPr/>
        </p:nvGrpSpPr>
        <p:grpSpPr>
          <a:xfrm>
            <a:off x="9352799" y="430896"/>
            <a:ext cx="2557800" cy="409200"/>
            <a:chOff x="609600" y="304800"/>
            <a:chExt cx="2557800" cy="409200"/>
          </a:xfrm>
        </p:grpSpPr>
        <p:sp>
          <p:nvSpPr>
            <p:cNvPr id="442" name="Google Shape;442;g3a86323efb1_2_180"/>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443" name="Google Shape;443;g3a86323efb1_2_180"/>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Random Forest</a:t>
              </a:r>
              <a:endParaRPr b="1" i="0" sz="2259" u="none" cap="none" strike="noStrike">
                <a:solidFill>
                  <a:schemeClr val="dk1"/>
                </a:solidFill>
                <a:latin typeface="Calibri"/>
                <a:ea typeface="Calibri"/>
                <a:cs typeface="Calibri"/>
                <a:sym typeface="Calibri"/>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8" name="Shape 448"/>
        <p:cNvGrpSpPr/>
        <p:nvPr/>
      </p:nvGrpSpPr>
      <p:grpSpPr>
        <a:xfrm>
          <a:off x="0" y="0"/>
          <a:ext cx="0" cy="0"/>
          <a:chOff x="0" y="0"/>
          <a:chExt cx="0" cy="0"/>
        </a:xfrm>
      </p:grpSpPr>
      <p:sp>
        <p:nvSpPr>
          <p:cNvPr id="449" name="Google Shape;449;g3a866401fb7_1_217"/>
          <p:cNvSpPr/>
          <p:nvPr/>
        </p:nvSpPr>
        <p:spPr>
          <a:xfrm>
            <a:off x="0" y="0"/>
            <a:ext cx="12192000" cy="14019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0" name="Google Shape;450;g3a866401fb7_1_217"/>
          <p:cNvSpPr/>
          <p:nvPr/>
        </p:nvSpPr>
        <p:spPr>
          <a:xfrm>
            <a:off x="609600" y="268224"/>
            <a:ext cx="10972800" cy="853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Construcción del Dataset</a:t>
            </a:r>
            <a:endParaRPr b="0" i="0" sz="3500" u="none" cap="none" strike="noStrike">
              <a:solidFill>
                <a:schemeClr val="dk1"/>
              </a:solidFill>
              <a:latin typeface="Calibri"/>
              <a:ea typeface="Calibri"/>
              <a:cs typeface="Calibri"/>
              <a:sym typeface="Calibri"/>
            </a:endParaRPr>
          </a:p>
        </p:txBody>
      </p:sp>
      <p:sp>
        <p:nvSpPr>
          <p:cNvPr id="451" name="Google Shape;451;g3a866401fb7_1_217"/>
          <p:cNvSpPr/>
          <p:nvPr/>
        </p:nvSpPr>
        <p:spPr>
          <a:xfrm>
            <a:off x="48768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2" name="Google Shape;452;g3a866401fb7_1_217"/>
          <p:cNvSpPr/>
          <p:nvPr/>
        </p:nvSpPr>
        <p:spPr>
          <a:xfrm>
            <a:off x="48768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5100"/>
              <a:buFont typeface="Calibri"/>
              <a:buNone/>
            </a:pPr>
            <a:r>
              <a:rPr b="1" i="0" lang="en-US" sz="5100" u="none" cap="none" strike="noStrike">
                <a:solidFill>
                  <a:srgbClr val="2F3C7E"/>
                </a:solidFill>
                <a:latin typeface="Calibri"/>
                <a:ea typeface="Calibri"/>
                <a:cs typeface="Calibri"/>
                <a:sym typeface="Calibri"/>
              </a:rPr>
              <a:t>500</a:t>
            </a:r>
            <a:endParaRPr b="0" i="0" sz="5100" u="none" cap="none" strike="noStrike">
              <a:solidFill>
                <a:schemeClr val="dk1"/>
              </a:solidFill>
              <a:latin typeface="Calibri"/>
              <a:ea typeface="Calibri"/>
              <a:cs typeface="Calibri"/>
              <a:sym typeface="Calibri"/>
            </a:endParaRPr>
          </a:p>
        </p:txBody>
      </p:sp>
      <p:sp>
        <p:nvSpPr>
          <p:cNvPr id="453" name="Google Shape;453;g3a866401fb7_1_217"/>
          <p:cNvSpPr/>
          <p:nvPr/>
        </p:nvSpPr>
        <p:spPr>
          <a:xfrm>
            <a:off x="48768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800" u="none" cap="none" strike="noStrike">
                <a:solidFill>
                  <a:srgbClr val="64748B"/>
                </a:solidFill>
                <a:latin typeface="Calibri"/>
                <a:ea typeface="Calibri"/>
                <a:cs typeface="Calibri"/>
                <a:sym typeface="Calibri"/>
              </a:rPr>
              <a:t>Registros totales</a:t>
            </a:r>
            <a:endParaRPr b="1" i="0" sz="1800" u="none" cap="none" strike="noStrike">
              <a:solidFill>
                <a:schemeClr val="dk1"/>
              </a:solidFill>
              <a:latin typeface="Calibri"/>
              <a:ea typeface="Calibri"/>
              <a:cs typeface="Calibri"/>
              <a:sym typeface="Calibri"/>
            </a:endParaRPr>
          </a:p>
        </p:txBody>
      </p:sp>
      <p:sp>
        <p:nvSpPr>
          <p:cNvPr id="454" name="Google Shape;454;g3a866401fb7_1_217"/>
          <p:cNvSpPr/>
          <p:nvPr/>
        </p:nvSpPr>
        <p:spPr>
          <a:xfrm>
            <a:off x="329184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g3a866401fb7_1_217"/>
          <p:cNvSpPr/>
          <p:nvPr/>
        </p:nvSpPr>
        <p:spPr>
          <a:xfrm>
            <a:off x="329184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5100"/>
              <a:buFont typeface="Calibri"/>
              <a:buNone/>
            </a:pPr>
            <a:r>
              <a:rPr b="1" i="0" lang="en-US" sz="5100" u="none" cap="none" strike="noStrike">
                <a:solidFill>
                  <a:srgbClr val="990011"/>
                </a:solidFill>
                <a:latin typeface="Calibri"/>
                <a:ea typeface="Calibri"/>
                <a:cs typeface="Calibri"/>
                <a:sym typeface="Calibri"/>
              </a:rPr>
              <a:t>130</a:t>
            </a:r>
            <a:endParaRPr b="0" i="0" sz="5100" u="none" cap="none" strike="noStrike">
              <a:solidFill>
                <a:schemeClr val="dk1"/>
              </a:solidFill>
              <a:latin typeface="Calibri"/>
              <a:ea typeface="Calibri"/>
              <a:cs typeface="Calibri"/>
              <a:sym typeface="Calibri"/>
            </a:endParaRPr>
          </a:p>
        </p:txBody>
      </p:sp>
      <p:sp>
        <p:nvSpPr>
          <p:cNvPr id="456" name="Google Shape;456;g3a866401fb7_1_217"/>
          <p:cNvSpPr/>
          <p:nvPr/>
        </p:nvSpPr>
        <p:spPr>
          <a:xfrm>
            <a:off x="329184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700" u="none" cap="none" strike="noStrike">
                <a:solidFill>
                  <a:srgbClr val="64748B"/>
                </a:solidFill>
                <a:latin typeface="Calibri"/>
                <a:ea typeface="Calibri"/>
                <a:cs typeface="Calibri"/>
                <a:sym typeface="Calibri"/>
              </a:rPr>
              <a:t>Muertos (26%)</a:t>
            </a:r>
            <a:endParaRPr b="1" i="0" sz="1700" u="none" cap="none" strike="noStrike">
              <a:solidFill>
                <a:schemeClr val="dk1"/>
              </a:solidFill>
              <a:latin typeface="Calibri"/>
              <a:ea typeface="Calibri"/>
              <a:cs typeface="Calibri"/>
              <a:sym typeface="Calibri"/>
            </a:endParaRPr>
          </a:p>
        </p:txBody>
      </p:sp>
      <p:sp>
        <p:nvSpPr>
          <p:cNvPr id="457" name="Google Shape;457;g3a866401fb7_1_217"/>
          <p:cNvSpPr/>
          <p:nvPr/>
        </p:nvSpPr>
        <p:spPr>
          <a:xfrm>
            <a:off x="609600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8" name="Google Shape;458;g3a866401fb7_1_217"/>
          <p:cNvSpPr/>
          <p:nvPr/>
        </p:nvSpPr>
        <p:spPr>
          <a:xfrm>
            <a:off x="609600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5100"/>
              <a:buFont typeface="Calibri"/>
              <a:buNone/>
            </a:pPr>
            <a:r>
              <a:rPr b="1" i="0" lang="en-US" sz="5100" u="none" cap="none" strike="noStrike">
                <a:solidFill>
                  <a:srgbClr val="166534"/>
                </a:solidFill>
                <a:latin typeface="Calibri"/>
                <a:ea typeface="Calibri"/>
                <a:cs typeface="Calibri"/>
                <a:sym typeface="Calibri"/>
              </a:rPr>
              <a:t>370</a:t>
            </a:r>
            <a:endParaRPr b="0" i="0" sz="5100" u="none" cap="none" strike="noStrike">
              <a:solidFill>
                <a:schemeClr val="dk1"/>
              </a:solidFill>
              <a:latin typeface="Calibri"/>
              <a:ea typeface="Calibri"/>
              <a:cs typeface="Calibri"/>
              <a:sym typeface="Calibri"/>
            </a:endParaRPr>
          </a:p>
        </p:txBody>
      </p:sp>
      <p:sp>
        <p:nvSpPr>
          <p:cNvPr id="459" name="Google Shape;459;g3a866401fb7_1_217"/>
          <p:cNvSpPr/>
          <p:nvPr/>
        </p:nvSpPr>
        <p:spPr>
          <a:xfrm>
            <a:off x="609600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700" u="none" cap="none" strike="noStrike">
                <a:solidFill>
                  <a:srgbClr val="64748B"/>
                </a:solidFill>
                <a:latin typeface="Calibri"/>
                <a:ea typeface="Calibri"/>
                <a:cs typeface="Calibri"/>
                <a:sym typeface="Calibri"/>
              </a:rPr>
              <a:t>Heridos aleatorios (74%)</a:t>
            </a:r>
            <a:endParaRPr b="1" i="0" sz="1700" u="none" cap="none" strike="noStrike">
              <a:solidFill>
                <a:schemeClr val="dk1"/>
              </a:solidFill>
              <a:latin typeface="Calibri"/>
              <a:ea typeface="Calibri"/>
              <a:cs typeface="Calibri"/>
              <a:sym typeface="Calibri"/>
            </a:endParaRPr>
          </a:p>
        </p:txBody>
      </p:sp>
      <p:sp>
        <p:nvSpPr>
          <p:cNvPr id="460" name="Google Shape;460;g3a866401fb7_1_217"/>
          <p:cNvSpPr/>
          <p:nvPr/>
        </p:nvSpPr>
        <p:spPr>
          <a:xfrm>
            <a:off x="890016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1" name="Google Shape;461;g3a866401fb7_1_217"/>
          <p:cNvSpPr/>
          <p:nvPr/>
        </p:nvSpPr>
        <p:spPr>
          <a:xfrm>
            <a:off x="890016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5100"/>
              <a:buFont typeface="Calibri"/>
              <a:buNone/>
            </a:pPr>
            <a:r>
              <a:rPr b="1" i="0" lang="en-US" sz="5100" u="none" cap="none" strike="noStrike">
                <a:solidFill>
                  <a:srgbClr val="64748B"/>
                </a:solidFill>
                <a:latin typeface="Calibri"/>
                <a:ea typeface="Calibri"/>
                <a:cs typeface="Calibri"/>
                <a:sym typeface="Calibri"/>
              </a:rPr>
              <a:t>32</a:t>
            </a:r>
            <a:endParaRPr b="0" i="0" sz="5100" u="none" cap="none" strike="noStrike">
              <a:solidFill>
                <a:schemeClr val="dk1"/>
              </a:solidFill>
              <a:latin typeface="Calibri"/>
              <a:ea typeface="Calibri"/>
              <a:cs typeface="Calibri"/>
              <a:sym typeface="Calibri"/>
            </a:endParaRPr>
          </a:p>
        </p:txBody>
      </p:sp>
      <p:sp>
        <p:nvSpPr>
          <p:cNvPr id="462" name="Google Shape;462;g3a866401fb7_1_217"/>
          <p:cNvSpPr/>
          <p:nvPr/>
        </p:nvSpPr>
        <p:spPr>
          <a:xfrm>
            <a:off x="890016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1" i="0" lang="en-US" sz="1800" u="none" cap="none" strike="noStrike">
                <a:solidFill>
                  <a:srgbClr val="64748B"/>
                </a:solidFill>
                <a:latin typeface="Calibri"/>
                <a:ea typeface="Calibri"/>
                <a:cs typeface="Calibri"/>
                <a:sym typeface="Calibri"/>
              </a:rPr>
              <a:t>Columnas originales</a:t>
            </a:r>
            <a:endParaRPr b="1" i="0" sz="1800" u="none" cap="none" strike="noStrike">
              <a:solidFill>
                <a:schemeClr val="dk1"/>
              </a:solidFill>
              <a:latin typeface="Calibri"/>
              <a:ea typeface="Calibri"/>
              <a:cs typeface="Calibri"/>
              <a:sym typeface="Calibri"/>
            </a:endParaRPr>
          </a:p>
        </p:txBody>
      </p:sp>
      <p:pic>
        <p:nvPicPr>
          <p:cNvPr id="463" name="Google Shape;463;g3a866401fb7_1_217"/>
          <p:cNvPicPr preferRelativeResize="0"/>
          <p:nvPr/>
        </p:nvPicPr>
        <p:blipFill rotWithShape="1">
          <a:blip r:embed="rId3">
            <a:alphaModFix/>
          </a:blip>
          <a:srcRect b="0" l="0" r="0" t="0"/>
          <a:stretch/>
        </p:blipFill>
        <p:spPr>
          <a:xfrm>
            <a:off x="487680" y="3596640"/>
            <a:ext cx="5486400" cy="2804100"/>
          </a:xfrm>
          <a:prstGeom prst="rect">
            <a:avLst/>
          </a:prstGeom>
          <a:noFill/>
          <a:ln>
            <a:noFill/>
          </a:ln>
        </p:spPr>
      </p:pic>
      <p:sp>
        <p:nvSpPr>
          <p:cNvPr id="464" name="Google Shape;464;g3a866401fb7_1_217"/>
          <p:cNvSpPr/>
          <p:nvPr/>
        </p:nvSpPr>
        <p:spPr>
          <a:xfrm>
            <a:off x="6339840" y="3596640"/>
            <a:ext cx="5364300" cy="280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sz="1500"/>
          </a:p>
        </p:txBody>
      </p:sp>
      <p:sp>
        <p:nvSpPr>
          <p:cNvPr id="465" name="Google Shape;465;g3a866401fb7_1_217"/>
          <p:cNvSpPr/>
          <p:nvPr/>
        </p:nvSpPr>
        <p:spPr>
          <a:xfrm>
            <a:off x="6461760" y="3718560"/>
            <a:ext cx="4998900" cy="487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700"/>
              <a:buFont typeface="Calibri"/>
              <a:buNone/>
            </a:pPr>
            <a:r>
              <a:rPr b="1" i="0" lang="en-US" sz="1700" u="none" cap="none" strike="noStrike">
                <a:solidFill>
                  <a:srgbClr val="1C2951"/>
                </a:solidFill>
                <a:latin typeface="Calibri"/>
                <a:ea typeface="Calibri"/>
                <a:cs typeface="Calibri"/>
                <a:sym typeface="Calibri"/>
              </a:rPr>
              <a:t>Estrategia de Muestreo</a:t>
            </a:r>
            <a:endParaRPr b="0" i="0" sz="1700" u="none" cap="none" strike="noStrike">
              <a:solidFill>
                <a:schemeClr val="dk1"/>
              </a:solidFill>
              <a:latin typeface="Calibri"/>
              <a:ea typeface="Calibri"/>
              <a:cs typeface="Calibri"/>
              <a:sym typeface="Calibri"/>
            </a:endParaRPr>
          </a:p>
        </p:txBody>
      </p:sp>
      <p:sp>
        <p:nvSpPr>
          <p:cNvPr id="466" name="Google Shape;466;g3a866401fb7_1_217"/>
          <p:cNvSpPr/>
          <p:nvPr/>
        </p:nvSpPr>
        <p:spPr>
          <a:xfrm>
            <a:off x="6397200" y="4206050"/>
            <a:ext cx="5364300" cy="1889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1. Se leen todos los registros del archivo (500).</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2. Se toman TODOS los Muertos (130) sin excepción.</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3. Los 370 Heridos se leen en orden aleatorio (sample frac=1).</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4. Ambos grupos se mezclan aleatoriamente (seed=42).</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5. Resultado: dataset reproducible y sin fuga de datos.</a:t>
            </a:r>
            <a:endParaRPr b="0" i="0" sz="1700" u="none" cap="none" strike="noStrike">
              <a:solidFill>
                <a:schemeClr val="dk1"/>
              </a:solidFill>
              <a:latin typeface="Calibri"/>
              <a:ea typeface="Calibri"/>
              <a:cs typeface="Calibri"/>
              <a:sym typeface="Calibri"/>
            </a:endParaRPr>
          </a:p>
        </p:txBody>
      </p:sp>
      <p:grpSp>
        <p:nvGrpSpPr>
          <p:cNvPr id="467" name="Google Shape;467;g3a866401fb7_1_217"/>
          <p:cNvGrpSpPr/>
          <p:nvPr/>
        </p:nvGrpSpPr>
        <p:grpSpPr>
          <a:xfrm>
            <a:off x="9286725" y="444500"/>
            <a:ext cx="2557800" cy="409200"/>
            <a:chOff x="609600" y="304800"/>
            <a:chExt cx="2557800" cy="409200"/>
          </a:xfrm>
        </p:grpSpPr>
        <p:sp>
          <p:nvSpPr>
            <p:cNvPr id="468" name="Google Shape;468;g3a866401fb7_1_217"/>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300"/>
            </a:p>
          </p:txBody>
        </p:sp>
        <p:sp>
          <p:nvSpPr>
            <p:cNvPr id="469" name="Google Shape;469;g3a866401fb7_1_217"/>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159">
                  <a:solidFill>
                    <a:srgbClr val="FFFFFF"/>
                  </a:solidFill>
                  <a:latin typeface="Calibri"/>
                  <a:ea typeface="Calibri"/>
                  <a:cs typeface="Calibri"/>
                  <a:sym typeface="Calibri"/>
                </a:rPr>
                <a:t>Random Forest</a:t>
              </a:r>
              <a:endParaRPr b="0" i="0" sz="2159" u="none" cap="none" strike="noStrike">
                <a:solidFill>
                  <a:schemeClr val="dk1"/>
                </a:solidFill>
                <a:latin typeface="Calibri"/>
                <a:ea typeface="Calibri"/>
                <a:cs typeface="Calibri"/>
                <a:sym typeface="Calibri"/>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3a86323efb1_2_216"/>
          <p:cNvSpPr/>
          <p:nvPr/>
        </p:nvSpPr>
        <p:spPr>
          <a:xfrm>
            <a:off x="0" y="0"/>
            <a:ext cx="12192000" cy="13413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5" name="Google Shape;475;g3a86323efb1_2_216"/>
          <p:cNvSpPr/>
          <p:nvPr/>
        </p:nvSpPr>
        <p:spPr>
          <a:xfrm>
            <a:off x="609600" y="219456"/>
            <a:ext cx="10972800" cy="878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Resultados del Modelo</a:t>
            </a:r>
            <a:endParaRPr b="0" i="0" sz="3500" u="none" cap="none" strike="noStrike">
              <a:solidFill>
                <a:schemeClr val="dk1"/>
              </a:solidFill>
              <a:latin typeface="Calibri"/>
              <a:ea typeface="Calibri"/>
              <a:cs typeface="Calibri"/>
              <a:sym typeface="Calibri"/>
            </a:endParaRPr>
          </a:p>
        </p:txBody>
      </p:sp>
      <p:sp>
        <p:nvSpPr>
          <p:cNvPr id="476" name="Google Shape;476;g3a86323efb1_2_216"/>
          <p:cNvSpPr/>
          <p:nvPr/>
        </p:nvSpPr>
        <p:spPr>
          <a:xfrm>
            <a:off x="426720"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7" name="Google Shape;477;g3a86323efb1_2_216"/>
          <p:cNvSpPr/>
          <p:nvPr/>
        </p:nvSpPr>
        <p:spPr>
          <a:xfrm>
            <a:off x="426720"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5300"/>
              <a:buFont typeface="Calibri"/>
              <a:buNone/>
            </a:pPr>
            <a:r>
              <a:rPr b="1" i="0" lang="en-US" sz="5300" u="none" cap="none" strike="noStrike">
                <a:solidFill>
                  <a:srgbClr val="166534"/>
                </a:solidFill>
                <a:latin typeface="Calibri"/>
                <a:ea typeface="Calibri"/>
                <a:cs typeface="Calibri"/>
                <a:sym typeface="Calibri"/>
              </a:rPr>
              <a:t>0.</a:t>
            </a:r>
            <a:r>
              <a:rPr b="1" lang="en-US" sz="5300">
                <a:solidFill>
                  <a:srgbClr val="166534"/>
                </a:solidFill>
                <a:latin typeface="Calibri"/>
                <a:ea typeface="Calibri"/>
                <a:cs typeface="Calibri"/>
                <a:sym typeface="Calibri"/>
              </a:rPr>
              <a:t>6861</a:t>
            </a:r>
            <a:endParaRPr b="0" i="0" sz="5300" u="none" cap="none" strike="noStrike">
              <a:solidFill>
                <a:schemeClr val="dk1"/>
              </a:solidFill>
              <a:latin typeface="Calibri"/>
              <a:ea typeface="Calibri"/>
              <a:cs typeface="Calibri"/>
              <a:sym typeface="Calibri"/>
            </a:endParaRPr>
          </a:p>
        </p:txBody>
      </p:sp>
      <p:sp>
        <p:nvSpPr>
          <p:cNvPr id="478" name="Google Shape;478;g3a86323efb1_2_216"/>
          <p:cNvSpPr/>
          <p:nvPr/>
        </p:nvSpPr>
        <p:spPr>
          <a:xfrm>
            <a:off x="426720"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AUC-ROC</a:t>
            </a:r>
            <a:endParaRPr b="0" i="0" sz="1600" u="none" cap="none" strike="noStrike">
              <a:solidFill>
                <a:schemeClr val="dk1"/>
              </a:solidFill>
              <a:latin typeface="Calibri"/>
              <a:ea typeface="Calibri"/>
              <a:cs typeface="Calibri"/>
              <a:sym typeface="Calibri"/>
            </a:endParaRPr>
          </a:p>
        </p:txBody>
      </p:sp>
      <p:sp>
        <p:nvSpPr>
          <p:cNvPr id="479" name="Google Shape;479;g3a86323efb1_2_216"/>
          <p:cNvSpPr/>
          <p:nvPr/>
        </p:nvSpPr>
        <p:spPr>
          <a:xfrm>
            <a:off x="426720"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Capacidad discriminante</a:t>
            </a:r>
            <a:endParaRPr b="1" i="0" sz="1600" u="none" cap="none" strike="noStrike">
              <a:solidFill>
                <a:schemeClr val="dk1"/>
              </a:solidFill>
              <a:latin typeface="Calibri"/>
              <a:ea typeface="Calibri"/>
              <a:cs typeface="Calibri"/>
              <a:sym typeface="Calibri"/>
            </a:endParaRPr>
          </a:p>
        </p:txBody>
      </p:sp>
      <p:sp>
        <p:nvSpPr>
          <p:cNvPr id="480" name="Google Shape;480;g3a86323efb1_2_216"/>
          <p:cNvSpPr/>
          <p:nvPr/>
        </p:nvSpPr>
        <p:spPr>
          <a:xfrm>
            <a:off x="3328416"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1" name="Google Shape;481;g3a86323efb1_2_216"/>
          <p:cNvSpPr/>
          <p:nvPr/>
        </p:nvSpPr>
        <p:spPr>
          <a:xfrm>
            <a:off x="3328416"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5300"/>
              <a:buFont typeface="Calibri"/>
              <a:buNone/>
            </a:pPr>
            <a:r>
              <a:rPr b="1" i="0" lang="en-US" sz="5300" u="none" cap="none" strike="noStrike">
                <a:solidFill>
                  <a:srgbClr val="2F3C7E"/>
                </a:solidFill>
                <a:latin typeface="Calibri"/>
                <a:ea typeface="Calibri"/>
                <a:cs typeface="Calibri"/>
                <a:sym typeface="Calibri"/>
              </a:rPr>
              <a:t>0.</a:t>
            </a:r>
            <a:r>
              <a:rPr b="1" lang="en-US" sz="5300">
                <a:solidFill>
                  <a:srgbClr val="2F3C7E"/>
                </a:solidFill>
                <a:latin typeface="Calibri"/>
                <a:ea typeface="Calibri"/>
                <a:cs typeface="Calibri"/>
                <a:sym typeface="Calibri"/>
              </a:rPr>
              <a:t>5</a:t>
            </a:r>
            <a:r>
              <a:rPr b="1" i="0" lang="en-US" sz="5300" u="none" cap="none" strike="noStrike">
                <a:solidFill>
                  <a:srgbClr val="2F3C7E"/>
                </a:solidFill>
                <a:latin typeface="Calibri"/>
                <a:ea typeface="Calibri"/>
                <a:cs typeface="Calibri"/>
                <a:sym typeface="Calibri"/>
              </a:rPr>
              <a:t>3</a:t>
            </a:r>
            <a:endParaRPr b="0" i="0" sz="5300" u="none" cap="none" strike="noStrike">
              <a:solidFill>
                <a:schemeClr val="dk1"/>
              </a:solidFill>
              <a:latin typeface="Calibri"/>
              <a:ea typeface="Calibri"/>
              <a:cs typeface="Calibri"/>
              <a:sym typeface="Calibri"/>
            </a:endParaRPr>
          </a:p>
        </p:txBody>
      </p:sp>
      <p:sp>
        <p:nvSpPr>
          <p:cNvPr id="482" name="Google Shape;482;g3a86323efb1_2_216"/>
          <p:cNvSpPr/>
          <p:nvPr/>
        </p:nvSpPr>
        <p:spPr>
          <a:xfrm>
            <a:off x="3328416"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F1-Score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483" name="Google Shape;483;g3a86323efb1_2_216"/>
          <p:cNvSpPr/>
          <p:nvPr/>
        </p:nvSpPr>
        <p:spPr>
          <a:xfrm>
            <a:off x="3328416"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Balance Recall / Precisión</a:t>
            </a:r>
            <a:endParaRPr b="1" i="0" sz="1600" u="none" cap="none" strike="noStrike">
              <a:solidFill>
                <a:schemeClr val="dk1"/>
              </a:solidFill>
              <a:latin typeface="Calibri"/>
              <a:ea typeface="Calibri"/>
              <a:cs typeface="Calibri"/>
              <a:sym typeface="Calibri"/>
            </a:endParaRPr>
          </a:p>
        </p:txBody>
      </p:sp>
      <p:sp>
        <p:nvSpPr>
          <p:cNvPr id="484" name="Google Shape;484;g3a86323efb1_2_216"/>
          <p:cNvSpPr/>
          <p:nvPr/>
        </p:nvSpPr>
        <p:spPr>
          <a:xfrm>
            <a:off x="6230112"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5" name="Google Shape;485;g3a86323efb1_2_216"/>
          <p:cNvSpPr/>
          <p:nvPr/>
        </p:nvSpPr>
        <p:spPr>
          <a:xfrm>
            <a:off x="6230112"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7490"/>
              </a:buClr>
              <a:buSzPts val="5300"/>
              <a:buFont typeface="Calibri"/>
              <a:buNone/>
            </a:pPr>
            <a:r>
              <a:rPr b="1" lang="en-US" sz="5300">
                <a:solidFill>
                  <a:srgbClr val="0E7490"/>
                </a:solidFill>
                <a:latin typeface="Calibri"/>
                <a:ea typeface="Calibri"/>
                <a:cs typeface="Calibri"/>
                <a:sym typeface="Calibri"/>
              </a:rPr>
              <a:t>62</a:t>
            </a:r>
            <a:r>
              <a:rPr b="1" i="0" lang="en-US" sz="5300" u="none" cap="none" strike="noStrike">
                <a:solidFill>
                  <a:srgbClr val="0E7490"/>
                </a:solidFill>
                <a:latin typeface="Calibri"/>
                <a:ea typeface="Calibri"/>
                <a:cs typeface="Calibri"/>
                <a:sym typeface="Calibri"/>
              </a:rPr>
              <a:t>%</a:t>
            </a:r>
            <a:endParaRPr b="0" i="0" sz="5300" u="none" cap="none" strike="noStrike">
              <a:solidFill>
                <a:schemeClr val="dk1"/>
              </a:solidFill>
              <a:latin typeface="Calibri"/>
              <a:ea typeface="Calibri"/>
              <a:cs typeface="Calibri"/>
              <a:sym typeface="Calibri"/>
            </a:endParaRPr>
          </a:p>
        </p:txBody>
      </p:sp>
      <p:sp>
        <p:nvSpPr>
          <p:cNvPr id="486" name="Google Shape;486;g3a86323efb1_2_216"/>
          <p:cNvSpPr/>
          <p:nvPr/>
        </p:nvSpPr>
        <p:spPr>
          <a:xfrm>
            <a:off x="6230112"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Recall</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487" name="Google Shape;487;g3a86323efb1_2_216"/>
          <p:cNvSpPr/>
          <p:nvPr/>
        </p:nvSpPr>
        <p:spPr>
          <a:xfrm>
            <a:off x="6230112"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Muertes reales detectadas</a:t>
            </a:r>
            <a:endParaRPr b="1" i="0" sz="1600" u="none" cap="none" strike="noStrike">
              <a:solidFill>
                <a:schemeClr val="dk1"/>
              </a:solidFill>
              <a:latin typeface="Calibri"/>
              <a:ea typeface="Calibri"/>
              <a:cs typeface="Calibri"/>
              <a:sym typeface="Calibri"/>
            </a:endParaRPr>
          </a:p>
        </p:txBody>
      </p:sp>
      <p:sp>
        <p:nvSpPr>
          <p:cNvPr id="488" name="Google Shape;488;g3a86323efb1_2_216"/>
          <p:cNvSpPr/>
          <p:nvPr/>
        </p:nvSpPr>
        <p:spPr>
          <a:xfrm>
            <a:off x="9131808"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9" name="Google Shape;489;g3a86323efb1_2_216"/>
          <p:cNvSpPr/>
          <p:nvPr/>
        </p:nvSpPr>
        <p:spPr>
          <a:xfrm>
            <a:off x="9131808"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5300"/>
              <a:buFont typeface="Calibri"/>
              <a:buNone/>
            </a:pPr>
            <a:r>
              <a:rPr b="1" lang="en-US" sz="5300">
                <a:solidFill>
                  <a:srgbClr val="990011"/>
                </a:solidFill>
                <a:latin typeface="Calibri"/>
                <a:ea typeface="Calibri"/>
                <a:cs typeface="Calibri"/>
                <a:sym typeface="Calibri"/>
              </a:rPr>
              <a:t>0.47</a:t>
            </a:r>
            <a:r>
              <a:rPr b="1" i="0" lang="en-US" sz="5300" u="none" cap="none" strike="noStrike">
                <a:solidFill>
                  <a:srgbClr val="990011"/>
                </a:solidFill>
                <a:latin typeface="Calibri"/>
                <a:ea typeface="Calibri"/>
                <a:cs typeface="Calibri"/>
                <a:sym typeface="Calibri"/>
              </a:rPr>
              <a:t>%</a:t>
            </a:r>
            <a:endParaRPr b="0" i="0" sz="5300" u="none" cap="none" strike="noStrike">
              <a:solidFill>
                <a:schemeClr val="dk1"/>
              </a:solidFill>
              <a:latin typeface="Calibri"/>
              <a:ea typeface="Calibri"/>
              <a:cs typeface="Calibri"/>
              <a:sym typeface="Calibri"/>
            </a:endParaRPr>
          </a:p>
        </p:txBody>
      </p:sp>
      <p:sp>
        <p:nvSpPr>
          <p:cNvPr id="490" name="Google Shape;490;g3a86323efb1_2_216"/>
          <p:cNvSpPr/>
          <p:nvPr/>
        </p:nvSpPr>
        <p:spPr>
          <a:xfrm>
            <a:off x="9131808"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Precisión</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491" name="Google Shape;491;g3a86323efb1_2_216"/>
          <p:cNvSpPr/>
          <p:nvPr/>
        </p:nvSpPr>
        <p:spPr>
          <a:xfrm>
            <a:off x="9131808"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Sin falsos positivos</a:t>
            </a:r>
            <a:endParaRPr b="1" i="0" sz="1600" u="none" cap="none" strike="noStrike">
              <a:solidFill>
                <a:schemeClr val="dk1"/>
              </a:solidFill>
              <a:latin typeface="Calibri"/>
              <a:ea typeface="Calibri"/>
              <a:cs typeface="Calibri"/>
              <a:sym typeface="Calibri"/>
            </a:endParaRPr>
          </a:p>
        </p:txBody>
      </p:sp>
      <p:sp>
        <p:nvSpPr>
          <p:cNvPr id="492" name="Google Shape;492;g3a86323efb1_2_216"/>
          <p:cNvSpPr/>
          <p:nvPr/>
        </p:nvSpPr>
        <p:spPr>
          <a:xfrm>
            <a:off x="426720" y="4084320"/>
            <a:ext cx="21336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3" name="Google Shape;493;g3a86323efb1_2_216"/>
          <p:cNvSpPr/>
          <p:nvPr/>
        </p:nvSpPr>
        <p:spPr>
          <a:xfrm>
            <a:off x="487680" y="4084320"/>
            <a:ext cx="21336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Clase</a:t>
            </a:r>
            <a:endParaRPr b="0" i="0" sz="1400" u="none" cap="none" strike="noStrike">
              <a:solidFill>
                <a:schemeClr val="dk1"/>
              </a:solidFill>
              <a:latin typeface="Calibri"/>
              <a:ea typeface="Calibri"/>
              <a:cs typeface="Calibri"/>
              <a:sym typeface="Calibri"/>
            </a:endParaRPr>
          </a:p>
        </p:txBody>
      </p:sp>
      <p:sp>
        <p:nvSpPr>
          <p:cNvPr id="494" name="Google Shape;494;g3a86323efb1_2_216"/>
          <p:cNvSpPr/>
          <p:nvPr/>
        </p:nvSpPr>
        <p:spPr>
          <a:xfrm>
            <a:off x="262128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5" name="Google Shape;495;g3a86323efb1_2_216"/>
          <p:cNvSpPr/>
          <p:nvPr/>
        </p:nvSpPr>
        <p:spPr>
          <a:xfrm>
            <a:off x="268224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Precisión</a:t>
            </a:r>
            <a:endParaRPr b="0" i="0" sz="1400" u="none" cap="none" strike="noStrike">
              <a:solidFill>
                <a:schemeClr val="dk1"/>
              </a:solidFill>
              <a:latin typeface="Calibri"/>
              <a:ea typeface="Calibri"/>
              <a:cs typeface="Calibri"/>
              <a:sym typeface="Calibri"/>
            </a:endParaRPr>
          </a:p>
        </p:txBody>
      </p:sp>
      <p:sp>
        <p:nvSpPr>
          <p:cNvPr id="496" name="Google Shape;496;g3a86323efb1_2_216"/>
          <p:cNvSpPr/>
          <p:nvPr/>
        </p:nvSpPr>
        <p:spPr>
          <a:xfrm>
            <a:off x="432816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7" name="Google Shape;497;g3a86323efb1_2_216"/>
          <p:cNvSpPr/>
          <p:nvPr/>
        </p:nvSpPr>
        <p:spPr>
          <a:xfrm>
            <a:off x="438912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Recall</a:t>
            </a:r>
            <a:endParaRPr b="0" i="0" sz="1400" u="none" cap="none" strike="noStrike">
              <a:solidFill>
                <a:schemeClr val="dk1"/>
              </a:solidFill>
              <a:latin typeface="Calibri"/>
              <a:ea typeface="Calibri"/>
              <a:cs typeface="Calibri"/>
              <a:sym typeface="Calibri"/>
            </a:endParaRPr>
          </a:p>
        </p:txBody>
      </p:sp>
      <p:sp>
        <p:nvSpPr>
          <p:cNvPr id="498" name="Google Shape;498;g3a86323efb1_2_216"/>
          <p:cNvSpPr/>
          <p:nvPr/>
        </p:nvSpPr>
        <p:spPr>
          <a:xfrm>
            <a:off x="603504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g3a86323efb1_2_216"/>
          <p:cNvSpPr/>
          <p:nvPr/>
        </p:nvSpPr>
        <p:spPr>
          <a:xfrm>
            <a:off x="609600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F1-Score</a:t>
            </a:r>
            <a:endParaRPr b="0" i="0" sz="1400" u="none" cap="none" strike="noStrike">
              <a:solidFill>
                <a:schemeClr val="dk1"/>
              </a:solidFill>
              <a:latin typeface="Calibri"/>
              <a:ea typeface="Calibri"/>
              <a:cs typeface="Calibri"/>
              <a:sym typeface="Calibri"/>
            </a:endParaRPr>
          </a:p>
        </p:txBody>
      </p:sp>
      <p:sp>
        <p:nvSpPr>
          <p:cNvPr id="500" name="Google Shape;500;g3a86323efb1_2_216"/>
          <p:cNvSpPr/>
          <p:nvPr/>
        </p:nvSpPr>
        <p:spPr>
          <a:xfrm>
            <a:off x="774192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g3a86323efb1_2_216"/>
          <p:cNvSpPr/>
          <p:nvPr/>
        </p:nvSpPr>
        <p:spPr>
          <a:xfrm>
            <a:off x="780288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Soporte</a:t>
            </a:r>
            <a:endParaRPr b="0" i="0" sz="1400" u="none" cap="none" strike="noStrike">
              <a:solidFill>
                <a:schemeClr val="dk1"/>
              </a:solidFill>
              <a:latin typeface="Calibri"/>
              <a:ea typeface="Calibri"/>
              <a:cs typeface="Calibri"/>
              <a:sym typeface="Calibri"/>
            </a:endParaRPr>
          </a:p>
        </p:txBody>
      </p:sp>
      <p:sp>
        <p:nvSpPr>
          <p:cNvPr id="502" name="Google Shape;502;g3a86323efb1_2_216"/>
          <p:cNvSpPr/>
          <p:nvPr/>
        </p:nvSpPr>
        <p:spPr>
          <a:xfrm>
            <a:off x="426720" y="4547616"/>
            <a:ext cx="21336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3" name="Google Shape;503;g3a86323efb1_2_216"/>
          <p:cNvSpPr/>
          <p:nvPr/>
        </p:nvSpPr>
        <p:spPr>
          <a:xfrm>
            <a:off x="499872" y="454761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Heridos (0)</a:t>
            </a:r>
            <a:endParaRPr b="0" i="0" sz="1500" u="none" cap="none" strike="noStrike">
              <a:solidFill>
                <a:schemeClr val="dk1"/>
              </a:solidFill>
              <a:latin typeface="Calibri"/>
              <a:ea typeface="Calibri"/>
              <a:cs typeface="Calibri"/>
              <a:sym typeface="Calibri"/>
            </a:endParaRPr>
          </a:p>
        </p:txBody>
      </p:sp>
      <p:sp>
        <p:nvSpPr>
          <p:cNvPr id="504" name="Google Shape;504;g3a86323efb1_2_216"/>
          <p:cNvSpPr/>
          <p:nvPr/>
        </p:nvSpPr>
        <p:spPr>
          <a:xfrm>
            <a:off x="262128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5" name="Google Shape;505;g3a86323efb1_2_216"/>
          <p:cNvSpPr/>
          <p:nvPr/>
        </p:nvSpPr>
        <p:spPr>
          <a:xfrm>
            <a:off x="269443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0.8</a:t>
            </a:r>
            <a:r>
              <a:rPr lang="en-US" sz="1500">
                <a:solidFill>
                  <a:srgbClr val="1E293B"/>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506" name="Google Shape;506;g3a86323efb1_2_216"/>
          <p:cNvSpPr/>
          <p:nvPr/>
        </p:nvSpPr>
        <p:spPr>
          <a:xfrm>
            <a:off x="432816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7" name="Google Shape;507;g3a86323efb1_2_216"/>
          <p:cNvSpPr/>
          <p:nvPr/>
        </p:nvSpPr>
        <p:spPr>
          <a:xfrm>
            <a:off x="440131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0.76</a:t>
            </a:r>
            <a:endParaRPr b="0" i="0" sz="1500" u="none" cap="none" strike="noStrike">
              <a:solidFill>
                <a:schemeClr val="dk1"/>
              </a:solidFill>
              <a:latin typeface="Calibri"/>
              <a:ea typeface="Calibri"/>
              <a:cs typeface="Calibri"/>
              <a:sym typeface="Calibri"/>
            </a:endParaRPr>
          </a:p>
        </p:txBody>
      </p:sp>
      <p:sp>
        <p:nvSpPr>
          <p:cNvPr id="508" name="Google Shape;508;g3a86323efb1_2_216"/>
          <p:cNvSpPr/>
          <p:nvPr/>
        </p:nvSpPr>
        <p:spPr>
          <a:xfrm>
            <a:off x="603504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9" name="Google Shape;509;g3a86323efb1_2_216"/>
          <p:cNvSpPr/>
          <p:nvPr/>
        </p:nvSpPr>
        <p:spPr>
          <a:xfrm>
            <a:off x="610819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80</a:t>
            </a:r>
            <a:endParaRPr b="0" i="0" sz="1500" u="none" cap="none" strike="noStrike">
              <a:solidFill>
                <a:schemeClr val="dk1"/>
              </a:solidFill>
              <a:latin typeface="Calibri"/>
              <a:ea typeface="Calibri"/>
              <a:cs typeface="Calibri"/>
              <a:sym typeface="Calibri"/>
            </a:endParaRPr>
          </a:p>
        </p:txBody>
      </p:sp>
      <p:sp>
        <p:nvSpPr>
          <p:cNvPr id="510" name="Google Shape;510;g3a86323efb1_2_216"/>
          <p:cNvSpPr/>
          <p:nvPr/>
        </p:nvSpPr>
        <p:spPr>
          <a:xfrm>
            <a:off x="774192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1" name="Google Shape;511;g3a86323efb1_2_216"/>
          <p:cNvSpPr/>
          <p:nvPr/>
        </p:nvSpPr>
        <p:spPr>
          <a:xfrm>
            <a:off x="781507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74</a:t>
            </a:r>
            <a:endParaRPr b="0" i="0" sz="1500" u="none" cap="none" strike="noStrike">
              <a:solidFill>
                <a:schemeClr val="dk1"/>
              </a:solidFill>
              <a:latin typeface="Calibri"/>
              <a:ea typeface="Calibri"/>
              <a:cs typeface="Calibri"/>
              <a:sym typeface="Calibri"/>
            </a:endParaRPr>
          </a:p>
        </p:txBody>
      </p:sp>
      <p:sp>
        <p:nvSpPr>
          <p:cNvPr id="512" name="Google Shape;512;g3a86323efb1_2_216"/>
          <p:cNvSpPr/>
          <p:nvPr/>
        </p:nvSpPr>
        <p:spPr>
          <a:xfrm>
            <a:off x="426720" y="5035296"/>
            <a:ext cx="21336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3" name="Google Shape;513;g3a86323efb1_2_216"/>
          <p:cNvSpPr/>
          <p:nvPr/>
        </p:nvSpPr>
        <p:spPr>
          <a:xfrm>
            <a:off x="499872" y="503529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Muertos (1)</a:t>
            </a:r>
            <a:endParaRPr b="0" i="0" sz="1500" u="none" cap="none" strike="noStrike">
              <a:solidFill>
                <a:schemeClr val="dk1"/>
              </a:solidFill>
              <a:latin typeface="Calibri"/>
              <a:ea typeface="Calibri"/>
              <a:cs typeface="Calibri"/>
              <a:sym typeface="Calibri"/>
            </a:endParaRPr>
          </a:p>
        </p:txBody>
      </p:sp>
      <p:sp>
        <p:nvSpPr>
          <p:cNvPr id="514" name="Google Shape;514;g3a86323efb1_2_216"/>
          <p:cNvSpPr/>
          <p:nvPr/>
        </p:nvSpPr>
        <p:spPr>
          <a:xfrm>
            <a:off x="262128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5" name="Google Shape;515;g3a86323efb1_2_216"/>
          <p:cNvSpPr/>
          <p:nvPr/>
        </p:nvSpPr>
        <p:spPr>
          <a:xfrm>
            <a:off x="269443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lang="en-US" sz="1500">
                <a:solidFill>
                  <a:srgbClr val="1E293B"/>
                </a:solidFill>
                <a:latin typeface="Calibri"/>
                <a:ea typeface="Calibri"/>
                <a:cs typeface="Calibri"/>
                <a:sym typeface="Calibri"/>
              </a:rPr>
              <a:t>0.47</a:t>
            </a:r>
            <a:endParaRPr b="0" i="0" sz="1500" u="none" cap="none" strike="noStrike">
              <a:solidFill>
                <a:schemeClr val="dk1"/>
              </a:solidFill>
              <a:latin typeface="Calibri"/>
              <a:ea typeface="Calibri"/>
              <a:cs typeface="Calibri"/>
              <a:sym typeface="Calibri"/>
            </a:endParaRPr>
          </a:p>
        </p:txBody>
      </p:sp>
      <p:sp>
        <p:nvSpPr>
          <p:cNvPr id="516" name="Google Shape;516;g3a86323efb1_2_216"/>
          <p:cNvSpPr/>
          <p:nvPr/>
        </p:nvSpPr>
        <p:spPr>
          <a:xfrm>
            <a:off x="432816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7" name="Google Shape;517;g3a86323efb1_2_216"/>
          <p:cNvSpPr/>
          <p:nvPr/>
        </p:nvSpPr>
        <p:spPr>
          <a:xfrm>
            <a:off x="440131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62</a:t>
            </a:r>
            <a:endParaRPr b="0" i="0" sz="1500" u="none" cap="none" strike="noStrike">
              <a:solidFill>
                <a:schemeClr val="dk1"/>
              </a:solidFill>
              <a:latin typeface="Calibri"/>
              <a:ea typeface="Calibri"/>
              <a:cs typeface="Calibri"/>
              <a:sym typeface="Calibri"/>
            </a:endParaRPr>
          </a:p>
        </p:txBody>
      </p:sp>
      <p:sp>
        <p:nvSpPr>
          <p:cNvPr id="518" name="Google Shape;518;g3a86323efb1_2_216"/>
          <p:cNvSpPr/>
          <p:nvPr/>
        </p:nvSpPr>
        <p:spPr>
          <a:xfrm>
            <a:off x="603504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9" name="Google Shape;519;g3a86323efb1_2_216"/>
          <p:cNvSpPr/>
          <p:nvPr/>
        </p:nvSpPr>
        <p:spPr>
          <a:xfrm>
            <a:off x="610819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a:t>
            </a:r>
            <a:r>
              <a:rPr lang="en-US" sz="1500">
                <a:solidFill>
                  <a:srgbClr val="1E293B"/>
                </a:solidFill>
                <a:latin typeface="Calibri"/>
                <a:ea typeface="Calibri"/>
                <a:cs typeface="Calibri"/>
                <a:sym typeface="Calibri"/>
              </a:rPr>
              <a:t>53</a:t>
            </a:r>
            <a:endParaRPr b="0" i="0" sz="1500" u="none" cap="none" strike="noStrike">
              <a:solidFill>
                <a:schemeClr val="dk1"/>
              </a:solidFill>
              <a:latin typeface="Calibri"/>
              <a:ea typeface="Calibri"/>
              <a:cs typeface="Calibri"/>
              <a:sym typeface="Calibri"/>
            </a:endParaRPr>
          </a:p>
        </p:txBody>
      </p:sp>
      <p:sp>
        <p:nvSpPr>
          <p:cNvPr id="520" name="Google Shape;520;g3a86323efb1_2_216"/>
          <p:cNvSpPr/>
          <p:nvPr/>
        </p:nvSpPr>
        <p:spPr>
          <a:xfrm>
            <a:off x="774192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1" name="Google Shape;521;g3a86323efb1_2_216"/>
          <p:cNvSpPr/>
          <p:nvPr/>
        </p:nvSpPr>
        <p:spPr>
          <a:xfrm>
            <a:off x="781507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26</a:t>
            </a:r>
            <a:endParaRPr b="0" i="0" sz="1500" u="none" cap="none" strike="noStrike">
              <a:solidFill>
                <a:schemeClr val="dk1"/>
              </a:solidFill>
              <a:latin typeface="Calibri"/>
              <a:ea typeface="Calibri"/>
              <a:cs typeface="Calibri"/>
              <a:sym typeface="Calibri"/>
            </a:endParaRPr>
          </a:p>
        </p:txBody>
      </p:sp>
      <p:sp>
        <p:nvSpPr>
          <p:cNvPr id="522" name="Google Shape;522;g3a86323efb1_2_216"/>
          <p:cNvSpPr/>
          <p:nvPr/>
        </p:nvSpPr>
        <p:spPr>
          <a:xfrm>
            <a:off x="426720" y="5522976"/>
            <a:ext cx="21336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3" name="Google Shape;523;g3a86323efb1_2_216"/>
          <p:cNvSpPr/>
          <p:nvPr/>
        </p:nvSpPr>
        <p:spPr>
          <a:xfrm>
            <a:off x="499872" y="552297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Accuracy</a:t>
            </a:r>
            <a:endParaRPr b="0" i="0" sz="1500" u="none" cap="none" strike="noStrike">
              <a:solidFill>
                <a:schemeClr val="dk1"/>
              </a:solidFill>
              <a:latin typeface="Calibri"/>
              <a:ea typeface="Calibri"/>
              <a:cs typeface="Calibri"/>
              <a:sym typeface="Calibri"/>
            </a:endParaRPr>
          </a:p>
        </p:txBody>
      </p:sp>
      <p:sp>
        <p:nvSpPr>
          <p:cNvPr id="524" name="Google Shape;524;g3a86323efb1_2_216"/>
          <p:cNvSpPr/>
          <p:nvPr/>
        </p:nvSpPr>
        <p:spPr>
          <a:xfrm>
            <a:off x="262128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g3a86323efb1_2_216"/>
          <p:cNvSpPr/>
          <p:nvPr/>
        </p:nvSpPr>
        <p:spPr>
          <a:xfrm>
            <a:off x="269443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526" name="Google Shape;526;g3a86323efb1_2_216"/>
          <p:cNvSpPr/>
          <p:nvPr/>
        </p:nvSpPr>
        <p:spPr>
          <a:xfrm>
            <a:off x="432816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7" name="Google Shape;527;g3a86323efb1_2_216"/>
          <p:cNvSpPr/>
          <p:nvPr/>
        </p:nvSpPr>
        <p:spPr>
          <a:xfrm>
            <a:off x="440131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528" name="Google Shape;528;g3a86323efb1_2_216"/>
          <p:cNvSpPr/>
          <p:nvPr/>
        </p:nvSpPr>
        <p:spPr>
          <a:xfrm>
            <a:off x="603504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9" name="Google Shape;529;g3a86323efb1_2_216"/>
          <p:cNvSpPr/>
          <p:nvPr/>
        </p:nvSpPr>
        <p:spPr>
          <a:xfrm>
            <a:off x="610819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0.</a:t>
            </a:r>
            <a:r>
              <a:rPr b="1" lang="en-US" sz="1500">
                <a:solidFill>
                  <a:srgbClr val="1E293B"/>
                </a:solidFill>
                <a:latin typeface="Calibri"/>
                <a:ea typeface="Calibri"/>
                <a:cs typeface="Calibri"/>
                <a:sym typeface="Calibri"/>
              </a:rPr>
              <a:t>72</a:t>
            </a:r>
            <a:endParaRPr b="0" i="0" sz="1500" u="none" cap="none" strike="noStrike">
              <a:solidFill>
                <a:schemeClr val="dk1"/>
              </a:solidFill>
              <a:latin typeface="Calibri"/>
              <a:ea typeface="Calibri"/>
              <a:cs typeface="Calibri"/>
              <a:sym typeface="Calibri"/>
            </a:endParaRPr>
          </a:p>
        </p:txBody>
      </p:sp>
      <p:sp>
        <p:nvSpPr>
          <p:cNvPr id="530" name="Google Shape;530;g3a86323efb1_2_216"/>
          <p:cNvSpPr/>
          <p:nvPr/>
        </p:nvSpPr>
        <p:spPr>
          <a:xfrm>
            <a:off x="774192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1" name="Google Shape;531;g3a86323efb1_2_216"/>
          <p:cNvSpPr/>
          <p:nvPr/>
        </p:nvSpPr>
        <p:spPr>
          <a:xfrm>
            <a:off x="781507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100</a:t>
            </a:r>
            <a:endParaRPr b="0" i="0" sz="1500" u="none" cap="none" strike="noStrike">
              <a:solidFill>
                <a:schemeClr val="dk1"/>
              </a:solidFill>
              <a:latin typeface="Calibri"/>
              <a:ea typeface="Calibri"/>
              <a:cs typeface="Calibri"/>
              <a:sym typeface="Calibri"/>
            </a:endParaRPr>
          </a:p>
        </p:txBody>
      </p:sp>
      <p:sp>
        <p:nvSpPr>
          <p:cNvPr id="532" name="Google Shape;532;g3a86323efb1_2_216"/>
          <p:cNvSpPr/>
          <p:nvPr/>
        </p:nvSpPr>
        <p:spPr>
          <a:xfrm>
            <a:off x="9570720" y="3998976"/>
            <a:ext cx="2255700" cy="46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300"/>
              <a:buFont typeface="Calibri"/>
              <a:buNone/>
            </a:pPr>
            <a:r>
              <a:rPr b="1" i="0" lang="en-US" sz="1800" u="none" cap="none" strike="noStrike">
                <a:solidFill>
                  <a:srgbClr val="1C2951"/>
                </a:solidFill>
                <a:latin typeface="Calibri"/>
                <a:ea typeface="Calibri"/>
                <a:cs typeface="Calibri"/>
                <a:sym typeface="Calibri"/>
              </a:rPr>
              <a:t>Top Variables</a:t>
            </a:r>
            <a:endParaRPr b="0" i="0" sz="1800" u="none" cap="none" strike="noStrike">
              <a:solidFill>
                <a:schemeClr val="dk1"/>
              </a:solidFill>
              <a:latin typeface="Calibri"/>
              <a:ea typeface="Calibri"/>
              <a:cs typeface="Calibri"/>
              <a:sym typeface="Calibri"/>
            </a:endParaRPr>
          </a:p>
        </p:txBody>
      </p:sp>
      <p:sp>
        <p:nvSpPr>
          <p:cNvPr id="533" name="Google Shape;533;g3a86323efb1_2_216"/>
          <p:cNvSpPr/>
          <p:nvPr/>
        </p:nvSpPr>
        <p:spPr>
          <a:xfrm>
            <a:off x="9497900" y="4547625"/>
            <a:ext cx="658200" cy="402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166534"/>
              </a:buClr>
              <a:buSzPts val="1100"/>
              <a:buFont typeface="Calibri"/>
              <a:buNone/>
            </a:pPr>
            <a:r>
              <a:rPr b="1" lang="en-US" sz="1100">
                <a:solidFill>
                  <a:srgbClr val="166534"/>
                </a:solidFill>
                <a:latin typeface="Calibri"/>
                <a:ea typeface="Calibri"/>
                <a:cs typeface="Calibri"/>
                <a:sym typeface="Calibri"/>
              </a:rPr>
              <a:t>0.1669</a:t>
            </a:r>
            <a:endParaRPr b="1" sz="1100">
              <a:solidFill>
                <a:srgbClr val="166534"/>
              </a:solidFill>
              <a:latin typeface="Calibri"/>
              <a:ea typeface="Calibri"/>
              <a:cs typeface="Calibri"/>
              <a:sym typeface="Calibri"/>
            </a:endParaRPr>
          </a:p>
        </p:txBody>
      </p:sp>
      <p:sp>
        <p:nvSpPr>
          <p:cNvPr id="534" name="Google Shape;534;g3a86323efb1_2_216"/>
          <p:cNvSpPr/>
          <p:nvPr/>
        </p:nvSpPr>
        <p:spPr>
          <a:xfrm>
            <a:off x="10204704" y="4547616"/>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lang="en-US" sz="1300">
                <a:solidFill>
                  <a:srgbClr val="1E293B"/>
                </a:solidFill>
                <a:latin typeface="Calibri"/>
                <a:ea typeface="Calibri"/>
                <a:cs typeface="Calibri"/>
                <a:sym typeface="Calibri"/>
              </a:rPr>
              <a:t>Causa_Accidente</a:t>
            </a:r>
            <a:endParaRPr b="0" i="0" sz="1300" u="none" cap="none" strike="noStrike">
              <a:solidFill>
                <a:schemeClr val="dk1"/>
              </a:solidFill>
              <a:latin typeface="Calibri"/>
              <a:ea typeface="Calibri"/>
              <a:cs typeface="Calibri"/>
              <a:sym typeface="Calibri"/>
            </a:endParaRPr>
          </a:p>
        </p:txBody>
      </p:sp>
      <p:sp>
        <p:nvSpPr>
          <p:cNvPr id="535" name="Google Shape;535;g3a86323efb1_2_216"/>
          <p:cNvSpPr/>
          <p:nvPr/>
        </p:nvSpPr>
        <p:spPr>
          <a:xfrm>
            <a:off x="9497875" y="5010900"/>
            <a:ext cx="658200" cy="402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166534"/>
              </a:buClr>
              <a:buSzPts val="1100"/>
              <a:buFont typeface="Calibri"/>
              <a:buNone/>
            </a:pPr>
            <a:r>
              <a:rPr b="1" lang="en-US" sz="1100">
                <a:solidFill>
                  <a:srgbClr val="166534"/>
                </a:solidFill>
                <a:latin typeface="Calibri"/>
                <a:ea typeface="Calibri"/>
                <a:cs typeface="Calibri"/>
                <a:sym typeface="Calibri"/>
              </a:rPr>
              <a:t>0.1644</a:t>
            </a:r>
            <a:endParaRPr b="1" sz="1100">
              <a:solidFill>
                <a:srgbClr val="166534"/>
              </a:solidFill>
              <a:latin typeface="Calibri"/>
              <a:ea typeface="Calibri"/>
              <a:cs typeface="Calibri"/>
              <a:sym typeface="Calibri"/>
            </a:endParaRPr>
          </a:p>
        </p:txBody>
      </p:sp>
      <p:sp>
        <p:nvSpPr>
          <p:cNvPr id="536" name="Google Shape;536;g3a86323efb1_2_216"/>
          <p:cNvSpPr/>
          <p:nvPr/>
        </p:nvSpPr>
        <p:spPr>
          <a:xfrm>
            <a:off x="10204704" y="5010912"/>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300" u="none" cap="none" strike="noStrike">
                <a:solidFill>
                  <a:srgbClr val="1E293B"/>
                </a:solidFill>
                <a:latin typeface="Calibri"/>
                <a:ea typeface="Calibri"/>
                <a:cs typeface="Calibri"/>
                <a:sym typeface="Calibri"/>
              </a:rPr>
              <a:t>Edad</a:t>
            </a:r>
            <a:endParaRPr b="0" i="0" sz="1300" u="none" cap="none" strike="noStrike">
              <a:solidFill>
                <a:schemeClr val="dk1"/>
              </a:solidFill>
              <a:latin typeface="Calibri"/>
              <a:ea typeface="Calibri"/>
              <a:cs typeface="Calibri"/>
              <a:sym typeface="Calibri"/>
            </a:endParaRPr>
          </a:p>
        </p:txBody>
      </p:sp>
      <p:sp>
        <p:nvSpPr>
          <p:cNvPr id="537" name="Google Shape;537;g3a86323efb1_2_216"/>
          <p:cNvSpPr/>
          <p:nvPr/>
        </p:nvSpPr>
        <p:spPr>
          <a:xfrm>
            <a:off x="9467250" y="5474100"/>
            <a:ext cx="688800" cy="4023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166534"/>
              </a:buClr>
              <a:buSzPts val="1100"/>
              <a:buFont typeface="Calibri"/>
              <a:buNone/>
            </a:pPr>
            <a:r>
              <a:rPr b="1" lang="en-US" sz="1100">
                <a:solidFill>
                  <a:srgbClr val="166534"/>
                </a:solidFill>
                <a:latin typeface="Calibri"/>
                <a:ea typeface="Calibri"/>
                <a:cs typeface="Calibri"/>
                <a:sym typeface="Calibri"/>
              </a:rPr>
              <a:t>0.1102</a:t>
            </a:r>
            <a:endParaRPr b="1" sz="1100">
              <a:solidFill>
                <a:srgbClr val="166534"/>
              </a:solidFill>
              <a:latin typeface="Calibri"/>
              <a:ea typeface="Calibri"/>
              <a:cs typeface="Calibri"/>
              <a:sym typeface="Calibri"/>
            </a:endParaRPr>
          </a:p>
        </p:txBody>
      </p:sp>
      <p:sp>
        <p:nvSpPr>
          <p:cNvPr id="538" name="Google Shape;538;g3a86323efb1_2_216"/>
          <p:cNvSpPr/>
          <p:nvPr/>
        </p:nvSpPr>
        <p:spPr>
          <a:xfrm>
            <a:off x="10204704" y="5474208"/>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lang="en-US" sz="1300">
                <a:solidFill>
                  <a:srgbClr val="1E293B"/>
                </a:solidFill>
                <a:latin typeface="Calibri"/>
                <a:ea typeface="Calibri"/>
                <a:cs typeface="Calibri"/>
                <a:sym typeface="Calibri"/>
              </a:rPr>
              <a:t>Hora_num</a:t>
            </a:r>
            <a:endParaRPr b="0" i="0" sz="1300" u="none" cap="none" strike="noStrike">
              <a:solidFill>
                <a:schemeClr val="dk1"/>
              </a:solidFill>
              <a:latin typeface="Calibri"/>
              <a:ea typeface="Calibri"/>
              <a:cs typeface="Calibri"/>
              <a:sym typeface="Calibri"/>
            </a:endParaRPr>
          </a:p>
        </p:txBody>
      </p:sp>
      <p:sp>
        <p:nvSpPr>
          <p:cNvPr id="539" name="Google Shape;539;g3a86323efb1_2_216"/>
          <p:cNvSpPr/>
          <p:nvPr/>
        </p:nvSpPr>
        <p:spPr>
          <a:xfrm>
            <a:off x="9497775" y="5937500"/>
            <a:ext cx="6582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100"/>
              <a:buFont typeface="Calibri"/>
              <a:buNone/>
            </a:pPr>
            <a:r>
              <a:rPr b="1" lang="en-US" sz="1100">
                <a:solidFill>
                  <a:srgbClr val="166534"/>
                </a:solidFill>
                <a:latin typeface="Calibri"/>
                <a:ea typeface="Calibri"/>
                <a:cs typeface="Calibri"/>
                <a:sym typeface="Calibri"/>
              </a:rPr>
              <a:t>0.1088</a:t>
            </a:r>
            <a:endParaRPr b="0" i="0" sz="1100" u="none" cap="none" strike="noStrike">
              <a:solidFill>
                <a:schemeClr val="dk1"/>
              </a:solidFill>
              <a:latin typeface="Calibri"/>
              <a:ea typeface="Calibri"/>
              <a:cs typeface="Calibri"/>
              <a:sym typeface="Calibri"/>
            </a:endParaRPr>
          </a:p>
        </p:txBody>
      </p:sp>
      <p:sp>
        <p:nvSpPr>
          <p:cNvPr id="540" name="Google Shape;540;g3a86323efb1_2_216"/>
          <p:cNvSpPr/>
          <p:nvPr/>
        </p:nvSpPr>
        <p:spPr>
          <a:xfrm>
            <a:off x="10204704" y="5937504"/>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lang="en-US" sz="1300">
                <a:solidFill>
                  <a:srgbClr val="1E293B"/>
                </a:solidFill>
                <a:latin typeface="Calibri"/>
                <a:ea typeface="Calibri"/>
                <a:cs typeface="Calibri"/>
                <a:sym typeface="Calibri"/>
              </a:rPr>
              <a:t>Localidad_Comuna</a:t>
            </a:r>
            <a:r>
              <a:rPr b="0" i="0" lang="en-US" sz="1300" u="none" cap="none" strike="noStrike">
                <a:solidFill>
                  <a:srgbClr val="1E293B"/>
                </a:solidFill>
                <a:latin typeface="Calibri"/>
                <a:ea typeface="Calibri"/>
                <a:cs typeface="Calibri"/>
                <a:sym typeface="Calibri"/>
              </a:rPr>
              <a:t>l</a:t>
            </a:r>
            <a:endParaRPr b="0" i="0" sz="1300" u="none" cap="none" strike="noStrike">
              <a:solidFill>
                <a:schemeClr val="dk1"/>
              </a:solidFill>
              <a:latin typeface="Calibri"/>
              <a:ea typeface="Calibri"/>
              <a:cs typeface="Calibri"/>
              <a:sym typeface="Calibri"/>
            </a:endParaRPr>
          </a:p>
        </p:txBody>
      </p:sp>
      <p:sp>
        <p:nvSpPr>
          <p:cNvPr id="541" name="Google Shape;541;g3a86323efb1_2_216"/>
          <p:cNvSpPr/>
          <p:nvPr/>
        </p:nvSpPr>
        <p:spPr>
          <a:xfrm>
            <a:off x="9497825" y="6400800"/>
            <a:ext cx="6582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1100"/>
              <a:buFont typeface="Calibri"/>
              <a:buNone/>
            </a:pPr>
            <a:r>
              <a:rPr b="1" lang="en-US" sz="1100">
                <a:solidFill>
                  <a:srgbClr val="166534"/>
                </a:solidFill>
                <a:latin typeface="Calibri"/>
                <a:ea typeface="Calibri"/>
                <a:cs typeface="Calibri"/>
                <a:sym typeface="Calibri"/>
              </a:rPr>
              <a:t>0.1015</a:t>
            </a:r>
            <a:endParaRPr b="0" i="0" sz="1100" u="none" cap="none" strike="noStrike">
              <a:solidFill>
                <a:schemeClr val="dk1"/>
              </a:solidFill>
              <a:latin typeface="Calibri"/>
              <a:ea typeface="Calibri"/>
              <a:cs typeface="Calibri"/>
              <a:sym typeface="Calibri"/>
            </a:endParaRPr>
          </a:p>
        </p:txBody>
      </p:sp>
      <p:sp>
        <p:nvSpPr>
          <p:cNvPr id="542" name="Google Shape;542;g3a86323efb1_2_216"/>
          <p:cNvSpPr/>
          <p:nvPr/>
        </p:nvSpPr>
        <p:spPr>
          <a:xfrm>
            <a:off x="10204704" y="6400800"/>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lang="en-US" sz="1300">
                <a:solidFill>
                  <a:srgbClr val="1E293B"/>
                </a:solidFill>
                <a:latin typeface="Calibri"/>
                <a:ea typeface="Calibri"/>
                <a:cs typeface="Calibri"/>
                <a:sym typeface="Calibri"/>
              </a:rPr>
              <a:t>Género</a:t>
            </a:r>
            <a:endParaRPr b="0" i="0" sz="1300" u="none" cap="none" strike="noStrike">
              <a:solidFill>
                <a:schemeClr val="dk1"/>
              </a:solidFill>
              <a:latin typeface="Calibri"/>
              <a:ea typeface="Calibri"/>
              <a:cs typeface="Calibri"/>
              <a:sym typeface="Calibri"/>
            </a:endParaRPr>
          </a:p>
        </p:txBody>
      </p:sp>
      <p:cxnSp>
        <p:nvCxnSpPr>
          <p:cNvPr id="543" name="Google Shape;543;g3a86323efb1_2_216"/>
          <p:cNvCxnSpPr>
            <a:stCxn id="534" idx="1"/>
            <a:endCxn id="542" idx="1"/>
          </p:cNvCxnSpPr>
          <p:nvPr/>
        </p:nvCxnSpPr>
        <p:spPr>
          <a:xfrm>
            <a:off x="10204704" y="4748766"/>
            <a:ext cx="0" cy="1853100"/>
          </a:xfrm>
          <a:prstGeom prst="straightConnector1">
            <a:avLst/>
          </a:prstGeom>
          <a:noFill/>
          <a:ln cap="flat" cmpd="sng" w="38100">
            <a:solidFill>
              <a:schemeClr val="dk2"/>
            </a:solidFill>
            <a:prstDash val="solid"/>
            <a:round/>
            <a:headEnd len="med" w="med" type="none"/>
            <a:tailEnd len="med" w="med" type="none"/>
          </a:ln>
        </p:spPr>
      </p:cxnSp>
      <p:grpSp>
        <p:nvGrpSpPr>
          <p:cNvPr id="544" name="Google Shape;544;g3a86323efb1_2_216"/>
          <p:cNvGrpSpPr/>
          <p:nvPr/>
        </p:nvGrpSpPr>
        <p:grpSpPr>
          <a:xfrm>
            <a:off x="9420700" y="362995"/>
            <a:ext cx="2557800" cy="409200"/>
            <a:chOff x="609600" y="304800"/>
            <a:chExt cx="2557800" cy="409200"/>
          </a:xfrm>
        </p:grpSpPr>
        <p:sp>
          <p:nvSpPr>
            <p:cNvPr id="545" name="Google Shape;545;g3a86323efb1_2_216"/>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546" name="Google Shape;546;g3a86323efb1_2_216"/>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Random Forest</a:t>
              </a:r>
              <a:endParaRPr b="1" i="0" sz="2259" u="none" cap="none" strike="noStrike">
                <a:solidFill>
                  <a:schemeClr val="dk1"/>
                </a:solidFill>
                <a:latin typeface="Calibri"/>
                <a:ea typeface="Calibri"/>
                <a:cs typeface="Calibri"/>
                <a:sym typeface="Calibri"/>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137"/>
        </a:solidFill>
      </p:bgPr>
    </p:bg>
    <p:spTree>
      <p:nvGrpSpPr>
        <p:cNvPr id="551" name="Shape 551"/>
        <p:cNvGrpSpPr/>
        <p:nvPr/>
      </p:nvGrpSpPr>
      <p:grpSpPr>
        <a:xfrm>
          <a:off x="0" y="0"/>
          <a:ext cx="0" cy="0"/>
          <a:chOff x="0" y="0"/>
          <a:chExt cx="0" cy="0"/>
        </a:xfrm>
      </p:grpSpPr>
      <p:sp>
        <p:nvSpPr>
          <p:cNvPr id="552" name="Google Shape;552;g3a866401fb7_1_28"/>
          <p:cNvSpPr/>
          <p:nvPr/>
        </p:nvSpPr>
        <p:spPr>
          <a:xfrm>
            <a:off x="148200" y="498850"/>
            <a:ext cx="8157000" cy="6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FFFFFF"/>
                </a:solidFill>
                <a:latin typeface="Georgia"/>
                <a:ea typeface="Georgia"/>
                <a:cs typeface="Georgia"/>
                <a:sym typeface="Georgia"/>
              </a:rPr>
              <a:t>Matriz de Confusión y Curva ROC</a:t>
            </a:r>
            <a:endParaRPr b="0" i="0" sz="3467" u="none" cap="none" strike="noStrike">
              <a:solidFill>
                <a:srgbClr val="000000"/>
              </a:solidFill>
              <a:latin typeface="Calibri"/>
              <a:ea typeface="Calibri"/>
              <a:cs typeface="Calibri"/>
              <a:sym typeface="Calibri"/>
            </a:endParaRPr>
          </a:p>
        </p:txBody>
      </p:sp>
      <p:graphicFrame>
        <p:nvGraphicFramePr>
          <p:cNvPr id="553" name="Google Shape;553;g3a866401fb7_1_28"/>
          <p:cNvGraphicFramePr/>
          <p:nvPr/>
        </p:nvGraphicFramePr>
        <p:xfrm>
          <a:off x="288476" y="1861985"/>
          <a:ext cx="3000000" cy="3000000"/>
        </p:xfrm>
        <a:graphic>
          <a:graphicData uri="http://schemas.openxmlformats.org/drawingml/2006/table">
            <a:tbl>
              <a:tblPr>
                <a:noFill/>
                <a:tableStyleId>{38C2099B-79C9-4A69-BC85-5F42607CA374}</a:tableStyleId>
              </a:tblPr>
              <a:tblGrid>
                <a:gridCol w="1721125"/>
                <a:gridCol w="2213250"/>
                <a:gridCol w="2161125"/>
              </a:tblGrid>
              <a:tr h="962650">
                <a:tc>
                  <a:txBody>
                    <a:bodyPr/>
                    <a:lstStyle/>
                    <a:p>
                      <a:pPr indent="0" lvl="0" marL="0" marR="0" rtl="0" algn="l">
                        <a:spcBef>
                          <a:spcPts val="0"/>
                        </a:spcBef>
                        <a:spcAft>
                          <a:spcPts val="0"/>
                        </a:spcAft>
                        <a:buClr>
                          <a:schemeClr val="dk1"/>
                        </a:buClr>
                        <a:buSzPts val="1600"/>
                        <a:buFont typeface="Calibri"/>
                        <a:buNone/>
                      </a:pPr>
                      <a:r>
                        <a:t/>
                      </a:r>
                      <a:endParaRPr sz="1600" u="none" cap="none" strike="noStrike"/>
                    </a:p>
                  </a:txBody>
                  <a:tcPr marT="60950" marB="60950" marR="121925" marL="121925">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r>
              <a:tr h="1452075">
                <a:tc>
                  <a:txBody>
                    <a:bodyPr/>
                    <a:lstStyle/>
                    <a:p>
                      <a:pPr indent="0" lvl="0" marL="0" marR="0" rtl="0" algn="ctr">
                        <a:spcBef>
                          <a:spcPts val="0"/>
                        </a:spcBef>
                        <a:spcAft>
                          <a:spcPts val="0"/>
                        </a:spcAft>
                        <a:buClr>
                          <a:srgbClr val="5EEAD4"/>
                        </a:buClr>
                        <a:buSzPts val="1600"/>
                        <a:buFont typeface="Calibri"/>
                        <a:buNone/>
                      </a:pPr>
                      <a:r>
                        <a:rPr b="1" lang="en-US" sz="1600" u="none" cap="none" strike="noStrike">
                          <a:solidFill>
                            <a:srgbClr val="5EEAD4"/>
                          </a:solidFill>
                        </a:rPr>
                        <a:t>Real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56</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18</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Positivos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3A2A0D"/>
                    </a:solidFill>
                  </a:tcPr>
                </a:tc>
              </a:tr>
              <a:tr h="1452075">
                <a:tc>
                  <a:txBody>
                    <a:bodyPr/>
                    <a:lstStyle/>
                    <a:p>
                      <a:pPr indent="0" lvl="0" marL="0" marR="0" rtl="0" algn="ctr">
                        <a:spcBef>
                          <a:spcPts val="0"/>
                        </a:spcBef>
                        <a:spcAft>
                          <a:spcPts val="0"/>
                        </a:spcAft>
                        <a:buClr>
                          <a:srgbClr val="E84C4C"/>
                        </a:buClr>
                        <a:buSzPts val="1600"/>
                        <a:buFont typeface="Calibri"/>
                        <a:buNone/>
                      </a:pPr>
                      <a:r>
                        <a:rPr b="1" lang="en-US" sz="1600" u="none" cap="none" strike="noStrike">
                          <a:solidFill>
                            <a:srgbClr val="E84C4C"/>
                          </a:solidFill>
                        </a:rPr>
                        <a:t>Real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10</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4A1010"/>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16</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Positivos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r>
            </a:tbl>
          </a:graphicData>
        </a:graphic>
      </p:graphicFrame>
      <p:sp>
        <p:nvSpPr>
          <p:cNvPr id="554" name="Google Shape;554;g3a866401fb7_1_28"/>
          <p:cNvSpPr/>
          <p:nvPr/>
        </p:nvSpPr>
        <p:spPr>
          <a:xfrm>
            <a:off x="0" y="6156960"/>
            <a:ext cx="12192000" cy="701100"/>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grpSp>
        <p:nvGrpSpPr>
          <p:cNvPr id="555" name="Google Shape;555;g3a866401fb7_1_28"/>
          <p:cNvGrpSpPr/>
          <p:nvPr/>
        </p:nvGrpSpPr>
        <p:grpSpPr>
          <a:xfrm>
            <a:off x="9420700" y="362995"/>
            <a:ext cx="2557800" cy="409200"/>
            <a:chOff x="609600" y="304800"/>
            <a:chExt cx="2557800" cy="409200"/>
          </a:xfrm>
        </p:grpSpPr>
        <p:sp>
          <p:nvSpPr>
            <p:cNvPr id="556" name="Google Shape;556;g3a866401fb7_1_28"/>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557" name="Google Shape;557;g3a866401fb7_1_28"/>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Random Forest</a:t>
              </a:r>
              <a:endParaRPr b="1" i="0" sz="2259" u="none" cap="none" strike="noStrike">
                <a:solidFill>
                  <a:schemeClr val="dk1"/>
                </a:solidFill>
                <a:latin typeface="Calibri"/>
                <a:ea typeface="Calibri"/>
                <a:cs typeface="Calibri"/>
                <a:sym typeface="Calibri"/>
              </a:endParaRPr>
            </a:p>
          </p:txBody>
        </p:sp>
      </p:grpSp>
      <p:pic>
        <p:nvPicPr>
          <p:cNvPr id="558" name="Google Shape;558;g3a866401fb7_1_28"/>
          <p:cNvPicPr preferRelativeResize="0"/>
          <p:nvPr/>
        </p:nvPicPr>
        <p:blipFill>
          <a:blip r:embed="rId3">
            <a:alphaModFix/>
          </a:blip>
          <a:stretch>
            <a:fillRect/>
          </a:stretch>
        </p:blipFill>
        <p:spPr>
          <a:xfrm>
            <a:off x="6579401" y="1956663"/>
            <a:ext cx="5503223" cy="367741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5"/>
          <p:cNvSpPr/>
          <p:nvPr/>
        </p:nvSpPr>
        <p:spPr>
          <a:xfrm>
            <a:off x="0" y="0"/>
            <a:ext cx="12191695"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565" name="Google Shape;565;p5"/>
          <p:cNvPicPr preferRelativeResize="0"/>
          <p:nvPr/>
        </p:nvPicPr>
        <p:blipFill rotWithShape="1">
          <a:blip r:embed="rId3">
            <a:alphaModFix/>
          </a:blip>
          <a:srcRect b="-1" l="0" r="0" t="-1"/>
          <a:stretch/>
        </p:blipFill>
        <p:spPr>
          <a:xfrm>
            <a:off x="0" y="0"/>
            <a:ext cx="12191695" cy="6858000"/>
          </a:xfrm>
          <a:prstGeom prst="rect">
            <a:avLst/>
          </a:prstGeom>
          <a:noFill/>
          <a:ln>
            <a:noFill/>
          </a:ln>
        </p:spPr>
      </p:pic>
      <p:sp>
        <p:nvSpPr>
          <p:cNvPr id="566" name="Google Shape;566;p5"/>
          <p:cNvSpPr txBox="1"/>
          <p:nvPr/>
        </p:nvSpPr>
        <p:spPr>
          <a:xfrm>
            <a:off x="837590" y="190195"/>
            <a:ext cx="5051146" cy="4005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lang="en-US" sz="3200">
                <a:solidFill>
                  <a:srgbClr val="FFFFFF"/>
                </a:solidFill>
                <a:latin typeface="Montserrat"/>
                <a:ea typeface="Montserrat"/>
                <a:cs typeface="Montserrat"/>
                <a:sym typeface="Montserrat"/>
              </a:rPr>
              <a:t>Gradient Boosting</a:t>
            </a:r>
            <a:endParaRPr/>
          </a:p>
        </p:txBody>
      </p:sp>
      <p:pic>
        <p:nvPicPr>
          <p:cNvPr descr="preencoded.png" id="567" name="Google Shape;567;p5"/>
          <p:cNvPicPr preferRelativeResize="0"/>
          <p:nvPr/>
        </p:nvPicPr>
        <p:blipFill rotWithShape="1">
          <a:blip r:embed="rId4">
            <a:alphaModFix/>
          </a:blip>
          <a:srcRect b="0" l="0" r="0" t="0"/>
          <a:stretch/>
        </p:blipFill>
        <p:spPr>
          <a:xfrm>
            <a:off x="381305" y="252374"/>
            <a:ext cx="267005" cy="267005"/>
          </a:xfrm>
          <a:prstGeom prst="rect">
            <a:avLst/>
          </a:prstGeom>
          <a:noFill/>
          <a:ln>
            <a:noFill/>
          </a:ln>
        </p:spPr>
      </p:pic>
      <p:sp>
        <p:nvSpPr>
          <p:cNvPr id="568" name="Google Shape;568;p5"/>
          <p:cNvSpPr/>
          <p:nvPr/>
        </p:nvSpPr>
        <p:spPr>
          <a:xfrm>
            <a:off x="381305" y="857707"/>
            <a:ext cx="11430000" cy="5201107"/>
          </a:xfrm>
          <a:prstGeom prst="roundRect">
            <a:avLst>
              <a:gd fmla="val 773" name="adj"/>
            </a:avLst>
          </a:prstGeom>
          <a:solidFill>
            <a:srgbClr val="FFFFFF">
              <a:alpha val="10196"/>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196"/>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5"/>
          <p:cNvSpPr/>
          <p:nvPr/>
        </p:nvSpPr>
        <p:spPr>
          <a:xfrm>
            <a:off x="381305" y="6476695"/>
            <a:ext cx="11430000" cy="9144"/>
          </a:xfrm>
          <a:prstGeom prst="rect">
            <a:avLst/>
          </a:prstGeom>
          <a:solidFill>
            <a:srgbClr val="FFFFFF">
              <a:alpha val="10196"/>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p5"/>
          <p:cNvSpPr/>
          <p:nvPr/>
        </p:nvSpPr>
        <p:spPr>
          <a:xfrm>
            <a:off x="648310" y="1006754"/>
            <a:ext cx="55149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1" name="Google Shape;571;p5"/>
          <p:cNvSpPr/>
          <p:nvPr/>
        </p:nvSpPr>
        <p:spPr>
          <a:xfrm>
            <a:off x="6258627" y="1006754"/>
            <a:ext cx="5330952" cy="4946904"/>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572" name="Google Shape;572;p5"/>
          <p:cNvPicPr preferRelativeResize="0"/>
          <p:nvPr/>
        </p:nvPicPr>
        <p:blipFill rotWithShape="1">
          <a:blip r:embed="rId5">
            <a:alphaModFix/>
          </a:blip>
          <a:srcRect b="0" l="0" r="0" t="0"/>
          <a:stretch/>
        </p:blipFill>
        <p:spPr>
          <a:xfrm>
            <a:off x="5888730" y="1044713"/>
            <a:ext cx="616756" cy="616756"/>
          </a:xfrm>
          <a:prstGeom prst="rect">
            <a:avLst/>
          </a:prstGeom>
          <a:noFill/>
          <a:ln>
            <a:noFill/>
          </a:ln>
        </p:spPr>
      </p:pic>
      <p:sp>
        <p:nvSpPr>
          <p:cNvPr id="573" name="Google Shape;573;p5"/>
          <p:cNvSpPr/>
          <p:nvPr/>
        </p:nvSpPr>
        <p:spPr>
          <a:xfrm>
            <a:off x="7127173" y="1351700"/>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LA SOLUCIÓN</a:t>
            </a:r>
            <a:endParaRPr b="1" i="0" sz="2000" u="none" cap="none" strike="noStrike">
              <a:solidFill>
                <a:srgbClr val="000000"/>
              </a:solidFill>
            </a:endParaRPr>
          </a:p>
        </p:txBody>
      </p:sp>
      <p:sp>
        <p:nvSpPr>
          <p:cNvPr id="574" name="Google Shape;574;p5"/>
          <p:cNvSpPr/>
          <p:nvPr/>
        </p:nvSpPr>
        <p:spPr>
          <a:xfrm>
            <a:off x="1341010" y="1351687"/>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000">
                <a:solidFill>
                  <a:srgbClr val="1A3A5C"/>
                </a:solidFill>
              </a:rPr>
              <a:t>EL PROBLEMA</a:t>
            </a:r>
            <a:endParaRPr b="1" i="0" sz="2000" u="none" cap="none" strike="noStrike">
              <a:solidFill>
                <a:srgbClr val="000000"/>
              </a:solidFill>
            </a:endParaRPr>
          </a:p>
        </p:txBody>
      </p:sp>
      <p:sp>
        <p:nvSpPr>
          <p:cNvPr id="575" name="Google Shape;575;p5"/>
          <p:cNvSpPr/>
          <p:nvPr/>
        </p:nvSpPr>
        <p:spPr>
          <a:xfrm>
            <a:off x="837600" y="2115500"/>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Los accidentes de tráfico generan dos tipos de resultados: Heridos (0) y Muertos (1).</a:t>
            </a:r>
            <a:endParaRPr b="0" i="0" sz="2052" u="none" cap="none" strike="noStrike">
              <a:solidFill>
                <a:srgbClr val="000000"/>
              </a:solidFill>
              <a:latin typeface="Calibri"/>
              <a:ea typeface="Calibri"/>
              <a:cs typeface="Calibri"/>
              <a:sym typeface="Calibri"/>
            </a:endParaRPr>
          </a:p>
        </p:txBody>
      </p:sp>
      <p:sp>
        <p:nvSpPr>
          <p:cNvPr id="576" name="Google Shape;576;p5"/>
          <p:cNvSpPr/>
          <p:nvPr/>
        </p:nvSpPr>
        <p:spPr>
          <a:xfrm>
            <a:off x="837600" y="3100946"/>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Identificar qué factores llevan a un desenlace fatal permite orientar políticas de prevención.</a:t>
            </a:r>
            <a:endParaRPr b="0" i="0" sz="2052" u="none" cap="none" strike="noStrike">
              <a:solidFill>
                <a:srgbClr val="000000"/>
              </a:solidFill>
              <a:latin typeface="Calibri"/>
              <a:ea typeface="Calibri"/>
              <a:cs typeface="Calibri"/>
              <a:sym typeface="Calibri"/>
            </a:endParaRPr>
          </a:p>
        </p:txBody>
      </p:sp>
      <p:sp>
        <p:nvSpPr>
          <p:cNvPr id="577" name="Google Shape;577;p5"/>
          <p:cNvSpPr/>
          <p:nvPr/>
        </p:nvSpPr>
        <p:spPr>
          <a:xfrm>
            <a:off x="837600" y="4086392"/>
            <a:ext cx="5124000" cy="8538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Clr>
                <a:srgbClr val="1E293B"/>
              </a:buClr>
              <a:buSzPts val="1652"/>
              <a:buFont typeface="Calibri"/>
              <a:buNone/>
            </a:pPr>
            <a:r>
              <a:rPr b="0" i="0" lang="en-US" sz="2052" u="none" cap="none" strike="noStrike">
                <a:solidFill>
                  <a:srgbClr val="1E293B"/>
                </a:solidFill>
                <a:latin typeface="Calibri"/>
                <a:ea typeface="Calibri"/>
                <a:cs typeface="Calibri"/>
                <a:sym typeface="Calibri"/>
              </a:rPr>
              <a:t>El dataset presenta un fuerte </a:t>
            </a:r>
            <a:r>
              <a:rPr lang="en-US" sz="2052">
                <a:solidFill>
                  <a:srgbClr val="1E293B"/>
                </a:solidFill>
                <a:latin typeface="Calibri"/>
                <a:ea typeface="Calibri"/>
                <a:cs typeface="Calibri"/>
                <a:sym typeface="Calibri"/>
              </a:rPr>
              <a:t>desbalance</a:t>
            </a:r>
            <a:r>
              <a:rPr b="0" i="0" lang="en-US" sz="2052" u="none" cap="none" strike="noStrike">
                <a:solidFill>
                  <a:srgbClr val="1E293B"/>
                </a:solidFill>
                <a:latin typeface="Calibri"/>
                <a:ea typeface="Calibri"/>
                <a:cs typeface="Calibri"/>
                <a:sym typeface="Calibri"/>
              </a:rPr>
              <a:t> natural: solo el 26% corresponde a Muertos</a:t>
            </a:r>
            <a:r>
              <a:rPr lang="en-US" sz="2052">
                <a:solidFill>
                  <a:srgbClr val="1E293B"/>
                </a:solidFill>
                <a:latin typeface="Calibri"/>
                <a:ea typeface="Calibri"/>
                <a:cs typeface="Calibri"/>
                <a:sym typeface="Calibri"/>
              </a:rPr>
              <a:t>, como se ha explicado durante la exposición.</a:t>
            </a:r>
            <a:endParaRPr b="0" i="0" sz="2052" u="none" cap="none" strike="noStrike">
              <a:solidFill>
                <a:srgbClr val="000000"/>
              </a:solidFill>
              <a:latin typeface="Calibri"/>
              <a:ea typeface="Calibri"/>
              <a:cs typeface="Calibri"/>
              <a:sym typeface="Calibri"/>
            </a:endParaRPr>
          </a:p>
        </p:txBody>
      </p:sp>
      <p:sp>
        <p:nvSpPr>
          <p:cNvPr id="578" name="Google Shape;578;p5"/>
          <p:cNvSpPr/>
          <p:nvPr/>
        </p:nvSpPr>
        <p:spPr>
          <a:xfrm>
            <a:off x="6329500" y="2087976"/>
            <a:ext cx="5260200" cy="8766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lang="en-US" sz="2096">
                <a:solidFill>
                  <a:srgbClr val="1E293B"/>
                </a:solidFill>
                <a:latin typeface="Calibri"/>
                <a:ea typeface="Calibri"/>
                <a:cs typeface="Calibri"/>
                <a:sym typeface="Calibri"/>
              </a:rPr>
              <a:t>Gradient Boosting: Determinación de coeficientes para desglosar </a:t>
            </a:r>
            <a:endParaRPr b="0" i="0" sz="2096" u="none" cap="none" strike="noStrike">
              <a:solidFill>
                <a:srgbClr val="000000"/>
              </a:solidFill>
              <a:latin typeface="Calibri"/>
              <a:ea typeface="Calibri"/>
              <a:cs typeface="Calibri"/>
              <a:sym typeface="Calibri"/>
            </a:endParaRPr>
          </a:p>
        </p:txBody>
      </p:sp>
      <p:sp>
        <p:nvSpPr>
          <p:cNvPr id="579" name="Google Shape;579;p5"/>
          <p:cNvSpPr/>
          <p:nvPr/>
        </p:nvSpPr>
        <p:spPr>
          <a:xfrm>
            <a:off x="6329500" y="3099542"/>
            <a:ext cx="5260200" cy="8766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b="0" i="0" lang="en-US" sz="2096" u="none" cap="none" strike="noStrike">
                <a:solidFill>
                  <a:srgbClr val="1E293B"/>
                </a:solidFill>
                <a:latin typeface="Calibri"/>
                <a:ea typeface="Calibri"/>
                <a:cs typeface="Calibri"/>
                <a:sym typeface="Calibri"/>
              </a:rPr>
              <a:t>Salida: Heridos = 0 / Muertos = 1, con umbral de clasificación optimizable.</a:t>
            </a:r>
            <a:endParaRPr b="0" i="0" sz="2096" u="none" cap="none" strike="noStrike">
              <a:solidFill>
                <a:srgbClr val="000000"/>
              </a:solidFill>
              <a:latin typeface="Calibri"/>
              <a:ea typeface="Calibri"/>
              <a:cs typeface="Calibri"/>
              <a:sym typeface="Calibri"/>
            </a:endParaRPr>
          </a:p>
        </p:txBody>
      </p:sp>
      <p:sp>
        <p:nvSpPr>
          <p:cNvPr id="580" name="Google Shape;580;p5"/>
          <p:cNvSpPr/>
          <p:nvPr/>
        </p:nvSpPr>
        <p:spPr>
          <a:xfrm>
            <a:off x="6329500" y="4111098"/>
            <a:ext cx="5260200" cy="1045200"/>
          </a:xfrm>
          <a:prstGeom prst="rect">
            <a:avLst/>
          </a:prstGeom>
          <a:noFill/>
          <a:ln>
            <a:noFill/>
          </a:ln>
        </p:spPr>
        <p:txBody>
          <a:bodyPr anchorCtr="0" anchor="ctr" bIns="67400" lIns="134850" spcFirstLastPara="1" rIns="134850" wrap="square" tIns="67400">
            <a:noAutofit/>
          </a:bodyPr>
          <a:lstStyle/>
          <a:p>
            <a:pPr indent="0" lvl="0" marL="0" marR="0" rtl="0" algn="l">
              <a:spcBef>
                <a:spcPts val="0"/>
              </a:spcBef>
              <a:spcAft>
                <a:spcPts val="0"/>
              </a:spcAft>
              <a:buClr>
                <a:srgbClr val="1E293B"/>
              </a:buClr>
              <a:buSzPts val="1696"/>
              <a:buFont typeface="Calibri"/>
              <a:buNone/>
            </a:pPr>
            <a:r>
              <a:rPr b="0" i="0" lang="en-US" sz="2096" u="none" cap="none" strike="noStrike">
                <a:solidFill>
                  <a:srgbClr val="1E293B"/>
                </a:solidFill>
                <a:latin typeface="Calibri"/>
                <a:ea typeface="Calibri"/>
                <a:cs typeface="Calibri"/>
                <a:sym typeface="Calibri"/>
              </a:rPr>
              <a:t>Permite priorizar el Recall de la clase Muertos minimizando falsos negativos</a:t>
            </a:r>
            <a:r>
              <a:rPr lang="en-US" sz="2096">
                <a:solidFill>
                  <a:srgbClr val="1E293B"/>
                </a:solidFill>
                <a:latin typeface="Calibri"/>
                <a:ea typeface="Calibri"/>
                <a:cs typeface="Calibri"/>
                <a:sym typeface="Calibri"/>
              </a:rPr>
              <a:t>; además de determinar un F1-Score enfocado.</a:t>
            </a:r>
            <a:endParaRPr b="0" i="0" sz="2096"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5" name="Shape 585"/>
        <p:cNvGrpSpPr/>
        <p:nvPr/>
      </p:nvGrpSpPr>
      <p:grpSpPr>
        <a:xfrm>
          <a:off x="0" y="0"/>
          <a:ext cx="0" cy="0"/>
          <a:chOff x="0" y="0"/>
          <a:chExt cx="0" cy="0"/>
        </a:xfrm>
      </p:grpSpPr>
      <p:sp>
        <p:nvSpPr>
          <p:cNvPr id="586" name="Google Shape;586;g3e266ac69b1_2_1"/>
          <p:cNvSpPr/>
          <p:nvPr/>
        </p:nvSpPr>
        <p:spPr>
          <a:xfrm>
            <a:off x="0" y="0"/>
            <a:ext cx="12192000" cy="6981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7" name="Google Shape;587;g3e266ac69b1_2_1"/>
          <p:cNvSpPr/>
          <p:nvPr/>
        </p:nvSpPr>
        <p:spPr>
          <a:xfrm>
            <a:off x="455825" y="78225"/>
            <a:ext cx="10972800" cy="548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Variables del Modelo</a:t>
            </a:r>
            <a:endParaRPr b="0" i="0" sz="3500" u="none" cap="none" strike="noStrike">
              <a:solidFill>
                <a:schemeClr val="dk1"/>
              </a:solidFill>
              <a:latin typeface="Calibri"/>
              <a:ea typeface="Calibri"/>
              <a:cs typeface="Calibri"/>
              <a:sym typeface="Calibri"/>
            </a:endParaRPr>
          </a:p>
        </p:txBody>
      </p:sp>
      <p:sp>
        <p:nvSpPr>
          <p:cNvPr id="588" name="Google Shape;588;g3e266ac69b1_2_1"/>
          <p:cNvSpPr/>
          <p:nvPr/>
        </p:nvSpPr>
        <p:spPr>
          <a:xfrm>
            <a:off x="516775" y="-422775"/>
            <a:ext cx="39015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Variable</a:t>
            </a:r>
            <a:endParaRPr b="0" i="0" sz="1500" u="none" cap="none" strike="noStrike">
              <a:solidFill>
                <a:schemeClr val="dk1"/>
              </a:solidFill>
              <a:latin typeface="Calibri"/>
              <a:ea typeface="Calibri"/>
              <a:cs typeface="Calibri"/>
              <a:sym typeface="Calibri"/>
            </a:endParaRPr>
          </a:p>
        </p:txBody>
      </p:sp>
      <p:sp>
        <p:nvSpPr>
          <p:cNvPr id="589" name="Google Shape;589;g3e266ac69b1_2_1"/>
          <p:cNvSpPr/>
          <p:nvPr/>
        </p:nvSpPr>
        <p:spPr>
          <a:xfrm>
            <a:off x="4479189" y="-422775"/>
            <a:ext cx="20727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Tipo</a:t>
            </a:r>
            <a:endParaRPr b="0" i="0" sz="1500" u="none" cap="none" strike="noStrike">
              <a:solidFill>
                <a:schemeClr val="dk1"/>
              </a:solidFill>
              <a:latin typeface="Calibri"/>
              <a:ea typeface="Calibri"/>
              <a:cs typeface="Calibri"/>
              <a:sym typeface="Calibri"/>
            </a:endParaRPr>
          </a:p>
        </p:txBody>
      </p:sp>
      <p:sp>
        <p:nvSpPr>
          <p:cNvPr id="590" name="Google Shape;590;g3e266ac69b1_2_1"/>
          <p:cNvSpPr/>
          <p:nvPr/>
        </p:nvSpPr>
        <p:spPr>
          <a:xfrm>
            <a:off x="6612797" y="-422775"/>
            <a:ext cx="24384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Valores / Rango</a:t>
            </a:r>
            <a:endParaRPr b="0" i="0" sz="1500" u="none" cap="none" strike="noStrike">
              <a:solidFill>
                <a:schemeClr val="dk1"/>
              </a:solidFill>
              <a:latin typeface="Calibri"/>
              <a:ea typeface="Calibri"/>
              <a:cs typeface="Calibri"/>
              <a:sym typeface="Calibri"/>
            </a:endParaRPr>
          </a:p>
        </p:txBody>
      </p:sp>
      <p:grpSp>
        <p:nvGrpSpPr>
          <p:cNvPr id="591" name="Google Shape;591;g3e266ac69b1_2_1"/>
          <p:cNvGrpSpPr/>
          <p:nvPr/>
        </p:nvGrpSpPr>
        <p:grpSpPr>
          <a:xfrm>
            <a:off x="9420700" y="147975"/>
            <a:ext cx="2557800" cy="409200"/>
            <a:chOff x="609600" y="304800"/>
            <a:chExt cx="2557800" cy="409200"/>
          </a:xfrm>
        </p:grpSpPr>
        <p:sp>
          <p:nvSpPr>
            <p:cNvPr id="592" name="Google Shape;592;g3e266ac69b1_2_1"/>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593" name="Google Shape;593;g3e266ac69b1_2_1"/>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Gradient Boosting</a:t>
              </a:r>
              <a:endParaRPr b="1" i="0" sz="2259" u="none" cap="none" strike="noStrike">
                <a:solidFill>
                  <a:schemeClr val="dk1"/>
                </a:solidFill>
                <a:latin typeface="Calibri"/>
                <a:ea typeface="Calibri"/>
                <a:cs typeface="Calibri"/>
                <a:sym typeface="Calibri"/>
              </a:endParaRPr>
            </a:p>
          </p:txBody>
        </p:sp>
      </p:grpSp>
      <p:pic>
        <p:nvPicPr>
          <p:cNvPr id="594" name="Google Shape;594;g3e266ac69b1_2_1"/>
          <p:cNvPicPr preferRelativeResize="0"/>
          <p:nvPr/>
        </p:nvPicPr>
        <p:blipFill>
          <a:blip r:embed="rId3">
            <a:alphaModFix/>
          </a:blip>
          <a:stretch>
            <a:fillRect/>
          </a:stretch>
        </p:blipFill>
        <p:spPr>
          <a:xfrm>
            <a:off x="152400" y="1524650"/>
            <a:ext cx="11887200" cy="38086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9" name="Shape 599"/>
        <p:cNvGrpSpPr/>
        <p:nvPr/>
      </p:nvGrpSpPr>
      <p:grpSpPr>
        <a:xfrm>
          <a:off x="0" y="0"/>
          <a:ext cx="0" cy="0"/>
          <a:chOff x="0" y="0"/>
          <a:chExt cx="0" cy="0"/>
        </a:xfrm>
      </p:grpSpPr>
      <p:sp>
        <p:nvSpPr>
          <p:cNvPr id="600" name="Google Shape;600;g3e266ac69b1_2_97"/>
          <p:cNvSpPr/>
          <p:nvPr/>
        </p:nvSpPr>
        <p:spPr>
          <a:xfrm>
            <a:off x="0" y="0"/>
            <a:ext cx="12192000" cy="6981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1" name="Google Shape;601;g3e266ac69b1_2_97"/>
          <p:cNvSpPr/>
          <p:nvPr/>
        </p:nvSpPr>
        <p:spPr>
          <a:xfrm>
            <a:off x="455825" y="78225"/>
            <a:ext cx="10972800" cy="548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Variables del Modelo</a:t>
            </a:r>
            <a:endParaRPr b="0" i="0" sz="3500" u="none" cap="none" strike="noStrike">
              <a:solidFill>
                <a:schemeClr val="dk1"/>
              </a:solidFill>
              <a:latin typeface="Calibri"/>
              <a:ea typeface="Calibri"/>
              <a:cs typeface="Calibri"/>
              <a:sym typeface="Calibri"/>
            </a:endParaRPr>
          </a:p>
        </p:txBody>
      </p:sp>
      <p:sp>
        <p:nvSpPr>
          <p:cNvPr id="602" name="Google Shape;602;g3e266ac69b1_2_97"/>
          <p:cNvSpPr/>
          <p:nvPr/>
        </p:nvSpPr>
        <p:spPr>
          <a:xfrm>
            <a:off x="455825" y="698088"/>
            <a:ext cx="3901500" cy="4320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500">
                <a:solidFill>
                  <a:schemeClr val="lt1"/>
                </a:solidFill>
                <a:latin typeface="Calibri"/>
                <a:ea typeface="Calibri"/>
                <a:cs typeface="Calibri"/>
                <a:sym typeface="Calibri"/>
              </a:rPr>
              <a:t>Variable</a:t>
            </a:r>
            <a:endParaRPr b="1" sz="1500">
              <a:solidFill>
                <a:schemeClr val="lt1"/>
              </a:solidFill>
              <a:latin typeface="Calibri"/>
              <a:ea typeface="Calibri"/>
              <a:cs typeface="Calibri"/>
              <a:sym typeface="Calibri"/>
            </a:endParaRPr>
          </a:p>
        </p:txBody>
      </p:sp>
      <p:sp>
        <p:nvSpPr>
          <p:cNvPr id="603" name="Google Shape;603;g3e266ac69b1_2_97"/>
          <p:cNvSpPr/>
          <p:nvPr/>
        </p:nvSpPr>
        <p:spPr>
          <a:xfrm>
            <a:off x="516775" y="-422775"/>
            <a:ext cx="39015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Variable</a:t>
            </a:r>
            <a:endParaRPr b="0" i="0" sz="1500" u="none" cap="none" strike="noStrike">
              <a:solidFill>
                <a:schemeClr val="dk1"/>
              </a:solidFill>
              <a:latin typeface="Calibri"/>
              <a:ea typeface="Calibri"/>
              <a:cs typeface="Calibri"/>
              <a:sym typeface="Calibri"/>
            </a:endParaRPr>
          </a:p>
        </p:txBody>
      </p:sp>
      <p:sp>
        <p:nvSpPr>
          <p:cNvPr id="604" name="Google Shape;604;g3e266ac69b1_2_97"/>
          <p:cNvSpPr/>
          <p:nvPr/>
        </p:nvSpPr>
        <p:spPr>
          <a:xfrm>
            <a:off x="4418234" y="698088"/>
            <a:ext cx="2072700" cy="4320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rPr b="1" lang="en-US" sz="1500">
                <a:solidFill>
                  <a:schemeClr val="lt1"/>
                </a:solidFill>
              </a:rPr>
              <a:t>Tipo</a:t>
            </a:r>
            <a:endParaRPr b="1" sz="1500">
              <a:solidFill>
                <a:schemeClr val="lt1"/>
              </a:solidFill>
            </a:endParaRPr>
          </a:p>
        </p:txBody>
      </p:sp>
      <p:sp>
        <p:nvSpPr>
          <p:cNvPr id="605" name="Google Shape;605;g3e266ac69b1_2_97"/>
          <p:cNvSpPr/>
          <p:nvPr/>
        </p:nvSpPr>
        <p:spPr>
          <a:xfrm>
            <a:off x="4479189" y="-422775"/>
            <a:ext cx="20727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Tipo</a:t>
            </a:r>
            <a:endParaRPr b="0" i="0" sz="1500" u="none" cap="none" strike="noStrike">
              <a:solidFill>
                <a:schemeClr val="dk1"/>
              </a:solidFill>
              <a:latin typeface="Calibri"/>
              <a:ea typeface="Calibri"/>
              <a:cs typeface="Calibri"/>
              <a:sym typeface="Calibri"/>
            </a:endParaRPr>
          </a:p>
        </p:txBody>
      </p:sp>
      <p:sp>
        <p:nvSpPr>
          <p:cNvPr id="606" name="Google Shape;606;g3e266ac69b1_2_97"/>
          <p:cNvSpPr/>
          <p:nvPr/>
        </p:nvSpPr>
        <p:spPr>
          <a:xfrm>
            <a:off x="6612797" y="-422775"/>
            <a:ext cx="2438400" cy="628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Valores / Rango</a:t>
            </a:r>
            <a:endParaRPr b="0" i="0" sz="1500" u="none" cap="none" strike="noStrike">
              <a:solidFill>
                <a:schemeClr val="dk1"/>
              </a:solidFill>
              <a:latin typeface="Calibri"/>
              <a:ea typeface="Calibri"/>
              <a:cs typeface="Calibri"/>
              <a:sym typeface="Calibri"/>
            </a:endParaRPr>
          </a:p>
        </p:txBody>
      </p:sp>
      <p:sp>
        <p:nvSpPr>
          <p:cNvPr id="607" name="Google Shape;607;g3e266ac69b1_2_97"/>
          <p:cNvSpPr/>
          <p:nvPr/>
        </p:nvSpPr>
        <p:spPr>
          <a:xfrm>
            <a:off x="455825" y="1130249"/>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8" name="Google Shape;608;g3e266ac69b1_2_97"/>
          <p:cNvSpPr/>
          <p:nvPr/>
        </p:nvSpPr>
        <p:spPr>
          <a:xfrm>
            <a:off x="541169" y="1130249"/>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Franja_Horaria</a:t>
            </a:r>
            <a:endParaRPr b="0" i="0" sz="1300" u="none" cap="none" strike="noStrike">
              <a:solidFill>
                <a:schemeClr val="dk1"/>
              </a:solidFill>
              <a:latin typeface="Calibri"/>
              <a:ea typeface="Calibri"/>
              <a:cs typeface="Calibri"/>
              <a:sym typeface="Calibri"/>
            </a:endParaRPr>
          </a:p>
        </p:txBody>
      </p:sp>
      <p:sp>
        <p:nvSpPr>
          <p:cNvPr id="609" name="Google Shape;609;g3e266ac69b1_2_97"/>
          <p:cNvSpPr/>
          <p:nvPr/>
        </p:nvSpPr>
        <p:spPr>
          <a:xfrm>
            <a:off x="4418234" y="1130249"/>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0" name="Google Shape;610;g3e266ac69b1_2_97"/>
          <p:cNvSpPr/>
          <p:nvPr/>
        </p:nvSpPr>
        <p:spPr>
          <a:xfrm>
            <a:off x="4503578" y="1130249"/>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11" name="Google Shape;611;g3e266ac69b1_2_97"/>
          <p:cNvSpPr/>
          <p:nvPr/>
        </p:nvSpPr>
        <p:spPr>
          <a:xfrm>
            <a:off x="455825" y="1539665"/>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2" name="Google Shape;612;g3e266ac69b1_2_97"/>
          <p:cNvSpPr/>
          <p:nvPr/>
        </p:nvSpPr>
        <p:spPr>
          <a:xfrm>
            <a:off x="541169" y="1539665"/>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Dia_Semana</a:t>
            </a:r>
            <a:endParaRPr b="0" i="0" sz="1300" u="none" cap="none" strike="noStrike">
              <a:solidFill>
                <a:schemeClr val="dk1"/>
              </a:solidFill>
              <a:latin typeface="Calibri"/>
              <a:ea typeface="Calibri"/>
              <a:cs typeface="Calibri"/>
              <a:sym typeface="Calibri"/>
            </a:endParaRPr>
          </a:p>
        </p:txBody>
      </p:sp>
      <p:sp>
        <p:nvSpPr>
          <p:cNvPr id="613" name="Google Shape;613;g3e266ac69b1_2_97"/>
          <p:cNvSpPr/>
          <p:nvPr/>
        </p:nvSpPr>
        <p:spPr>
          <a:xfrm>
            <a:off x="4418234" y="1539665"/>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4" name="Google Shape;614;g3e266ac69b1_2_97"/>
          <p:cNvSpPr/>
          <p:nvPr/>
        </p:nvSpPr>
        <p:spPr>
          <a:xfrm>
            <a:off x="4503578" y="1539665"/>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15" name="Google Shape;615;g3e266ac69b1_2_97"/>
          <p:cNvSpPr/>
          <p:nvPr/>
        </p:nvSpPr>
        <p:spPr>
          <a:xfrm>
            <a:off x="455825" y="1949082"/>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6" name="Google Shape;616;g3e266ac69b1_2_97"/>
          <p:cNvSpPr/>
          <p:nvPr/>
        </p:nvSpPr>
        <p:spPr>
          <a:xfrm>
            <a:off x="541169" y="1949082"/>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Hora_num</a:t>
            </a:r>
            <a:endParaRPr b="0" i="0" sz="1300" u="none" cap="none" strike="noStrike">
              <a:solidFill>
                <a:schemeClr val="dk1"/>
              </a:solidFill>
              <a:latin typeface="Calibri"/>
              <a:ea typeface="Calibri"/>
              <a:cs typeface="Calibri"/>
              <a:sym typeface="Calibri"/>
            </a:endParaRPr>
          </a:p>
        </p:txBody>
      </p:sp>
      <p:sp>
        <p:nvSpPr>
          <p:cNvPr id="617" name="Google Shape;617;g3e266ac69b1_2_97"/>
          <p:cNvSpPr/>
          <p:nvPr/>
        </p:nvSpPr>
        <p:spPr>
          <a:xfrm>
            <a:off x="4418234" y="1949082"/>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8" name="Google Shape;618;g3e266ac69b1_2_97"/>
          <p:cNvSpPr/>
          <p:nvPr/>
        </p:nvSpPr>
        <p:spPr>
          <a:xfrm>
            <a:off x="4503578" y="1949082"/>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619" name="Google Shape;619;g3e266ac69b1_2_97"/>
          <p:cNvSpPr/>
          <p:nvPr/>
        </p:nvSpPr>
        <p:spPr>
          <a:xfrm>
            <a:off x="455825" y="2358498"/>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0" name="Google Shape;620;g3e266ac69b1_2_97"/>
          <p:cNvSpPr/>
          <p:nvPr/>
        </p:nvSpPr>
        <p:spPr>
          <a:xfrm>
            <a:off x="541169" y="2358498"/>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Clase_Accidente</a:t>
            </a:r>
            <a:endParaRPr b="0" i="0" sz="1300" u="none" cap="none" strike="noStrike">
              <a:solidFill>
                <a:schemeClr val="dk1"/>
              </a:solidFill>
              <a:latin typeface="Calibri"/>
              <a:ea typeface="Calibri"/>
              <a:cs typeface="Calibri"/>
              <a:sym typeface="Calibri"/>
            </a:endParaRPr>
          </a:p>
        </p:txBody>
      </p:sp>
      <p:sp>
        <p:nvSpPr>
          <p:cNvPr id="621" name="Google Shape;621;g3e266ac69b1_2_97"/>
          <p:cNvSpPr/>
          <p:nvPr/>
        </p:nvSpPr>
        <p:spPr>
          <a:xfrm>
            <a:off x="4418234" y="2358498"/>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2" name="Google Shape;622;g3e266ac69b1_2_97"/>
          <p:cNvSpPr/>
          <p:nvPr/>
        </p:nvSpPr>
        <p:spPr>
          <a:xfrm>
            <a:off x="4503578" y="2358498"/>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23" name="Google Shape;623;g3e266ac69b1_2_97"/>
          <p:cNvSpPr/>
          <p:nvPr/>
        </p:nvSpPr>
        <p:spPr>
          <a:xfrm>
            <a:off x="455825" y="2767914"/>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4" name="Google Shape;624;g3e266ac69b1_2_97"/>
          <p:cNvSpPr/>
          <p:nvPr/>
        </p:nvSpPr>
        <p:spPr>
          <a:xfrm>
            <a:off x="541169" y="2767914"/>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Clas</a:t>
            </a:r>
            <a:r>
              <a:rPr lang="en-US" sz="1300">
                <a:solidFill>
                  <a:srgbClr val="1E293B"/>
                </a:solidFill>
                <a:latin typeface="Calibri"/>
                <a:ea typeface="Calibri"/>
                <a:cs typeface="Calibri"/>
                <a:sym typeface="Calibri"/>
              </a:rPr>
              <a:t>e_Vehiculo</a:t>
            </a:r>
            <a:endParaRPr b="0" i="0" sz="1300" u="none" cap="none" strike="noStrike">
              <a:solidFill>
                <a:schemeClr val="dk1"/>
              </a:solidFill>
              <a:latin typeface="Calibri"/>
              <a:ea typeface="Calibri"/>
              <a:cs typeface="Calibri"/>
              <a:sym typeface="Calibri"/>
            </a:endParaRPr>
          </a:p>
        </p:txBody>
      </p:sp>
      <p:sp>
        <p:nvSpPr>
          <p:cNvPr id="625" name="Google Shape;625;g3e266ac69b1_2_97"/>
          <p:cNvSpPr/>
          <p:nvPr/>
        </p:nvSpPr>
        <p:spPr>
          <a:xfrm>
            <a:off x="4418234" y="2767914"/>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6" name="Google Shape;626;g3e266ac69b1_2_97"/>
          <p:cNvSpPr/>
          <p:nvPr/>
        </p:nvSpPr>
        <p:spPr>
          <a:xfrm>
            <a:off x="4503578" y="2767914"/>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27" name="Google Shape;627;g3e266ac69b1_2_97"/>
          <p:cNvSpPr/>
          <p:nvPr/>
        </p:nvSpPr>
        <p:spPr>
          <a:xfrm>
            <a:off x="455825" y="3177331"/>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8" name="Google Shape;628;g3e266ac69b1_2_97"/>
          <p:cNvSpPr/>
          <p:nvPr/>
        </p:nvSpPr>
        <p:spPr>
          <a:xfrm>
            <a:off x="541169" y="3177331"/>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Tipo_</a:t>
            </a:r>
            <a:r>
              <a:rPr lang="en-US" sz="1300">
                <a:solidFill>
                  <a:srgbClr val="1E293B"/>
                </a:solidFill>
                <a:latin typeface="Calibri"/>
                <a:ea typeface="Calibri"/>
                <a:cs typeface="Calibri"/>
                <a:sym typeface="Calibri"/>
              </a:rPr>
              <a:t>Victima</a:t>
            </a:r>
            <a:endParaRPr b="0" i="0" sz="1300" u="none" cap="none" strike="noStrike">
              <a:solidFill>
                <a:schemeClr val="dk1"/>
              </a:solidFill>
              <a:latin typeface="Calibri"/>
              <a:ea typeface="Calibri"/>
              <a:cs typeface="Calibri"/>
              <a:sym typeface="Calibri"/>
            </a:endParaRPr>
          </a:p>
        </p:txBody>
      </p:sp>
      <p:sp>
        <p:nvSpPr>
          <p:cNvPr id="629" name="Google Shape;629;g3e266ac69b1_2_97"/>
          <p:cNvSpPr/>
          <p:nvPr/>
        </p:nvSpPr>
        <p:spPr>
          <a:xfrm>
            <a:off x="4418234" y="3177331"/>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0" name="Google Shape;630;g3e266ac69b1_2_97"/>
          <p:cNvSpPr/>
          <p:nvPr/>
        </p:nvSpPr>
        <p:spPr>
          <a:xfrm>
            <a:off x="4503578" y="3177331"/>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31" name="Google Shape;631;g3e266ac69b1_2_97"/>
          <p:cNvSpPr/>
          <p:nvPr/>
        </p:nvSpPr>
        <p:spPr>
          <a:xfrm>
            <a:off x="455825" y="3586747"/>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2" name="Google Shape;632;g3e266ac69b1_2_97"/>
          <p:cNvSpPr/>
          <p:nvPr/>
        </p:nvSpPr>
        <p:spPr>
          <a:xfrm>
            <a:off x="541169" y="3586747"/>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Sector_Accidente</a:t>
            </a:r>
            <a:endParaRPr b="0" i="0" sz="1300" u="none" cap="none" strike="noStrike">
              <a:solidFill>
                <a:schemeClr val="dk1"/>
              </a:solidFill>
              <a:latin typeface="Calibri"/>
              <a:ea typeface="Calibri"/>
              <a:cs typeface="Calibri"/>
              <a:sym typeface="Calibri"/>
            </a:endParaRPr>
          </a:p>
        </p:txBody>
      </p:sp>
      <p:sp>
        <p:nvSpPr>
          <p:cNvPr id="633" name="Google Shape;633;g3e266ac69b1_2_97"/>
          <p:cNvSpPr/>
          <p:nvPr/>
        </p:nvSpPr>
        <p:spPr>
          <a:xfrm>
            <a:off x="4418234" y="3586747"/>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4" name="Google Shape;634;g3e266ac69b1_2_97"/>
          <p:cNvSpPr/>
          <p:nvPr/>
        </p:nvSpPr>
        <p:spPr>
          <a:xfrm>
            <a:off x="4503578" y="3586747"/>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35" name="Google Shape;635;g3e266ac69b1_2_97"/>
          <p:cNvSpPr/>
          <p:nvPr/>
        </p:nvSpPr>
        <p:spPr>
          <a:xfrm>
            <a:off x="455825" y="3996163"/>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6" name="Google Shape;636;g3e266ac69b1_2_97"/>
          <p:cNvSpPr/>
          <p:nvPr/>
        </p:nvSpPr>
        <p:spPr>
          <a:xfrm>
            <a:off x="541169" y="3996163"/>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Localidad_Comuna</a:t>
            </a:r>
            <a:endParaRPr b="0" i="0" sz="1300" u="none" cap="none" strike="noStrike">
              <a:solidFill>
                <a:schemeClr val="dk1"/>
              </a:solidFill>
              <a:latin typeface="Calibri"/>
              <a:ea typeface="Calibri"/>
              <a:cs typeface="Calibri"/>
              <a:sym typeface="Calibri"/>
            </a:endParaRPr>
          </a:p>
        </p:txBody>
      </p:sp>
      <p:sp>
        <p:nvSpPr>
          <p:cNvPr id="637" name="Google Shape;637;g3e266ac69b1_2_97"/>
          <p:cNvSpPr/>
          <p:nvPr/>
        </p:nvSpPr>
        <p:spPr>
          <a:xfrm>
            <a:off x="4418234" y="3996163"/>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8" name="Google Shape;638;g3e266ac69b1_2_97"/>
          <p:cNvSpPr/>
          <p:nvPr/>
        </p:nvSpPr>
        <p:spPr>
          <a:xfrm>
            <a:off x="4503578" y="3996163"/>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39" name="Google Shape;639;g3e266ac69b1_2_97"/>
          <p:cNvSpPr/>
          <p:nvPr/>
        </p:nvSpPr>
        <p:spPr>
          <a:xfrm>
            <a:off x="455825" y="4405580"/>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0" name="Google Shape;640;g3e266ac69b1_2_97"/>
          <p:cNvSpPr/>
          <p:nvPr/>
        </p:nvSpPr>
        <p:spPr>
          <a:xfrm>
            <a:off x="541169" y="4405580"/>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Genero</a:t>
            </a:r>
            <a:endParaRPr b="0" i="0" sz="1300" u="none" cap="none" strike="noStrike">
              <a:solidFill>
                <a:schemeClr val="dk1"/>
              </a:solidFill>
              <a:latin typeface="Calibri"/>
              <a:ea typeface="Calibri"/>
              <a:cs typeface="Calibri"/>
              <a:sym typeface="Calibri"/>
            </a:endParaRPr>
          </a:p>
        </p:txBody>
      </p:sp>
      <p:sp>
        <p:nvSpPr>
          <p:cNvPr id="641" name="Google Shape;641;g3e266ac69b1_2_97"/>
          <p:cNvSpPr/>
          <p:nvPr/>
        </p:nvSpPr>
        <p:spPr>
          <a:xfrm>
            <a:off x="4418234" y="4405580"/>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2" name="Google Shape;642;g3e266ac69b1_2_97"/>
          <p:cNvSpPr/>
          <p:nvPr/>
        </p:nvSpPr>
        <p:spPr>
          <a:xfrm>
            <a:off x="4503578" y="4405580"/>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43" name="Google Shape;643;g3e266ac69b1_2_97"/>
          <p:cNvSpPr/>
          <p:nvPr/>
        </p:nvSpPr>
        <p:spPr>
          <a:xfrm>
            <a:off x="455825" y="481499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4" name="Google Shape;644;g3e266ac69b1_2_97"/>
          <p:cNvSpPr/>
          <p:nvPr/>
        </p:nvSpPr>
        <p:spPr>
          <a:xfrm>
            <a:off x="541169" y="481499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Edad</a:t>
            </a:r>
            <a:endParaRPr b="0" i="0" sz="1300" u="none" cap="none" strike="noStrike">
              <a:solidFill>
                <a:schemeClr val="dk1"/>
              </a:solidFill>
              <a:latin typeface="Calibri"/>
              <a:ea typeface="Calibri"/>
              <a:cs typeface="Calibri"/>
              <a:sym typeface="Calibri"/>
            </a:endParaRPr>
          </a:p>
        </p:txBody>
      </p:sp>
      <p:sp>
        <p:nvSpPr>
          <p:cNvPr id="645" name="Google Shape;645;g3e266ac69b1_2_97"/>
          <p:cNvSpPr/>
          <p:nvPr/>
        </p:nvSpPr>
        <p:spPr>
          <a:xfrm>
            <a:off x="4418234" y="481499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6" name="Google Shape;646;g3e266ac69b1_2_97"/>
          <p:cNvSpPr/>
          <p:nvPr/>
        </p:nvSpPr>
        <p:spPr>
          <a:xfrm>
            <a:off x="4503578" y="481499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lang="en-US" sz="1300">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647" name="Google Shape;647;g3e266ac69b1_2_97"/>
          <p:cNvSpPr/>
          <p:nvPr/>
        </p:nvSpPr>
        <p:spPr>
          <a:xfrm>
            <a:off x="455825" y="5224412"/>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8" name="Google Shape;648;g3e266ac69b1_2_97"/>
          <p:cNvSpPr/>
          <p:nvPr/>
        </p:nvSpPr>
        <p:spPr>
          <a:xfrm>
            <a:off x="541159" y="6159291"/>
            <a:ext cx="3779700" cy="595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Estado_Embriaguez</a:t>
            </a:r>
            <a:endParaRPr b="0" i="0" sz="1300" u="none" cap="none" strike="noStrike">
              <a:solidFill>
                <a:schemeClr val="dk1"/>
              </a:solidFill>
              <a:latin typeface="Calibri"/>
              <a:ea typeface="Calibri"/>
              <a:cs typeface="Calibri"/>
              <a:sym typeface="Calibri"/>
            </a:endParaRPr>
          </a:p>
        </p:txBody>
      </p:sp>
      <p:sp>
        <p:nvSpPr>
          <p:cNvPr id="649" name="Google Shape;649;g3e266ac69b1_2_97"/>
          <p:cNvSpPr/>
          <p:nvPr/>
        </p:nvSpPr>
        <p:spPr>
          <a:xfrm>
            <a:off x="4418234" y="5224412"/>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0" name="Google Shape;650;g3e266ac69b1_2_97"/>
          <p:cNvSpPr/>
          <p:nvPr/>
        </p:nvSpPr>
        <p:spPr>
          <a:xfrm>
            <a:off x="4503578" y="5224412"/>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51" name="Google Shape;651;g3e266ac69b1_2_97"/>
          <p:cNvSpPr/>
          <p:nvPr/>
        </p:nvSpPr>
        <p:spPr>
          <a:xfrm>
            <a:off x="9308175" y="1584949"/>
            <a:ext cx="2499300" cy="50028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2" name="Google Shape;652;g3e266ac69b1_2_97"/>
          <p:cNvSpPr/>
          <p:nvPr/>
        </p:nvSpPr>
        <p:spPr>
          <a:xfrm>
            <a:off x="9308174" y="1584960"/>
            <a:ext cx="2499300" cy="4632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3" name="Google Shape;653;g3e266ac69b1_2_97"/>
          <p:cNvSpPr/>
          <p:nvPr/>
        </p:nvSpPr>
        <p:spPr>
          <a:xfrm>
            <a:off x="9285238" y="1584960"/>
            <a:ext cx="2499300" cy="46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Calibri"/>
              <a:buNone/>
            </a:pPr>
            <a:r>
              <a:rPr b="1" i="0" lang="en-US" sz="2200" u="none" cap="none" strike="noStrike">
                <a:solidFill>
                  <a:srgbClr val="FFFFFF"/>
                </a:solidFill>
                <a:latin typeface="Calibri"/>
                <a:ea typeface="Calibri"/>
                <a:cs typeface="Calibri"/>
                <a:sym typeface="Calibri"/>
              </a:rPr>
              <a:t>OBJETIVO</a:t>
            </a:r>
            <a:endParaRPr b="0" i="0" sz="2200" u="none" cap="none" strike="noStrike">
              <a:solidFill>
                <a:schemeClr val="dk1"/>
              </a:solidFill>
              <a:latin typeface="Calibri"/>
              <a:ea typeface="Calibri"/>
              <a:cs typeface="Calibri"/>
              <a:sym typeface="Calibri"/>
            </a:endParaRPr>
          </a:p>
        </p:txBody>
      </p:sp>
      <p:sp>
        <p:nvSpPr>
          <p:cNvPr id="654" name="Google Shape;654;g3e266ac69b1_2_97"/>
          <p:cNvSpPr/>
          <p:nvPr/>
        </p:nvSpPr>
        <p:spPr>
          <a:xfrm>
            <a:off x="9399684" y="2102007"/>
            <a:ext cx="23163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2100"/>
              <a:buFont typeface="Calibri"/>
              <a:buNone/>
            </a:pPr>
            <a:r>
              <a:rPr b="1" i="0" lang="en-US" sz="2300" u="none" cap="none" strike="noStrike">
                <a:solidFill>
                  <a:srgbClr val="990011"/>
                </a:solidFill>
                <a:latin typeface="Calibri"/>
                <a:ea typeface="Calibri"/>
                <a:cs typeface="Calibri"/>
                <a:sym typeface="Calibri"/>
              </a:rPr>
              <a:t>Gravedad</a:t>
            </a:r>
            <a:endParaRPr b="0" i="0" sz="2300" u="none" cap="none" strike="noStrike">
              <a:solidFill>
                <a:schemeClr val="dk1"/>
              </a:solidFill>
              <a:latin typeface="Calibri"/>
              <a:ea typeface="Calibri"/>
              <a:cs typeface="Calibri"/>
              <a:sym typeface="Calibri"/>
            </a:endParaRPr>
          </a:p>
        </p:txBody>
      </p:sp>
      <p:sp>
        <p:nvSpPr>
          <p:cNvPr id="655" name="Google Shape;655;g3e266ac69b1_2_97"/>
          <p:cNvSpPr/>
          <p:nvPr/>
        </p:nvSpPr>
        <p:spPr>
          <a:xfrm>
            <a:off x="9399684" y="2650695"/>
            <a:ext cx="2316300" cy="79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700"/>
              <a:buFont typeface="Calibri"/>
              <a:buNone/>
            </a:pPr>
            <a:r>
              <a:rPr b="0" i="0" lang="en-US" sz="2200" u="none" cap="none" strike="noStrike">
                <a:solidFill>
                  <a:srgbClr val="1C2951"/>
                </a:solidFill>
                <a:latin typeface="Calibri"/>
                <a:ea typeface="Calibri"/>
                <a:cs typeface="Calibri"/>
                <a:sym typeface="Calibri"/>
              </a:rPr>
              <a:t>Heridos = 0</a:t>
            </a:r>
            <a:endParaRPr b="0" i="0" sz="2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700"/>
              <a:buFont typeface="Calibri"/>
              <a:buNone/>
            </a:pPr>
            <a:r>
              <a:rPr b="0" i="0" lang="en-US" sz="2200" u="none" cap="none" strike="noStrike">
                <a:solidFill>
                  <a:srgbClr val="1C2951"/>
                </a:solidFill>
                <a:latin typeface="Calibri"/>
                <a:ea typeface="Calibri"/>
                <a:cs typeface="Calibri"/>
                <a:sym typeface="Calibri"/>
              </a:rPr>
              <a:t>Muertos = 1</a:t>
            </a:r>
            <a:endParaRPr b="0" i="0" sz="2200" u="none" cap="none" strike="noStrike">
              <a:solidFill>
                <a:schemeClr val="dk1"/>
              </a:solidFill>
              <a:latin typeface="Calibri"/>
              <a:ea typeface="Calibri"/>
              <a:cs typeface="Calibri"/>
              <a:sym typeface="Calibri"/>
            </a:endParaRPr>
          </a:p>
        </p:txBody>
      </p:sp>
      <p:sp>
        <p:nvSpPr>
          <p:cNvPr id="656" name="Google Shape;656;g3e266ac69b1_2_97"/>
          <p:cNvSpPr/>
          <p:nvPr/>
        </p:nvSpPr>
        <p:spPr>
          <a:xfrm>
            <a:off x="9369150" y="3440475"/>
            <a:ext cx="2316300" cy="301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lang="en-US" sz="1900">
                <a:solidFill>
                  <a:srgbClr val="64748B"/>
                </a:solidFill>
                <a:latin typeface="Calibri"/>
                <a:ea typeface="Calibri"/>
                <a:cs typeface="Calibri"/>
                <a:sym typeface="Calibri"/>
              </a:rPr>
              <a:t>Dada la estrategia aumento de proporción de muertos de dataset de 500 registros, realizado para la selección del dataset, no es necesaria una técnica de balanceo.</a:t>
            </a:r>
            <a:endParaRPr b="0" i="0" sz="1900" u="none" cap="none" strike="noStrike">
              <a:solidFill>
                <a:schemeClr val="dk1"/>
              </a:solidFill>
              <a:latin typeface="Calibri"/>
              <a:ea typeface="Calibri"/>
              <a:cs typeface="Calibri"/>
              <a:sym typeface="Calibri"/>
            </a:endParaRPr>
          </a:p>
        </p:txBody>
      </p:sp>
      <p:grpSp>
        <p:nvGrpSpPr>
          <p:cNvPr id="657" name="Google Shape;657;g3e266ac69b1_2_97"/>
          <p:cNvGrpSpPr/>
          <p:nvPr/>
        </p:nvGrpSpPr>
        <p:grpSpPr>
          <a:xfrm>
            <a:off x="9420700" y="147975"/>
            <a:ext cx="2557800" cy="409200"/>
            <a:chOff x="609600" y="304800"/>
            <a:chExt cx="2557800" cy="409200"/>
          </a:xfrm>
        </p:grpSpPr>
        <p:sp>
          <p:nvSpPr>
            <p:cNvPr id="658" name="Google Shape;658;g3e266ac69b1_2_97"/>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b="1" sz="2400"/>
            </a:p>
          </p:txBody>
        </p:sp>
        <p:sp>
          <p:nvSpPr>
            <p:cNvPr id="659" name="Google Shape;659;g3e266ac69b1_2_97"/>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259">
                  <a:solidFill>
                    <a:srgbClr val="FFFFFF"/>
                  </a:solidFill>
                  <a:latin typeface="Calibri"/>
                  <a:ea typeface="Calibri"/>
                  <a:cs typeface="Calibri"/>
                  <a:sym typeface="Calibri"/>
                </a:rPr>
                <a:t>Gradient Boosting</a:t>
              </a:r>
              <a:endParaRPr b="1" i="0" sz="2259" u="none" cap="none" strike="noStrike">
                <a:solidFill>
                  <a:schemeClr val="dk1"/>
                </a:solidFill>
                <a:latin typeface="Calibri"/>
                <a:ea typeface="Calibri"/>
                <a:cs typeface="Calibri"/>
                <a:sym typeface="Calibri"/>
              </a:endParaRPr>
            </a:p>
          </p:txBody>
        </p:sp>
      </p:grpSp>
      <p:sp>
        <p:nvSpPr>
          <p:cNvPr id="660" name="Google Shape;660;g3e266ac69b1_2_97"/>
          <p:cNvSpPr/>
          <p:nvPr/>
        </p:nvSpPr>
        <p:spPr>
          <a:xfrm>
            <a:off x="455825" y="5633830"/>
            <a:ext cx="39015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1" name="Google Shape;661;g3e266ac69b1_2_97"/>
          <p:cNvSpPr/>
          <p:nvPr/>
        </p:nvSpPr>
        <p:spPr>
          <a:xfrm>
            <a:off x="541169" y="5633830"/>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Causa_Accidente</a:t>
            </a:r>
            <a:endParaRPr b="0" i="0" sz="1300" u="none" cap="none" strike="noStrike">
              <a:solidFill>
                <a:schemeClr val="dk1"/>
              </a:solidFill>
              <a:latin typeface="Calibri"/>
              <a:ea typeface="Calibri"/>
              <a:cs typeface="Calibri"/>
              <a:sym typeface="Calibri"/>
            </a:endParaRPr>
          </a:p>
        </p:txBody>
      </p:sp>
      <p:sp>
        <p:nvSpPr>
          <p:cNvPr id="662" name="Google Shape;662;g3e266ac69b1_2_97"/>
          <p:cNvSpPr/>
          <p:nvPr/>
        </p:nvSpPr>
        <p:spPr>
          <a:xfrm>
            <a:off x="4418234" y="5633830"/>
            <a:ext cx="2072700" cy="4095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3" name="Google Shape;663;g3e266ac69b1_2_97"/>
          <p:cNvSpPr/>
          <p:nvPr/>
        </p:nvSpPr>
        <p:spPr>
          <a:xfrm>
            <a:off x="4503578" y="5633830"/>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64" name="Google Shape;664;g3e266ac69b1_2_97"/>
          <p:cNvSpPr/>
          <p:nvPr/>
        </p:nvSpPr>
        <p:spPr>
          <a:xfrm>
            <a:off x="455825" y="604324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5" name="Google Shape;665;g3e266ac69b1_2_97"/>
          <p:cNvSpPr/>
          <p:nvPr/>
        </p:nvSpPr>
        <p:spPr>
          <a:xfrm>
            <a:off x="541169" y="604324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Condicion_Climatica</a:t>
            </a:r>
            <a:endParaRPr b="0" i="0" sz="1300" u="none" cap="none" strike="noStrike">
              <a:solidFill>
                <a:schemeClr val="dk1"/>
              </a:solidFill>
              <a:latin typeface="Calibri"/>
              <a:ea typeface="Calibri"/>
              <a:cs typeface="Calibri"/>
              <a:sym typeface="Calibri"/>
            </a:endParaRPr>
          </a:p>
        </p:txBody>
      </p:sp>
      <p:sp>
        <p:nvSpPr>
          <p:cNvPr id="666" name="Google Shape;666;g3e266ac69b1_2_97"/>
          <p:cNvSpPr/>
          <p:nvPr/>
        </p:nvSpPr>
        <p:spPr>
          <a:xfrm>
            <a:off x="4418234" y="604324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7" name="Google Shape;667;g3e266ac69b1_2_97"/>
          <p:cNvSpPr/>
          <p:nvPr/>
        </p:nvSpPr>
        <p:spPr>
          <a:xfrm>
            <a:off x="4503578" y="604324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68" name="Google Shape;668;g3e266ac69b1_2_97"/>
          <p:cNvSpPr/>
          <p:nvPr/>
        </p:nvSpPr>
        <p:spPr>
          <a:xfrm>
            <a:off x="455825" y="6452646"/>
            <a:ext cx="39015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9" name="Google Shape;669;g3e266ac69b1_2_97"/>
          <p:cNvSpPr/>
          <p:nvPr/>
        </p:nvSpPr>
        <p:spPr>
          <a:xfrm>
            <a:off x="541169" y="6452646"/>
            <a:ext cx="37797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Tipo_Servicio</a:t>
            </a:r>
            <a:endParaRPr b="0" i="0" sz="1300" u="none" cap="none" strike="noStrike">
              <a:solidFill>
                <a:schemeClr val="dk1"/>
              </a:solidFill>
              <a:latin typeface="Calibri"/>
              <a:ea typeface="Calibri"/>
              <a:cs typeface="Calibri"/>
              <a:sym typeface="Calibri"/>
            </a:endParaRPr>
          </a:p>
        </p:txBody>
      </p:sp>
      <p:sp>
        <p:nvSpPr>
          <p:cNvPr id="670" name="Google Shape;670;g3e266ac69b1_2_97"/>
          <p:cNvSpPr/>
          <p:nvPr/>
        </p:nvSpPr>
        <p:spPr>
          <a:xfrm>
            <a:off x="4418234" y="6452646"/>
            <a:ext cx="2072700" cy="4095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1" name="Google Shape;671;g3e266ac69b1_2_97"/>
          <p:cNvSpPr/>
          <p:nvPr/>
        </p:nvSpPr>
        <p:spPr>
          <a:xfrm>
            <a:off x="4503578" y="6452646"/>
            <a:ext cx="1950900" cy="409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672" name="Google Shape;672;g3e266ac69b1_2_97"/>
          <p:cNvSpPr/>
          <p:nvPr/>
        </p:nvSpPr>
        <p:spPr>
          <a:xfrm>
            <a:off x="571775" y="5224500"/>
            <a:ext cx="3901500" cy="392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lang="en-US" sz="1300">
                <a:solidFill>
                  <a:srgbClr val="1E293B"/>
                </a:solidFill>
                <a:latin typeface="Calibri"/>
                <a:ea typeface="Calibri"/>
                <a:cs typeface="Calibri"/>
                <a:sym typeface="Calibri"/>
              </a:rPr>
              <a:t>Edad_Nivel</a:t>
            </a:r>
            <a:endParaRPr b="0" i="0" sz="1300" u="none" cap="none" strike="noStrike">
              <a:solidFill>
                <a:schemeClr val="dk1"/>
              </a:solidFill>
              <a:latin typeface="Calibri"/>
              <a:ea typeface="Calibri"/>
              <a:cs typeface="Calibri"/>
              <a:sym typeface="Calibri"/>
            </a:endParaRPr>
          </a:p>
        </p:txBody>
      </p:sp>
      <p:sp>
        <p:nvSpPr>
          <p:cNvPr id="673" name="Google Shape;673;g3e266ac69b1_2_97"/>
          <p:cNvSpPr/>
          <p:nvPr/>
        </p:nvSpPr>
        <p:spPr>
          <a:xfrm>
            <a:off x="6766550" y="2645275"/>
            <a:ext cx="2210100" cy="2837400"/>
          </a:xfrm>
          <a:prstGeom prst="rect">
            <a:avLst/>
          </a:prstGeom>
          <a:solidFill>
            <a:srgbClr val="FEF3C7"/>
          </a:solidFill>
          <a:ln cap="flat" cmpd="sng" w="1015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674" name="Google Shape;674;g3e266ac69b1_2_97"/>
          <p:cNvSpPr/>
          <p:nvPr/>
        </p:nvSpPr>
        <p:spPr>
          <a:xfrm>
            <a:off x="6808484" y="2358575"/>
            <a:ext cx="2035200" cy="351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33" u="none" cap="none" strike="noStrike">
                <a:solidFill>
                  <a:srgbClr val="7A5200"/>
                </a:solidFill>
                <a:latin typeface="Arial"/>
                <a:ea typeface="Arial"/>
                <a:cs typeface="Arial"/>
                <a:sym typeface="Arial"/>
              </a:rPr>
              <a:t>⚠ </a:t>
            </a:r>
            <a:r>
              <a:rPr lang="en-US" sz="1433">
                <a:solidFill>
                  <a:srgbClr val="7A5200"/>
                </a:solidFill>
              </a:rPr>
              <a:t>Se establece una selección de 14 variables, donde los parámetros de homogeneidad de la data, y eliminación de correlaciones entre variables consecutivas determinar el carácter aleatorio.</a:t>
            </a:r>
            <a:endParaRPr b="0" i="0" sz="1433"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19"/>
          <p:cNvSpPr/>
          <p:nvPr/>
        </p:nvSpPr>
        <p:spPr>
          <a:xfrm>
            <a:off x="609600" y="543542"/>
            <a:ext cx="10972800" cy="6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1A3A5C"/>
                </a:solidFill>
                <a:latin typeface="Georgia"/>
                <a:ea typeface="Georgia"/>
                <a:cs typeface="Georgia"/>
                <a:sym typeface="Georgia"/>
              </a:rPr>
              <a:t>Transformación de Datos</a:t>
            </a:r>
            <a:endParaRPr b="0" i="0" sz="3467" u="none" cap="none" strike="noStrike">
              <a:solidFill>
                <a:srgbClr val="000000"/>
              </a:solidFill>
              <a:latin typeface="Arial"/>
              <a:ea typeface="Arial"/>
              <a:cs typeface="Arial"/>
              <a:sym typeface="Arial"/>
            </a:endParaRPr>
          </a:p>
        </p:txBody>
      </p:sp>
      <p:sp>
        <p:nvSpPr>
          <p:cNvPr id="681" name="Google Shape;681;p19"/>
          <p:cNvSpPr/>
          <p:nvPr/>
        </p:nvSpPr>
        <p:spPr>
          <a:xfrm>
            <a:off x="548640" y="1584960"/>
            <a:ext cx="5364480" cy="493776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preencoded.png" id="682" name="Google Shape;682;p19"/>
          <p:cNvPicPr preferRelativeResize="0"/>
          <p:nvPr/>
        </p:nvPicPr>
        <p:blipFill rotWithShape="1">
          <a:blip r:embed="rId3">
            <a:alphaModFix/>
          </a:blip>
          <a:srcRect b="0" l="0" r="0" t="0"/>
          <a:stretch/>
        </p:blipFill>
        <p:spPr>
          <a:xfrm>
            <a:off x="877824" y="1828800"/>
            <a:ext cx="548640" cy="548640"/>
          </a:xfrm>
          <a:prstGeom prst="rect">
            <a:avLst/>
          </a:prstGeom>
          <a:noFill/>
          <a:ln>
            <a:noFill/>
          </a:ln>
        </p:spPr>
      </p:pic>
      <p:sp>
        <p:nvSpPr>
          <p:cNvPr id="683" name="Google Shape;683;p19"/>
          <p:cNvSpPr/>
          <p:nvPr/>
        </p:nvSpPr>
        <p:spPr>
          <a:xfrm>
            <a:off x="1548384" y="1828800"/>
            <a:ext cx="4145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67" u="none" cap="none" strike="noStrike">
                <a:solidFill>
                  <a:srgbClr val="1A3A5C"/>
                </a:solidFill>
                <a:latin typeface="Arial"/>
                <a:ea typeface="Arial"/>
                <a:cs typeface="Arial"/>
                <a:sym typeface="Arial"/>
              </a:rPr>
              <a:t>One-Hot Encoding</a:t>
            </a:r>
            <a:endParaRPr b="0" i="0" sz="1867" u="none" cap="none" strike="noStrike">
              <a:solidFill>
                <a:srgbClr val="000000"/>
              </a:solidFill>
              <a:latin typeface="Arial"/>
              <a:ea typeface="Arial"/>
              <a:cs typeface="Arial"/>
              <a:sym typeface="Arial"/>
            </a:endParaRPr>
          </a:p>
        </p:txBody>
      </p:sp>
      <p:sp>
        <p:nvSpPr>
          <p:cNvPr id="684" name="Google Shape;684;p19"/>
          <p:cNvSpPr/>
          <p:nvPr/>
        </p:nvSpPr>
        <p:spPr>
          <a:xfrm>
            <a:off x="670560" y="2499360"/>
            <a:ext cx="5059680" cy="633984"/>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685" name="Google Shape;685;p19"/>
          <p:cNvSpPr/>
          <p:nvPr/>
        </p:nvSpPr>
        <p:spPr>
          <a:xfrm>
            <a:off x="755904" y="2499360"/>
            <a:ext cx="4876800" cy="6339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5EEAD4"/>
                </a:solidFill>
                <a:latin typeface="Courier New"/>
                <a:ea typeface="Courier New"/>
                <a:cs typeface="Courier New"/>
                <a:sym typeface="Courier New"/>
              </a:rPr>
              <a:t>d = pd.get_dummies(d, drop_first=True)</a:t>
            </a:r>
            <a:endParaRPr b="0" i="0" sz="1600" u="none" cap="none" strike="noStrike">
              <a:solidFill>
                <a:srgbClr val="000000"/>
              </a:solidFill>
              <a:latin typeface="Arial"/>
              <a:ea typeface="Arial"/>
              <a:cs typeface="Arial"/>
              <a:sym typeface="Arial"/>
            </a:endParaRPr>
          </a:p>
        </p:txBody>
      </p:sp>
      <p:sp>
        <p:nvSpPr>
          <p:cNvPr id="686" name="Google Shape;686;p19"/>
          <p:cNvSpPr/>
          <p:nvPr/>
        </p:nvSpPr>
        <p:spPr>
          <a:xfrm>
            <a:off x="548650" y="3073475"/>
            <a:ext cx="5265600" cy="3266400"/>
          </a:xfrm>
          <a:prstGeom prst="rect">
            <a:avLst/>
          </a:prstGeom>
          <a:noFill/>
          <a:ln>
            <a:noFill/>
          </a:ln>
        </p:spPr>
        <p:txBody>
          <a:bodyPr anchorCtr="0" anchor="ctr" bIns="45700" lIns="91425" spcFirstLastPara="1" rIns="91425" wrap="square" tIns="45700">
            <a:noAutofit/>
          </a:bodyPr>
          <a:lstStyle/>
          <a:p>
            <a:pPr indent="-482589" lvl="0" marL="457189" marR="0" rtl="0" algn="l">
              <a:lnSpc>
                <a:spcPct val="100000"/>
              </a:lnSpc>
              <a:spcBef>
                <a:spcPts val="0"/>
              </a:spcBef>
              <a:spcAft>
                <a:spcPts val="0"/>
              </a:spcAft>
              <a:buClr>
                <a:srgbClr val="000000"/>
              </a:buClr>
              <a:buSzPts val="1867"/>
              <a:buFont typeface="Arial"/>
              <a:buChar char="•"/>
            </a:pPr>
            <a:r>
              <a:rPr b="0" i="0" lang="en-US" sz="1867" u="none" cap="none" strike="noStrike">
                <a:solidFill>
                  <a:srgbClr val="64748B"/>
                </a:solidFill>
                <a:latin typeface="Arial"/>
                <a:ea typeface="Arial"/>
                <a:cs typeface="Arial"/>
                <a:sym typeface="Arial"/>
              </a:rPr>
              <a:t>Convierte variables categóricas en columnas binarias (0/1).</a:t>
            </a:r>
            <a:endParaRPr b="0" i="0" sz="1867" u="none" cap="none" strike="noStrike">
              <a:solidFill>
                <a:srgbClr val="000000"/>
              </a:solidFill>
              <a:latin typeface="Arial"/>
              <a:ea typeface="Arial"/>
              <a:cs typeface="Arial"/>
              <a:sym typeface="Arial"/>
            </a:endParaRPr>
          </a:p>
          <a:p>
            <a:pPr indent="-482589" lvl="0" marL="457189" marR="0" rtl="0" algn="l">
              <a:lnSpc>
                <a:spcPct val="100000"/>
              </a:lnSpc>
              <a:spcBef>
                <a:spcPts val="0"/>
              </a:spcBef>
              <a:spcAft>
                <a:spcPts val="0"/>
              </a:spcAft>
              <a:buClr>
                <a:srgbClr val="000000"/>
              </a:buClr>
              <a:buSzPts val="1867"/>
              <a:buFont typeface="Arial"/>
              <a:buChar char="•"/>
            </a:pPr>
            <a:r>
              <a:rPr lang="en-US" sz="1867">
                <a:solidFill>
                  <a:srgbClr val="64748B"/>
                </a:solidFill>
              </a:rPr>
              <a:t>D</a:t>
            </a:r>
            <a:r>
              <a:rPr b="0" i="0" lang="en-US" sz="1867" u="none" cap="none" strike="noStrike">
                <a:solidFill>
                  <a:srgbClr val="64748B"/>
                </a:solidFill>
                <a:latin typeface="Arial"/>
                <a:ea typeface="Arial"/>
                <a:cs typeface="Arial"/>
                <a:sym typeface="Arial"/>
              </a:rPr>
              <a:t>rop_first=True elimina 1 categoría por variable → evita multicolinealidad.</a:t>
            </a:r>
            <a:endParaRPr b="0" i="0" sz="1867" u="none" cap="none" strike="noStrike">
              <a:solidFill>
                <a:srgbClr val="000000"/>
              </a:solidFill>
              <a:latin typeface="Arial"/>
              <a:ea typeface="Arial"/>
              <a:cs typeface="Arial"/>
              <a:sym typeface="Arial"/>
            </a:endParaRPr>
          </a:p>
          <a:p>
            <a:pPr indent="-482589" lvl="0" marL="457189" marR="0" rtl="0" algn="l">
              <a:lnSpc>
                <a:spcPct val="100000"/>
              </a:lnSpc>
              <a:spcBef>
                <a:spcPts val="0"/>
              </a:spcBef>
              <a:spcAft>
                <a:spcPts val="0"/>
              </a:spcAft>
              <a:buClr>
                <a:srgbClr val="000000"/>
              </a:buClr>
              <a:buSzPts val="1867"/>
              <a:buFont typeface="Arial"/>
              <a:buChar char="•"/>
            </a:pPr>
            <a:r>
              <a:rPr lang="en-US" sz="1867">
                <a:solidFill>
                  <a:srgbClr val="64748B"/>
                </a:solidFill>
              </a:rPr>
              <a:t>Para efectos del ejercicio, y reducir en medida de lo posible la cantidad de variables, se agrupan: Causa_Accidente, Dia_Semana, Clase_Accidente, Clase_Vehiculo, Localidad_Comuna</a:t>
            </a:r>
            <a:endParaRPr b="0" i="0" sz="1867" u="none" cap="none" strike="noStrike">
              <a:solidFill>
                <a:srgbClr val="000000"/>
              </a:solidFill>
              <a:latin typeface="Arial"/>
              <a:ea typeface="Arial"/>
              <a:cs typeface="Arial"/>
              <a:sym typeface="Arial"/>
            </a:endParaRPr>
          </a:p>
          <a:p>
            <a:pPr indent="0" lvl="0" marL="45720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687" name="Google Shape;687;p19"/>
          <p:cNvSpPr/>
          <p:nvPr/>
        </p:nvSpPr>
        <p:spPr>
          <a:xfrm>
            <a:off x="6217920" y="1584960"/>
            <a:ext cx="5364480" cy="493776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pic>
        <p:nvPicPr>
          <p:cNvPr descr="preencoded.png" id="688" name="Google Shape;688;p19"/>
          <p:cNvPicPr preferRelativeResize="0"/>
          <p:nvPr/>
        </p:nvPicPr>
        <p:blipFill rotWithShape="1">
          <a:blip r:embed="rId4">
            <a:alphaModFix/>
          </a:blip>
          <a:srcRect b="0" l="0" r="0" t="0"/>
          <a:stretch/>
        </p:blipFill>
        <p:spPr>
          <a:xfrm>
            <a:off x="6547104" y="1828800"/>
            <a:ext cx="548640" cy="548640"/>
          </a:xfrm>
          <a:prstGeom prst="rect">
            <a:avLst/>
          </a:prstGeom>
          <a:noFill/>
          <a:ln>
            <a:noFill/>
          </a:ln>
        </p:spPr>
      </p:pic>
      <p:sp>
        <p:nvSpPr>
          <p:cNvPr id="689" name="Google Shape;689;p19"/>
          <p:cNvSpPr/>
          <p:nvPr/>
        </p:nvSpPr>
        <p:spPr>
          <a:xfrm>
            <a:off x="7217664" y="1828800"/>
            <a:ext cx="4145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867" u="none" cap="none" strike="noStrike">
                <a:solidFill>
                  <a:srgbClr val="1A3A5C"/>
                </a:solidFill>
                <a:latin typeface="Arial"/>
                <a:ea typeface="Arial"/>
                <a:cs typeface="Arial"/>
                <a:sym typeface="Arial"/>
              </a:rPr>
              <a:t>Escalado MinMaxScaler</a:t>
            </a:r>
            <a:endParaRPr b="0" i="0" sz="1867" u="none" cap="none" strike="noStrike">
              <a:solidFill>
                <a:srgbClr val="000000"/>
              </a:solidFill>
              <a:latin typeface="Arial"/>
              <a:ea typeface="Arial"/>
              <a:cs typeface="Arial"/>
              <a:sym typeface="Arial"/>
            </a:endParaRPr>
          </a:p>
        </p:txBody>
      </p:sp>
      <p:sp>
        <p:nvSpPr>
          <p:cNvPr id="690" name="Google Shape;690;p19"/>
          <p:cNvSpPr/>
          <p:nvPr/>
        </p:nvSpPr>
        <p:spPr>
          <a:xfrm>
            <a:off x="6339840" y="2499360"/>
            <a:ext cx="5059680" cy="792480"/>
          </a:xfrm>
          <a:prstGeom prst="rect">
            <a:avLst/>
          </a:prstGeom>
          <a:solidFill>
            <a:srgbClr val="0F2137"/>
          </a:solidFill>
          <a:ln cap="flat" cmpd="sng" w="9525">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691" name="Google Shape;691;p19"/>
          <p:cNvSpPr/>
          <p:nvPr/>
        </p:nvSpPr>
        <p:spPr>
          <a:xfrm>
            <a:off x="6425184" y="2499360"/>
            <a:ext cx="4876800" cy="792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33" u="none" cap="none" strike="noStrike">
                <a:solidFill>
                  <a:srgbClr val="5EEAD4"/>
                </a:solidFill>
                <a:latin typeface="Courier New"/>
                <a:ea typeface="Courier New"/>
                <a:cs typeface="Courier New"/>
                <a:sym typeface="Courier New"/>
              </a:rPr>
              <a:t>scaler = MinMaxScaler()</a:t>
            </a:r>
            <a:endParaRPr b="0" i="0" sz="1433"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333" u="none" cap="none" strike="noStrike">
                <a:solidFill>
                  <a:srgbClr val="5EEAD4"/>
                </a:solidFill>
                <a:latin typeface="Courier New"/>
                <a:ea typeface="Courier New"/>
                <a:cs typeface="Courier New"/>
                <a:sym typeface="Courier New"/>
              </a:rPr>
              <a:t>X_train[num] = scaler.fit_transform(...)</a:t>
            </a:r>
            <a:endParaRPr b="0" i="0" sz="1333"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n-US" sz="1333" u="none" cap="none" strike="noStrike">
                <a:solidFill>
                  <a:srgbClr val="5EEAD4"/>
                </a:solidFill>
                <a:latin typeface="Courier New"/>
                <a:ea typeface="Courier New"/>
                <a:cs typeface="Courier New"/>
                <a:sym typeface="Courier New"/>
              </a:rPr>
              <a:t>X_test[num]  = scaler.transform(...)</a:t>
            </a:r>
            <a:endParaRPr b="0" i="0" sz="1333" u="none" cap="none" strike="noStrike">
              <a:solidFill>
                <a:srgbClr val="000000"/>
              </a:solidFill>
              <a:latin typeface="Arial"/>
              <a:ea typeface="Arial"/>
              <a:cs typeface="Arial"/>
              <a:sym typeface="Arial"/>
            </a:endParaRPr>
          </a:p>
        </p:txBody>
      </p:sp>
      <p:sp>
        <p:nvSpPr>
          <p:cNvPr id="692" name="Google Shape;692;p19"/>
          <p:cNvSpPr/>
          <p:nvPr/>
        </p:nvSpPr>
        <p:spPr>
          <a:xfrm>
            <a:off x="6339840" y="3474720"/>
            <a:ext cx="4998720" cy="3901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067" u="none" cap="none" strike="noStrike">
                <a:solidFill>
                  <a:srgbClr val="1A3A5C"/>
                </a:solidFill>
                <a:latin typeface="Arial"/>
                <a:ea typeface="Arial"/>
                <a:cs typeface="Arial"/>
                <a:sym typeface="Arial"/>
              </a:rPr>
              <a:t>Variables escaladas a [0, 1]:</a:t>
            </a:r>
            <a:endParaRPr b="0" i="0" sz="2067" u="none" cap="none" strike="noStrike">
              <a:solidFill>
                <a:srgbClr val="000000"/>
              </a:solidFill>
              <a:latin typeface="Arial"/>
              <a:ea typeface="Arial"/>
              <a:cs typeface="Arial"/>
              <a:sym typeface="Arial"/>
            </a:endParaRPr>
          </a:p>
        </p:txBody>
      </p:sp>
      <p:sp>
        <p:nvSpPr>
          <p:cNvPr id="693" name="Google Shape;693;p19"/>
          <p:cNvSpPr/>
          <p:nvPr/>
        </p:nvSpPr>
        <p:spPr>
          <a:xfrm>
            <a:off x="6522720" y="3925824"/>
            <a:ext cx="487680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033" u="none" cap="none" strike="noStrike">
                <a:solidFill>
                  <a:srgbClr val="0D9488"/>
                </a:solidFill>
                <a:latin typeface="Consolas"/>
                <a:ea typeface="Consolas"/>
                <a:cs typeface="Consolas"/>
                <a:sym typeface="Consolas"/>
              </a:rPr>
              <a:t>Hora_</a:t>
            </a:r>
            <a:r>
              <a:rPr lang="en-US" sz="2033">
                <a:solidFill>
                  <a:srgbClr val="0D9488"/>
                </a:solidFill>
                <a:latin typeface="Consolas"/>
                <a:ea typeface="Consolas"/>
                <a:cs typeface="Consolas"/>
                <a:sym typeface="Consolas"/>
              </a:rPr>
              <a:t>num</a:t>
            </a:r>
            <a:r>
              <a:rPr b="0" i="0" lang="en-US" sz="2033" u="none" cap="none" strike="noStrike">
                <a:solidFill>
                  <a:srgbClr val="0D9488"/>
                </a:solidFill>
                <a:latin typeface="Consolas"/>
                <a:ea typeface="Consolas"/>
                <a:cs typeface="Consolas"/>
                <a:sym typeface="Consolas"/>
              </a:rPr>
              <a:t>  (0–23)  →  [0, 1]</a:t>
            </a:r>
            <a:endParaRPr b="0" i="0" sz="2033" u="none" cap="none" strike="noStrike">
              <a:solidFill>
                <a:srgbClr val="000000"/>
              </a:solidFill>
              <a:latin typeface="Arial"/>
              <a:ea typeface="Arial"/>
              <a:cs typeface="Arial"/>
              <a:sym typeface="Arial"/>
            </a:endParaRPr>
          </a:p>
        </p:txBody>
      </p:sp>
      <p:sp>
        <p:nvSpPr>
          <p:cNvPr id="694" name="Google Shape;694;p19"/>
          <p:cNvSpPr/>
          <p:nvPr/>
        </p:nvSpPr>
        <p:spPr>
          <a:xfrm>
            <a:off x="6522720" y="4389120"/>
            <a:ext cx="4876800" cy="4267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2033">
                <a:solidFill>
                  <a:srgbClr val="0D9488"/>
                </a:solidFill>
                <a:latin typeface="Consolas"/>
                <a:ea typeface="Consolas"/>
                <a:cs typeface="Consolas"/>
                <a:sym typeface="Consolas"/>
              </a:rPr>
              <a:t>Edad</a:t>
            </a:r>
            <a:r>
              <a:rPr b="0" i="0" lang="en-US" sz="2033" u="none" cap="none" strike="noStrike">
                <a:solidFill>
                  <a:srgbClr val="0D9488"/>
                </a:solidFill>
                <a:latin typeface="Consolas"/>
                <a:ea typeface="Consolas"/>
                <a:cs typeface="Consolas"/>
                <a:sym typeface="Consolas"/>
              </a:rPr>
              <a:t>       (1–1</a:t>
            </a:r>
            <a:r>
              <a:rPr lang="en-US" sz="2033">
                <a:solidFill>
                  <a:srgbClr val="0D9488"/>
                </a:solidFill>
                <a:latin typeface="Consolas"/>
                <a:ea typeface="Consolas"/>
                <a:cs typeface="Consolas"/>
                <a:sym typeface="Consolas"/>
              </a:rPr>
              <a:t>21</a:t>
            </a:r>
            <a:r>
              <a:rPr b="0" i="0" lang="en-US" sz="2033" u="none" cap="none" strike="noStrike">
                <a:solidFill>
                  <a:srgbClr val="0D9488"/>
                </a:solidFill>
                <a:latin typeface="Consolas"/>
                <a:ea typeface="Consolas"/>
                <a:cs typeface="Consolas"/>
                <a:sym typeface="Consolas"/>
              </a:rPr>
              <a:t>)  →  [0, 1]</a:t>
            </a:r>
            <a:endParaRPr b="0" i="0" sz="2033" u="none" cap="none" strike="noStrike">
              <a:solidFill>
                <a:srgbClr val="000000"/>
              </a:solidFill>
              <a:latin typeface="Arial"/>
              <a:ea typeface="Arial"/>
              <a:cs typeface="Arial"/>
              <a:sym typeface="Arial"/>
            </a:endParaRPr>
          </a:p>
        </p:txBody>
      </p:sp>
      <p:sp>
        <p:nvSpPr>
          <p:cNvPr id="695" name="Google Shape;695;p19"/>
          <p:cNvSpPr/>
          <p:nvPr/>
        </p:nvSpPr>
        <p:spPr>
          <a:xfrm>
            <a:off x="6339840" y="5547360"/>
            <a:ext cx="4998720" cy="829056"/>
          </a:xfrm>
          <a:prstGeom prst="rect">
            <a:avLst/>
          </a:prstGeom>
          <a:solidFill>
            <a:srgbClr val="FEF3C7"/>
          </a:solidFill>
          <a:ln cap="flat" cmpd="sng" w="1015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67" u="none" cap="none" strike="noStrike">
              <a:solidFill>
                <a:srgbClr val="000000"/>
              </a:solidFill>
              <a:latin typeface="Arial"/>
              <a:ea typeface="Arial"/>
              <a:cs typeface="Arial"/>
              <a:sym typeface="Arial"/>
            </a:endParaRPr>
          </a:p>
        </p:txBody>
      </p:sp>
      <p:sp>
        <p:nvSpPr>
          <p:cNvPr id="696" name="Google Shape;696;p19"/>
          <p:cNvSpPr/>
          <p:nvPr/>
        </p:nvSpPr>
        <p:spPr>
          <a:xfrm>
            <a:off x="6400863" y="5547275"/>
            <a:ext cx="4998600" cy="829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33" u="none" cap="none" strike="noStrike">
                <a:solidFill>
                  <a:srgbClr val="7A5200"/>
                </a:solidFill>
                <a:latin typeface="Arial"/>
                <a:ea typeface="Arial"/>
                <a:cs typeface="Arial"/>
                <a:sym typeface="Arial"/>
              </a:rPr>
              <a:t>⚠ Scaler ajustado SOLO con X_train</a:t>
            </a:r>
            <a:r>
              <a:rPr lang="en-US" sz="1633"/>
              <a:t> </a:t>
            </a:r>
            <a:r>
              <a:rPr b="0" i="0" lang="en-US" sz="1633" u="none" cap="none" strike="noStrike">
                <a:solidFill>
                  <a:srgbClr val="7A5200"/>
                </a:solidFill>
                <a:latin typeface="Arial"/>
                <a:ea typeface="Arial"/>
                <a:cs typeface="Arial"/>
                <a:sym typeface="Arial"/>
              </a:rPr>
              <a:t>y aplicado con     transform() a X_test.</a:t>
            </a:r>
            <a:r>
              <a:rPr lang="en-US" sz="1633"/>
              <a:t> </a:t>
            </a:r>
            <a:r>
              <a:rPr b="0" i="0" lang="en-US" sz="1633" u="none" cap="none" strike="noStrike">
                <a:solidFill>
                  <a:srgbClr val="7A5200"/>
                </a:solidFill>
                <a:latin typeface="Arial"/>
                <a:ea typeface="Arial"/>
                <a:cs typeface="Arial"/>
                <a:sym typeface="Arial"/>
              </a:rPr>
              <a:t>Evita Data Leakage.</a:t>
            </a:r>
            <a:endParaRPr b="0" i="0" sz="1633" u="none" cap="none" strike="noStrike">
              <a:solidFill>
                <a:srgbClr val="000000"/>
              </a:solidFill>
              <a:latin typeface="Arial"/>
              <a:ea typeface="Arial"/>
              <a:cs typeface="Arial"/>
              <a:sym typeface="Arial"/>
            </a:endParaRPr>
          </a:p>
        </p:txBody>
      </p:sp>
      <p:grpSp>
        <p:nvGrpSpPr>
          <p:cNvPr id="697" name="Google Shape;697;p19"/>
          <p:cNvGrpSpPr/>
          <p:nvPr/>
        </p:nvGrpSpPr>
        <p:grpSpPr>
          <a:xfrm>
            <a:off x="8973550" y="674225"/>
            <a:ext cx="2557800" cy="409200"/>
            <a:chOff x="609600" y="304800"/>
            <a:chExt cx="2557800" cy="409200"/>
          </a:xfrm>
        </p:grpSpPr>
        <p:sp>
          <p:nvSpPr>
            <p:cNvPr id="698" name="Google Shape;698;p19"/>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200"/>
            </a:p>
          </p:txBody>
        </p:sp>
        <p:sp>
          <p:nvSpPr>
            <p:cNvPr id="699" name="Google Shape;699;p19"/>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059">
                  <a:solidFill>
                    <a:srgbClr val="FFFFFF"/>
                  </a:solidFill>
                  <a:latin typeface="Calibri"/>
                  <a:ea typeface="Calibri"/>
                  <a:cs typeface="Calibri"/>
                  <a:sym typeface="Calibri"/>
                </a:rPr>
                <a:t>Gradient Boosting</a:t>
              </a:r>
              <a:endParaRPr b="0" i="0" sz="2059" u="none" cap="none" strike="noStrike">
                <a:solidFill>
                  <a:schemeClr val="dk1"/>
                </a:solidFill>
                <a:latin typeface="Calibri"/>
                <a:ea typeface="Calibri"/>
                <a:cs typeface="Calibri"/>
                <a:sym typeface="Calibri"/>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04" name="Shape 704"/>
        <p:cNvGrpSpPr/>
        <p:nvPr/>
      </p:nvGrpSpPr>
      <p:grpSpPr>
        <a:xfrm>
          <a:off x="0" y="0"/>
          <a:ext cx="0" cy="0"/>
          <a:chOff x="0" y="0"/>
          <a:chExt cx="0" cy="0"/>
        </a:xfrm>
      </p:grpSpPr>
      <p:sp>
        <p:nvSpPr>
          <p:cNvPr id="705" name="Google Shape;705;p21"/>
          <p:cNvSpPr/>
          <p:nvPr/>
        </p:nvSpPr>
        <p:spPr>
          <a:xfrm>
            <a:off x="609600" y="792480"/>
            <a:ext cx="10972800" cy="6705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1A3A5C"/>
                </a:solidFill>
                <a:latin typeface="Georgia"/>
                <a:ea typeface="Georgia"/>
                <a:cs typeface="Georgia"/>
                <a:sym typeface="Georgia"/>
              </a:rPr>
              <a:t>Resultados del Modelo</a:t>
            </a:r>
            <a:endParaRPr b="0" i="0" sz="3467" u="none" cap="none" strike="noStrike">
              <a:solidFill>
                <a:srgbClr val="000000"/>
              </a:solidFill>
              <a:latin typeface="Calibri"/>
              <a:ea typeface="Calibri"/>
              <a:cs typeface="Calibri"/>
              <a:sym typeface="Calibri"/>
            </a:endParaRPr>
          </a:p>
        </p:txBody>
      </p:sp>
      <p:sp>
        <p:nvSpPr>
          <p:cNvPr id="706" name="Google Shape;706;p21"/>
          <p:cNvSpPr/>
          <p:nvPr/>
        </p:nvSpPr>
        <p:spPr>
          <a:xfrm>
            <a:off x="548640" y="1584960"/>
            <a:ext cx="5242560" cy="2170176"/>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07" name="Google Shape;707;p21"/>
          <p:cNvSpPr/>
          <p:nvPr/>
        </p:nvSpPr>
        <p:spPr>
          <a:xfrm>
            <a:off x="548640" y="1584960"/>
            <a:ext cx="146304" cy="2170176"/>
          </a:xfrm>
          <a:prstGeom prst="rect">
            <a:avLst/>
          </a:prstGeom>
          <a:solidFill>
            <a:srgbClr val="0D9488"/>
          </a:solidFill>
          <a:ln cap="flat" cmpd="sng" w="12700">
            <a:solidFill>
              <a:srgbClr val="0D948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08" name="Google Shape;708;p21"/>
          <p:cNvSpPr/>
          <p:nvPr/>
        </p:nvSpPr>
        <p:spPr>
          <a:xfrm>
            <a:off x="853440" y="1767840"/>
            <a:ext cx="30480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A3A5C"/>
                </a:solidFill>
                <a:latin typeface="Calibri"/>
                <a:ea typeface="Calibri"/>
                <a:cs typeface="Calibri"/>
                <a:sym typeface="Calibri"/>
              </a:rPr>
              <a:t>AUC-ROC</a:t>
            </a:r>
            <a:endParaRPr b="0" i="0" sz="2400" u="none" cap="none" strike="noStrike">
              <a:solidFill>
                <a:srgbClr val="000000"/>
              </a:solidFill>
              <a:latin typeface="Calibri"/>
              <a:ea typeface="Calibri"/>
              <a:cs typeface="Calibri"/>
              <a:sym typeface="Calibri"/>
            </a:endParaRPr>
          </a:p>
        </p:txBody>
      </p:sp>
      <p:sp>
        <p:nvSpPr>
          <p:cNvPr id="709" name="Google Shape;709;p21"/>
          <p:cNvSpPr/>
          <p:nvPr/>
        </p:nvSpPr>
        <p:spPr>
          <a:xfrm>
            <a:off x="4084320" y="1682496"/>
            <a:ext cx="1463040"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467" u="none" cap="none" strike="noStrike">
                <a:solidFill>
                  <a:srgbClr val="0D9488"/>
                </a:solidFill>
                <a:latin typeface="Calibri"/>
                <a:ea typeface="Calibri"/>
                <a:cs typeface="Calibri"/>
                <a:sym typeface="Calibri"/>
              </a:rPr>
              <a:t>0.9</a:t>
            </a:r>
            <a:r>
              <a:rPr b="1" lang="en-US" sz="3467">
                <a:solidFill>
                  <a:srgbClr val="0D9488"/>
                </a:solidFill>
                <a:latin typeface="Calibri"/>
                <a:ea typeface="Calibri"/>
                <a:cs typeface="Calibri"/>
                <a:sym typeface="Calibri"/>
              </a:rPr>
              <a:t>480</a:t>
            </a:r>
            <a:endParaRPr b="0" i="0" sz="3467" u="none" cap="none" strike="noStrike">
              <a:solidFill>
                <a:srgbClr val="000000"/>
              </a:solidFill>
              <a:latin typeface="Calibri"/>
              <a:ea typeface="Calibri"/>
              <a:cs typeface="Calibri"/>
              <a:sym typeface="Calibri"/>
            </a:endParaRPr>
          </a:p>
        </p:txBody>
      </p:sp>
      <p:sp>
        <p:nvSpPr>
          <p:cNvPr id="710" name="Google Shape;710;p21"/>
          <p:cNvSpPr/>
          <p:nvPr/>
        </p:nvSpPr>
        <p:spPr>
          <a:xfrm>
            <a:off x="853440" y="2340864"/>
            <a:ext cx="4754880" cy="1158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33" u="none" cap="none" strike="noStrike">
                <a:solidFill>
                  <a:srgbClr val="64748B"/>
                </a:solidFill>
                <a:latin typeface="Calibri"/>
                <a:ea typeface="Calibri"/>
                <a:cs typeface="Calibri"/>
                <a:sym typeface="Calibri"/>
              </a:rPr>
              <a:t>Excelente capacidad discriminante. El modelo distingue bien entre Heridos y Muertos.</a:t>
            </a:r>
            <a:endParaRPr b="0" i="0" sz="2433" u="none" cap="none" strike="noStrike">
              <a:solidFill>
                <a:srgbClr val="000000"/>
              </a:solidFill>
              <a:latin typeface="Calibri"/>
              <a:ea typeface="Calibri"/>
              <a:cs typeface="Calibri"/>
              <a:sym typeface="Calibri"/>
            </a:endParaRPr>
          </a:p>
        </p:txBody>
      </p:sp>
      <p:sp>
        <p:nvSpPr>
          <p:cNvPr id="711" name="Google Shape;711;p21"/>
          <p:cNvSpPr/>
          <p:nvPr/>
        </p:nvSpPr>
        <p:spPr>
          <a:xfrm>
            <a:off x="6278880" y="1584960"/>
            <a:ext cx="5242560" cy="2170176"/>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12" name="Google Shape;712;p21"/>
          <p:cNvSpPr/>
          <p:nvPr/>
        </p:nvSpPr>
        <p:spPr>
          <a:xfrm>
            <a:off x="6278880" y="1584960"/>
            <a:ext cx="146304" cy="2170176"/>
          </a:xfrm>
          <a:prstGeom prst="rect">
            <a:avLst/>
          </a:prstGeom>
          <a:solidFill>
            <a:srgbClr val="7C3AED"/>
          </a:solidFill>
          <a:ln cap="flat" cmpd="sng" w="12700">
            <a:solidFill>
              <a:srgbClr val="7C3AE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13" name="Google Shape;713;p21"/>
          <p:cNvSpPr/>
          <p:nvPr/>
        </p:nvSpPr>
        <p:spPr>
          <a:xfrm>
            <a:off x="6583680" y="1767840"/>
            <a:ext cx="30480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A3A5C"/>
                </a:solidFill>
                <a:latin typeface="Calibri"/>
                <a:ea typeface="Calibri"/>
                <a:cs typeface="Calibri"/>
                <a:sym typeface="Calibri"/>
              </a:rPr>
              <a:t>F1-Score (Muertos)</a:t>
            </a:r>
            <a:endParaRPr b="0" i="0" sz="2400" u="none" cap="none" strike="noStrike">
              <a:solidFill>
                <a:srgbClr val="000000"/>
              </a:solidFill>
              <a:latin typeface="Calibri"/>
              <a:ea typeface="Calibri"/>
              <a:cs typeface="Calibri"/>
              <a:sym typeface="Calibri"/>
            </a:endParaRPr>
          </a:p>
        </p:txBody>
      </p:sp>
      <p:sp>
        <p:nvSpPr>
          <p:cNvPr id="714" name="Google Shape;714;p21"/>
          <p:cNvSpPr/>
          <p:nvPr/>
        </p:nvSpPr>
        <p:spPr>
          <a:xfrm>
            <a:off x="9814560" y="1682496"/>
            <a:ext cx="1463040"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3467" u="none" cap="none" strike="noStrike">
                <a:solidFill>
                  <a:srgbClr val="7C3AED"/>
                </a:solidFill>
                <a:latin typeface="Calibri"/>
                <a:ea typeface="Calibri"/>
                <a:cs typeface="Calibri"/>
                <a:sym typeface="Calibri"/>
              </a:rPr>
              <a:t>0.</a:t>
            </a:r>
            <a:r>
              <a:rPr b="1" lang="en-US" sz="3467">
                <a:solidFill>
                  <a:srgbClr val="7C3AED"/>
                </a:solidFill>
                <a:latin typeface="Calibri"/>
                <a:ea typeface="Calibri"/>
                <a:cs typeface="Calibri"/>
                <a:sym typeface="Calibri"/>
              </a:rPr>
              <a:t>27</a:t>
            </a:r>
            <a:endParaRPr b="0" i="0" sz="3467" u="none" cap="none" strike="noStrike">
              <a:solidFill>
                <a:srgbClr val="000000"/>
              </a:solidFill>
              <a:latin typeface="Calibri"/>
              <a:ea typeface="Calibri"/>
              <a:cs typeface="Calibri"/>
              <a:sym typeface="Calibri"/>
            </a:endParaRPr>
          </a:p>
        </p:txBody>
      </p:sp>
      <p:sp>
        <p:nvSpPr>
          <p:cNvPr id="715" name="Google Shape;715;p21"/>
          <p:cNvSpPr/>
          <p:nvPr/>
        </p:nvSpPr>
        <p:spPr>
          <a:xfrm>
            <a:off x="6583680" y="2340864"/>
            <a:ext cx="4754880" cy="1158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33" u="none" cap="none" strike="noStrike">
                <a:solidFill>
                  <a:srgbClr val="64748B"/>
                </a:solidFill>
                <a:latin typeface="Calibri"/>
                <a:ea typeface="Calibri"/>
                <a:cs typeface="Calibri"/>
                <a:sym typeface="Calibri"/>
              </a:rPr>
              <a:t>Balance sólido entre Recall y Precisión para la clase Muertos.</a:t>
            </a:r>
            <a:endParaRPr b="0" i="0" sz="2433" u="none" cap="none" strike="noStrike">
              <a:solidFill>
                <a:srgbClr val="000000"/>
              </a:solidFill>
              <a:latin typeface="Calibri"/>
              <a:ea typeface="Calibri"/>
              <a:cs typeface="Calibri"/>
              <a:sym typeface="Calibri"/>
            </a:endParaRPr>
          </a:p>
        </p:txBody>
      </p:sp>
      <p:sp>
        <p:nvSpPr>
          <p:cNvPr id="716" name="Google Shape;716;p21"/>
          <p:cNvSpPr/>
          <p:nvPr/>
        </p:nvSpPr>
        <p:spPr>
          <a:xfrm>
            <a:off x="548640" y="4023360"/>
            <a:ext cx="5242560" cy="2170176"/>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17" name="Google Shape;717;p21"/>
          <p:cNvSpPr/>
          <p:nvPr/>
        </p:nvSpPr>
        <p:spPr>
          <a:xfrm>
            <a:off x="548640" y="4023360"/>
            <a:ext cx="146304" cy="2170176"/>
          </a:xfrm>
          <a:prstGeom prst="rect">
            <a:avLst/>
          </a:prstGeom>
          <a:solidFill>
            <a:srgbClr val="F59E0B"/>
          </a:solidFill>
          <a:ln cap="flat" cmpd="sng" w="12700">
            <a:solidFill>
              <a:srgbClr val="F59E0B"/>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18" name="Google Shape;718;p21"/>
          <p:cNvSpPr/>
          <p:nvPr/>
        </p:nvSpPr>
        <p:spPr>
          <a:xfrm>
            <a:off x="853440" y="4206240"/>
            <a:ext cx="30480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A3A5C"/>
                </a:solidFill>
                <a:latin typeface="Calibri"/>
                <a:ea typeface="Calibri"/>
                <a:cs typeface="Calibri"/>
                <a:sym typeface="Calibri"/>
              </a:rPr>
              <a:t>Recall (Muertos)</a:t>
            </a:r>
            <a:endParaRPr b="0" i="0" sz="2400" u="none" cap="none" strike="noStrike">
              <a:solidFill>
                <a:srgbClr val="000000"/>
              </a:solidFill>
              <a:latin typeface="Calibri"/>
              <a:ea typeface="Calibri"/>
              <a:cs typeface="Calibri"/>
              <a:sym typeface="Calibri"/>
            </a:endParaRPr>
          </a:p>
        </p:txBody>
      </p:sp>
      <p:sp>
        <p:nvSpPr>
          <p:cNvPr id="719" name="Google Shape;719;p21"/>
          <p:cNvSpPr/>
          <p:nvPr/>
        </p:nvSpPr>
        <p:spPr>
          <a:xfrm>
            <a:off x="4084320" y="4120896"/>
            <a:ext cx="1463040"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467">
                <a:solidFill>
                  <a:srgbClr val="F59E0B"/>
                </a:solidFill>
                <a:latin typeface="Calibri"/>
                <a:ea typeface="Calibri"/>
                <a:cs typeface="Calibri"/>
                <a:sym typeface="Calibri"/>
              </a:rPr>
              <a:t>0.15</a:t>
            </a:r>
            <a:r>
              <a:rPr b="1" i="0" lang="en-US" sz="3467" u="none" cap="none" strike="noStrike">
                <a:solidFill>
                  <a:srgbClr val="F59E0B"/>
                </a:solidFill>
                <a:latin typeface="Calibri"/>
                <a:ea typeface="Calibri"/>
                <a:cs typeface="Calibri"/>
                <a:sym typeface="Calibri"/>
              </a:rPr>
              <a:t>%</a:t>
            </a:r>
            <a:endParaRPr b="0" i="0" sz="3467" u="none" cap="none" strike="noStrike">
              <a:solidFill>
                <a:srgbClr val="000000"/>
              </a:solidFill>
              <a:latin typeface="Calibri"/>
              <a:ea typeface="Calibri"/>
              <a:cs typeface="Calibri"/>
              <a:sym typeface="Calibri"/>
            </a:endParaRPr>
          </a:p>
        </p:txBody>
      </p:sp>
      <p:sp>
        <p:nvSpPr>
          <p:cNvPr id="720" name="Google Shape;720;p21"/>
          <p:cNvSpPr/>
          <p:nvPr/>
        </p:nvSpPr>
        <p:spPr>
          <a:xfrm>
            <a:off x="853440" y="4779264"/>
            <a:ext cx="4754880" cy="1158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2433" u="none" cap="none" strike="noStrike">
                <a:solidFill>
                  <a:srgbClr val="64748B"/>
                </a:solidFill>
                <a:latin typeface="Calibri"/>
                <a:ea typeface="Calibri"/>
                <a:cs typeface="Calibri"/>
                <a:sym typeface="Calibri"/>
              </a:rPr>
              <a:t>Detecta 18 de los 26 accidentes fatales reales del conjunto de prueba.</a:t>
            </a:r>
            <a:endParaRPr b="0" i="0" sz="2433" u="none" cap="none" strike="noStrike">
              <a:solidFill>
                <a:srgbClr val="000000"/>
              </a:solidFill>
              <a:latin typeface="Calibri"/>
              <a:ea typeface="Calibri"/>
              <a:cs typeface="Calibri"/>
              <a:sym typeface="Calibri"/>
            </a:endParaRPr>
          </a:p>
        </p:txBody>
      </p:sp>
      <p:sp>
        <p:nvSpPr>
          <p:cNvPr id="721" name="Google Shape;721;p21"/>
          <p:cNvSpPr/>
          <p:nvPr/>
        </p:nvSpPr>
        <p:spPr>
          <a:xfrm>
            <a:off x="6278880" y="4023360"/>
            <a:ext cx="5242560" cy="2170176"/>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39"/>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22" name="Google Shape;722;p21"/>
          <p:cNvSpPr/>
          <p:nvPr/>
        </p:nvSpPr>
        <p:spPr>
          <a:xfrm>
            <a:off x="6278880" y="4023360"/>
            <a:ext cx="146304" cy="2170176"/>
          </a:xfrm>
          <a:prstGeom prst="rect">
            <a:avLst/>
          </a:prstGeom>
          <a:solidFill>
            <a:srgbClr val="10B981"/>
          </a:solidFill>
          <a:ln cap="flat" cmpd="sng" w="12700">
            <a:solidFill>
              <a:srgbClr val="10B98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
        <p:nvSpPr>
          <p:cNvPr id="723" name="Google Shape;723;p21"/>
          <p:cNvSpPr/>
          <p:nvPr/>
        </p:nvSpPr>
        <p:spPr>
          <a:xfrm>
            <a:off x="6583680" y="4206240"/>
            <a:ext cx="3048000" cy="487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2400" u="none" cap="none" strike="noStrike">
                <a:solidFill>
                  <a:srgbClr val="1A3A5C"/>
                </a:solidFill>
                <a:latin typeface="Calibri"/>
                <a:ea typeface="Calibri"/>
                <a:cs typeface="Calibri"/>
                <a:sym typeface="Calibri"/>
              </a:rPr>
              <a:t>Precisión</a:t>
            </a:r>
            <a:endParaRPr b="0" i="0" sz="2400" u="none" cap="none" strike="noStrike">
              <a:solidFill>
                <a:srgbClr val="000000"/>
              </a:solidFill>
              <a:latin typeface="Calibri"/>
              <a:ea typeface="Calibri"/>
              <a:cs typeface="Calibri"/>
              <a:sym typeface="Calibri"/>
            </a:endParaRPr>
          </a:p>
        </p:txBody>
      </p:sp>
      <p:sp>
        <p:nvSpPr>
          <p:cNvPr id="724" name="Google Shape;724;p21"/>
          <p:cNvSpPr/>
          <p:nvPr/>
        </p:nvSpPr>
        <p:spPr>
          <a:xfrm>
            <a:off x="9814560" y="4120896"/>
            <a:ext cx="1463040" cy="63398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3467">
                <a:solidFill>
                  <a:srgbClr val="10B981"/>
                </a:solidFill>
                <a:latin typeface="Calibri"/>
                <a:ea typeface="Calibri"/>
                <a:cs typeface="Calibri"/>
                <a:sym typeface="Calibri"/>
              </a:rPr>
              <a:t>100</a:t>
            </a:r>
            <a:r>
              <a:rPr b="1" i="0" lang="en-US" sz="3467" u="none" cap="none" strike="noStrike">
                <a:solidFill>
                  <a:srgbClr val="10B981"/>
                </a:solidFill>
                <a:latin typeface="Calibri"/>
                <a:ea typeface="Calibri"/>
                <a:cs typeface="Calibri"/>
                <a:sym typeface="Calibri"/>
              </a:rPr>
              <a:t>%</a:t>
            </a:r>
            <a:endParaRPr b="0" i="0" sz="3467" u="none" cap="none" strike="noStrike">
              <a:solidFill>
                <a:srgbClr val="000000"/>
              </a:solidFill>
              <a:latin typeface="Calibri"/>
              <a:ea typeface="Calibri"/>
              <a:cs typeface="Calibri"/>
              <a:sym typeface="Calibri"/>
            </a:endParaRPr>
          </a:p>
        </p:txBody>
      </p:sp>
      <p:sp>
        <p:nvSpPr>
          <p:cNvPr id="725" name="Google Shape;725;p21"/>
          <p:cNvSpPr/>
          <p:nvPr/>
        </p:nvSpPr>
        <p:spPr>
          <a:xfrm>
            <a:off x="6583680" y="4779264"/>
            <a:ext cx="4754880" cy="1158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2433">
                <a:solidFill>
                  <a:srgbClr val="64748B"/>
                </a:solidFill>
                <a:latin typeface="Calibri"/>
                <a:ea typeface="Calibri"/>
                <a:cs typeface="Calibri"/>
                <a:sym typeface="Calibri"/>
              </a:rPr>
              <a:t>Al establecer los hiper parámetros, estableciendo la comparativa, con un modelo base inicial para el GBoost.</a:t>
            </a:r>
            <a:endParaRPr b="0" i="0" sz="2433" u="none" cap="none" strike="noStrike">
              <a:solidFill>
                <a:srgbClr val="000000"/>
              </a:solidFill>
              <a:latin typeface="Calibri"/>
              <a:ea typeface="Calibri"/>
              <a:cs typeface="Calibri"/>
              <a:sym typeface="Calibri"/>
            </a:endParaRPr>
          </a:p>
        </p:txBody>
      </p:sp>
      <p:grpSp>
        <p:nvGrpSpPr>
          <p:cNvPr id="726" name="Google Shape;726;p21"/>
          <p:cNvGrpSpPr/>
          <p:nvPr/>
        </p:nvGrpSpPr>
        <p:grpSpPr>
          <a:xfrm>
            <a:off x="8963650" y="261375"/>
            <a:ext cx="2557800" cy="409200"/>
            <a:chOff x="609600" y="304800"/>
            <a:chExt cx="2557800" cy="409200"/>
          </a:xfrm>
        </p:grpSpPr>
        <p:sp>
          <p:nvSpPr>
            <p:cNvPr id="727" name="Google Shape;727;p21"/>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300"/>
            </a:p>
          </p:txBody>
        </p:sp>
        <p:sp>
          <p:nvSpPr>
            <p:cNvPr id="728" name="Google Shape;728;p21"/>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159">
                  <a:solidFill>
                    <a:srgbClr val="FFFFFF"/>
                  </a:solidFill>
                  <a:latin typeface="Calibri"/>
                  <a:ea typeface="Calibri"/>
                  <a:cs typeface="Calibri"/>
                  <a:sym typeface="Calibri"/>
                </a:rPr>
                <a:t>Gradient Boosting</a:t>
              </a:r>
              <a:endParaRPr b="0" i="0" sz="2159" u="none" cap="none" strike="noStrike">
                <a:solidFill>
                  <a:schemeClr val="dk1"/>
                </a:solidFill>
                <a:latin typeface="Calibri"/>
                <a:ea typeface="Calibri"/>
                <a:cs typeface="Calibri"/>
                <a:sym typeface="Calibri"/>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137"/>
        </a:solidFill>
      </p:bgPr>
    </p:bg>
    <p:spTree>
      <p:nvGrpSpPr>
        <p:cNvPr id="733" name="Shape 733"/>
        <p:cNvGrpSpPr/>
        <p:nvPr/>
      </p:nvGrpSpPr>
      <p:grpSpPr>
        <a:xfrm>
          <a:off x="0" y="0"/>
          <a:ext cx="0" cy="0"/>
          <a:chOff x="0" y="0"/>
          <a:chExt cx="0" cy="0"/>
        </a:xfrm>
      </p:grpSpPr>
      <p:sp>
        <p:nvSpPr>
          <p:cNvPr id="734" name="Google Shape;734;g3e266ac69b1_2_81"/>
          <p:cNvSpPr/>
          <p:nvPr/>
        </p:nvSpPr>
        <p:spPr>
          <a:xfrm>
            <a:off x="148200" y="498850"/>
            <a:ext cx="8157000" cy="6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FFFFFF"/>
                </a:solidFill>
                <a:latin typeface="Georgia"/>
                <a:ea typeface="Georgia"/>
                <a:cs typeface="Georgia"/>
                <a:sym typeface="Georgia"/>
              </a:rPr>
              <a:t>Matriz de Confusión y Curva ROC</a:t>
            </a:r>
            <a:endParaRPr b="0" i="0" sz="3467" u="none" cap="none" strike="noStrike">
              <a:solidFill>
                <a:srgbClr val="000000"/>
              </a:solidFill>
              <a:latin typeface="Calibri"/>
              <a:ea typeface="Calibri"/>
              <a:cs typeface="Calibri"/>
              <a:sym typeface="Calibri"/>
            </a:endParaRPr>
          </a:p>
        </p:txBody>
      </p:sp>
      <p:graphicFrame>
        <p:nvGraphicFramePr>
          <p:cNvPr id="735" name="Google Shape;735;g3e266ac69b1_2_81"/>
          <p:cNvGraphicFramePr/>
          <p:nvPr/>
        </p:nvGraphicFramePr>
        <p:xfrm>
          <a:off x="288476" y="1861985"/>
          <a:ext cx="3000000" cy="3000000"/>
        </p:xfrm>
        <a:graphic>
          <a:graphicData uri="http://schemas.openxmlformats.org/drawingml/2006/table">
            <a:tbl>
              <a:tblPr>
                <a:noFill/>
                <a:tableStyleId>{38C2099B-79C9-4A69-BC85-5F42607CA374}</a:tableStyleId>
              </a:tblPr>
              <a:tblGrid>
                <a:gridCol w="1721125"/>
                <a:gridCol w="2213250"/>
                <a:gridCol w="2161125"/>
              </a:tblGrid>
              <a:tr h="962650">
                <a:tc>
                  <a:txBody>
                    <a:bodyPr/>
                    <a:lstStyle/>
                    <a:p>
                      <a:pPr indent="0" lvl="0" marL="0" marR="0" rtl="0" algn="l">
                        <a:spcBef>
                          <a:spcPts val="0"/>
                        </a:spcBef>
                        <a:spcAft>
                          <a:spcPts val="0"/>
                        </a:spcAft>
                        <a:buClr>
                          <a:schemeClr val="dk1"/>
                        </a:buClr>
                        <a:buSzPts val="1600"/>
                        <a:buFont typeface="Calibri"/>
                        <a:buNone/>
                      </a:pPr>
                      <a:r>
                        <a:t/>
                      </a:r>
                      <a:endParaRPr sz="1600" u="none" cap="none" strike="noStrike"/>
                    </a:p>
                  </a:txBody>
                  <a:tcPr marT="60950" marB="60950" marR="121925" marL="121925">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r>
              <a:tr h="1452075">
                <a:tc>
                  <a:txBody>
                    <a:bodyPr/>
                    <a:lstStyle/>
                    <a:p>
                      <a:pPr indent="0" lvl="0" marL="0" marR="0" rtl="0" algn="ctr">
                        <a:spcBef>
                          <a:spcPts val="0"/>
                        </a:spcBef>
                        <a:spcAft>
                          <a:spcPts val="0"/>
                        </a:spcAft>
                        <a:buClr>
                          <a:srgbClr val="5EEAD4"/>
                        </a:buClr>
                        <a:buSzPts val="1600"/>
                        <a:buFont typeface="Calibri"/>
                        <a:buNone/>
                      </a:pPr>
                      <a:r>
                        <a:rPr b="1" lang="en-US" sz="1600" u="none" cap="none" strike="noStrike">
                          <a:solidFill>
                            <a:srgbClr val="5EEAD4"/>
                          </a:solidFill>
                        </a:rPr>
                        <a:t>Real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7</a:t>
                      </a:r>
                      <a:r>
                        <a:rPr lang="en-US" sz="1600">
                          <a:solidFill>
                            <a:srgbClr val="FFFFFF"/>
                          </a:solidFill>
                        </a:rPr>
                        <a:t>4</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0</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Positivos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3A2A0D"/>
                    </a:solidFill>
                  </a:tcPr>
                </a:tc>
              </a:tr>
              <a:tr h="1452075">
                <a:tc>
                  <a:txBody>
                    <a:bodyPr/>
                    <a:lstStyle/>
                    <a:p>
                      <a:pPr indent="0" lvl="0" marL="0" marR="0" rtl="0" algn="ctr">
                        <a:spcBef>
                          <a:spcPts val="0"/>
                        </a:spcBef>
                        <a:spcAft>
                          <a:spcPts val="0"/>
                        </a:spcAft>
                        <a:buClr>
                          <a:srgbClr val="E84C4C"/>
                        </a:buClr>
                        <a:buSzPts val="1600"/>
                        <a:buFont typeface="Calibri"/>
                        <a:buNone/>
                      </a:pPr>
                      <a:r>
                        <a:rPr b="1" lang="en-US" sz="1600" u="none" cap="none" strike="noStrike">
                          <a:solidFill>
                            <a:srgbClr val="E84C4C"/>
                          </a:solidFill>
                        </a:rPr>
                        <a:t>Real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22</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4A1010"/>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4</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Positivos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r>
            </a:tbl>
          </a:graphicData>
        </a:graphic>
      </p:graphicFrame>
      <p:sp>
        <p:nvSpPr>
          <p:cNvPr id="736" name="Google Shape;736;g3e266ac69b1_2_81"/>
          <p:cNvSpPr/>
          <p:nvPr/>
        </p:nvSpPr>
        <p:spPr>
          <a:xfrm>
            <a:off x="0" y="6156960"/>
            <a:ext cx="12192000" cy="701100"/>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grpSp>
        <p:nvGrpSpPr>
          <p:cNvPr id="737" name="Google Shape;737;g3e266ac69b1_2_81"/>
          <p:cNvGrpSpPr/>
          <p:nvPr/>
        </p:nvGrpSpPr>
        <p:grpSpPr>
          <a:xfrm>
            <a:off x="8778300" y="295275"/>
            <a:ext cx="2557800" cy="409200"/>
            <a:chOff x="609600" y="304800"/>
            <a:chExt cx="2557800" cy="409200"/>
          </a:xfrm>
        </p:grpSpPr>
        <p:sp>
          <p:nvSpPr>
            <p:cNvPr id="738" name="Google Shape;738;g3e266ac69b1_2_81"/>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000"/>
            </a:p>
          </p:txBody>
        </p:sp>
        <p:sp>
          <p:nvSpPr>
            <p:cNvPr id="739" name="Google Shape;739;g3e266ac69b1_2_81"/>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1859">
                  <a:solidFill>
                    <a:srgbClr val="FFFFFF"/>
                  </a:solidFill>
                  <a:latin typeface="Calibri"/>
                  <a:ea typeface="Calibri"/>
                  <a:cs typeface="Calibri"/>
                  <a:sym typeface="Calibri"/>
                </a:rPr>
                <a:t>Gradient Boosting</a:t>
              </a:r>
              <a:endParaRPr b="0" i="0" sz="1859" u="none" cap="none" strike="noStrike">
                <a:solidFill>
                  <a:schemeClr val="dk1"/>
                </a:solidFill>
                <a:latin typeface="Calibri"/>
                <a:ea typeface="Calibri"/>
                <a:cs typeface="Calibri"/>
                <a:sym typeface="Calibri"/>
              </a:endParaRPr>
            </a:p>
          </p:txBody>
        </p:sp>
      </p:grpSp>
      <p:pic>
        <p:nvPicPr>
          <p:cNvPr id="740" name="Google Shape;740;g3e266ac69b1_2_81"/>
          <p:cNvPicPr preferRelativeResize="0"/>
          <p:nvPr/>
        </p:nvPicPr>
        <p:blipFill>
          <a:blip r:embed="rId3">
            <a:alphaModFix/>
          </a:blip>
          <a:stretch>
            <a:fillRect/>
          </a:stretch>
        </p:blipFill>
        <p:spPr>
          <a:xfrm>
            <a:off x="6550726" y="1841325"/>
            <a:ext cx="5503224" cy="390808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g3a86323efb1_2_25"/>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747" name="Google Shape;747;g3a86323efb1_2_25"/>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748" name="Google Shape;748;g3a86323efb1_2_25"/>
          <p:cNvSpPr txBox="1"/>
          <p:nvPr/>
        </p:nvSpPr>
        <p:spPr>
          <a:xfrm>
            <a:off x="837590" y="190195"/>
            <a:ext cx="50511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Montserrat"/>
                <a:ea typeface="Montserrat"/>
                <a:cs typeface="Montserrat"/>
                <a:sym typeface="Montserrat"/>
              </a:rPr>
              <a:t>Regresión Logística</a:t>
            </a:r>
            <a:endParaRPr/>
          </a:p>
        </p:txBody>
      </p:sp>
      <p:pic>
        <p:nvPicPr>
          <p:cNvPr descr="preencoded.png" id="749" name="Google Shape;749;g3a86323efb1_2_25"/>
          <p:cNvPicPr preferRelativeResize="0"/>
          <p:nvPr/>
        </p:nvPicPr>
        <p:blipFill rotWithShape="1">
          <a:blip r:embed="rId4">
            <a:alphaModFix/>
          </a:blip>
          <a:srcRect b="0" l="0" r="0" t="0"/>
          <a:stretch/>
        </p:blipFill>
        <p:spPr>
          <a:xfrm>
            <a:off x="381305" y="252374"/>
            <a:ext cx="267005" cy="267005"/>
          </a:xfrm>
          <a:prstGeom prst="rect">
            <a:avLst/>
          </a:prstGeom>
          <a:noFill/>
          <a:ln>
            <a:noFill/>
          </a:ln>
        </p:spPr>
      </p:pic>
      <p:sp>
        <p:nvSpPr>
          <p:cNvPr id="750" name="Google Shape;750;g3a86323efb1_2_25"/>
          <p:cNvSpPr/>
          <p:nvPr/>
        </p:nvSpPr>
        <p:spPr>
          <a:xfrm>
            <a:off x="381305" y="857707"/>
            <a:ext cx="11430000" cy="5201100"/>
          </a:xfrm>
          <a:prstGeom prst="roundRect">
            <a:avLst>
              <a:gd fmla="val 773"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1" name="Google Shape;751;g3a86323efb1_2_25"/>
          <p:cNvSpPr/>
          <p:nvPr/>
        </p:nvSpPr>
        <p:spPr>
          <a:xfrm>
            <a:off x="381300" y="6172200"/>
            <a:ext cx="11430000" cy="616800"/>
          </a:xfrm>
          <a:prstGeom prst="roundRect">
            <a:avLst>
              <a:gd fmla="val 132934" name="adj"/>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g3a86323efb1_2_25"/>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g3a86323efb1_2_25"/>
          <p:cNvSpPr/>
          <p:nvPr/>
        </p:nvSpPr>
        <p:spPr>
          <a:xfrm>
            <a:off x="491100" y="6172237"/>
            <a:ext cx="11210400" cy="548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1" lang="en-US" sz="1500" u="none" cap="none" strike="noStrike">
                <a:solidFill>
                  <a:srgbClr val="5EEAD4"/>
                </a:solidFill>
              </a:rPr>
              <a:t>A diferencia del dataset completo (9,326 registros con 1.4% Muertos), este subconjunto de 500 registros tiene mayor proporción de Muertos (26%), lo que favorece el aprendizaje del modelo.</a:t>
            </a:r>
            <a:endParaRPr b="1" i="0" sz="1500" u="none" cap="none" strike="noStrike">
              <a:solidFill>
                <a:srgbClr val="000000"/>
              </a:solidFill>
            </a:endParaRPr>
          </a:p>
        </p:txBody>
      </p:sp>
      <p:sp>
        <p:nvSpPr>
          <p:cNvPr id="754" name="Google Shape;754;g3a86323efb1_2_25"/>
          <p:cNvSpPr/>
          <p:nvPr/>
        </p:nvSpPr>
        <p:spPr>
          <a:xfrm>
            <a:off x="648310" y="1006754"/>
            <a:ext cx="55149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5" name="Google Shape;755;g3a86323efb1_2_25"/>
          <p:cNvSpPr/>
          <p:nvPr/>
        </p:nvSpPr>
        <p:spPr>
          <a:xfrm>
            <a:off x="6258627" y="1006754"/>
            <a:ext cx="5331000" cy="4947000"/>
          </a:xfrm>
          <a:prstGeom prst="rect">
            <a:avLst/>
          </a:prstGeom>
          <a:solidFill>
            <a:srgbClr val="FFFFFF"/>
          </a:solidFill>
          <a:ln cap="flat" cmpd="sng" w="9525">
            <a:solidFill>
              <a:srgbClr val="E2E8F0"/>
            </a:solidFill>
            <a:prstDash val="solid"/>
            <a:round/>
            <a:headEnd len="sm" w="sm" type="none"/>
            <a:tailEnd len="sm" w="sm" type="none"/>
          </a:ln>
          <a:effectLst>
            <a:outerShdw blurRad="101600" rotWithShape="0" algn="bl" dir="8100000" dist="38100">
              <a:srgbClr val="000000">
                <a:alpha val="1804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preencoded.png" id="756" name="Google Shape;756;g3a86323efb1_2_25"/>
          <p:cNvPicPr preferRelativeResize="0"/>
          <p:nvPr/>
        </p:nvPicPr>
        <p:blipFill rotWithShape="1">
          <a:blip r:embed="rId5">
            <a:alphaModFix/>
          </a:blip>
          <a:srcRect b="0" l="0" r="0" t="0"/>
          <a:stretch/>
        </p:blipFill>
        <p:spPr>
          <a:xfrm>
            <a:off x="5888730" y="1044713"/>
            <a:ext cx="616756" cy="616756"/>
          </a:xfrm>
          <a:prstGeom prst="rect">
            <a:avLst/>
          </a:prstGeom>
          <a:noFill/>
          <a:ln>
            <a:noFill/>
          </a:ln>
        </p:spPr>
      </p:pic>
      <p:sp>
        <p:nvSpPr>
          <p:cNvPr id="757" name="Google Shape;757;g3a86323efb1_2_25"/>
          <p:cNvSpPr/>
          <p:nvPr/>
        </p:nvSpPr>
        <p:spPr>
          <a:xfrm>
            <a:off x="7127173" y="1096518"/>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400">
                <a:solidFill>
                  <a:srgbClr val="1A3A5C"/>
                </a:solidFill>
              </a:rPr>
              <a:t>LA SOLUCIÓN</a:t>
            </a:r>
            <a:endParaRPr b="0" i="0" sz="2400" u="none" cap="none" strike="noStrike">
              <a:solidFill>
                <a:srgbClr val="000000"/>
              </a:solidFill>
              <a:latin typeface="Arial"/>
              <a:ea typeface="Arial"/>
              <a:cs typeface="Arial"/>
              <a:sym typeface="Arial"/>
            </a:endParaRPr>
          </a:p>
        </p:txBody>
      </p:sp>
      <p:sp>
        <p:nvSpPr>
          <p:cNvPr id="758" name="Google Shape;758;g3a86323efb1_2_25"/>
          <p:cNvSpPr/>
          <p:nvPr/>
        </p:nvSpPr>
        <p:spPr>
          <a:xfrm>
            <a:off x="1341010" y="1096506"/>
            <a:ext cx="4044300" cy="616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lang="en-US" sz="2400">
                <a:solidFill>
                  <a:srgbClr val="1A3A5C"/>
                </a:solidFill>
              </a:rPr>
              <a:t>EL PROBLEMA</a:t>
            </a:r>
            <a:endParaRPr b="0" i="0" sz="2400" u="none" cap="none" strike="noStrike">
              <a:solidFill>
                <a:srgbClr val="000000"/>
              </a:solidFill>
              <a:latin typeface="Arial"/>
              <a:ea typeface="Arial"/>
              <a:cs typeface="Arial"/>
              <a:sym typeface="Arial"/>
            </a:endParaRPr>
          </a:p>
        </p:txBody>
      </p:sp>
      <p:sp>
        <p:nvSpPr>
          <p:cNvPr id="759" name="Google Shape;759;g3a86323efb1_2_25"/>
          <p:cNvSpPr/>
          <p:nvPr/>
        </p:nvSpPr>
        <p:spPr>
          <a:xfrm>
            <a:off x="722500" y="1552645"/>
            <a:ext cx="5166300" cy="4407300"/>
          </a:xfrm>
          <a:prstGeom prst="rect">
            <a:avLst/>
          </a:prstGeom>
          <a:noFill/>
          <a:ln>
            <a:noFill/>
          </a:ln>
        </p:spPr>
        <p:txBody>
          <a:bodyPr anchorCtr="0" anchor="ctr" bIns="65675" lIns="131375" spcFirstLastPara="1" rIns="131375" wrap="square" tIns="65675">
            <a:noAutofit/>
          </a:bodyPr>
          <a:lstStyle/>
          <a:p>
            <a:pPr indent="0" lvl="0" marL="0" marR="0" rtl="0" algn="l">
              <a:spcBef>
                <a:spcPts val="0"/>
              </a:spcBef>
              <a:spcAft>
                <a:spcPts val="0"/>
              </a:spcAft>
              <a:buNone/>
            </a:pPr>
            <a:r>
              <a:rPr b="0" i="0" lang="en-US" sz="2452" u="none" cap="none" strike="noStrike">
                <a:solidFill>
                  <a:srgbClr val="1E293B"/>
                </a:solidFill>
                <a:latin typeface="Calibri"/>
                <a:ea typeface="Calibri"/>
                <a:cs typeface="Calibri"/>
                <a:sym typeface="Calibri"/>
              </a:rPr>
              <a:t>Los accidentes de tráfico generan dos tipos de resultados: Heridos (0) y Muertos (1).</a:t>
            </a:r>
            <a:endParaRPr b="0" i="0" sz="2452" u="none" cap="none" strike="noStrike">
              <a:solidFill>
                <a:srgbClr val="1E293B"/>
              </a:solidFill>
              <a:latin typeface="Calibri"/>
              <a:ea typeface="Calibri"/>
              <a:cs typeface="Calibri"/>
              <a:sym typeface="Calibri"/>
            </a:endParaRPr>
          </a:p>
          <a:p>
            <a:pPr indent="0" lvl="0" marL="0" marR="0" rtl="0" algn="l">
              <a:spcBef>
                <a:spcPts val="0"/>
              </a:spcBef>
              <a:spcAft>
                <a:spcPts val="0"/>
              </a:spcAft>
              <a:buNone/>
            </a:pPr>
            <a:r>
              <a:t/>
            </a:r>
            <a:endParaRPr sz="2452">
              <a:solidFill>
                <a:srgbClr val="1E293B"/>
              </a:solidFill>
              <a:latin typeface="Calibri"/>
              <a:ea typeface="Calibri"/>
              <a:cs typeface="Calibri"/>
              <a:sym typeface="Calibri"/>
            </a:endParaRPr>
          </a:p>
          <a:p>
            <a:pPr indent="0" lvl="0" marL="0" rtl="0" algn="l">
              <a:spcBef>
                <a:spcPts val="0"/>
              </a:spcBef>
              <a:spcAft>
                <a:spcPts val="0"/>
              </a:spcAft>
              <a:buNone/>
            </a:pPr>
            <a:r>
              <a:rPr lang="en-US" sz="2352">
                <a:solidFill>
                  <a:srgbClr val="1E293B"/>
                </a:solidFill>
                <a:latin typeface="Calibri"/>
                <a:ea typeface="Calibri"/>
                <a:cs typeface="Calibri"/>
                <a:sym typeface="Calibri"/>
              </a:rPr>
              <a:t>Identificar qué factores llevan a un desenlace fatal permite orientar políticas de prevención.</a:t>
            </a:r>
            <a:endParaRPr sz="2352">
              <a:solidFill>
                <a:srgbClr val="1E293B"/>
              </a:solidFill>
              <a:latin typeface="Calibri"/>
              <a:ea typeface="Calibri"/>
              <a:cs typeface="Calibri"/>
              <a:sym typeface="Calibri"/>
            </a:endParaRPr>
          </a:p>
          <a:p>
            <a:pPr indent="0" lvl="0" marL="0" rtl="0" algn="l">
              <a:spcBef>
                <a:spcPts val="0"/>
              </a:spcBef>
              <a:spcAft>
                <a:spcPts val="0"/>
              </a:spcAft>
              <a:buNone/>
            </a:pPr>
            <a:r>
              <a:t/>
            </a:r>
            <a:endParaRPr sz="2352">
              <a:solidFill>
                <a:srgbClr val="1E293B"/>
              </a:solidFill>
              <a:latin typeface="Calibri"/>
              <a:ea typeface="Calibri"/>
              <a:cs typeface="Calibri"/>
              <a:sym typeface="Calibri"/>
            </a:endParaRPr>
          </a:p>
          <a:p>
            <a:pPr indent="0" lvl="0" marL="0" rtl="0" algn="l">
              <a:spcBef>
                <a:spcPts val="0"/>
              </a:spcBef>
              <a:spcAft>
                <a:spcPts val="0"/>
              </a:spcAft>
              <a:buNone/>
            </a:pPr>
            <a:r>
              <a:rPr lang="en-US" sz="2352">
                <a:solidFill>
                  <a:srgbClr val="1E293B"/>
                </a:solidFill>
                <a:latin typeface="Calibri"/>
                <a:ea typeface="Calibri"/>
                <a:cs typeface="Calibri"/>
                <a:sym typeface="Calibri"/>
              </a:rPr>
              <a:t>El dataset presenta un fuerte desbalance natural: solo el 26% corresponde a Muertos.</a:t>
            </a:r>
            <a:endParaRPr sz="2352">
              <a:solidFill>
                <a:srgbClr val="1E293B"/>
              </a:solidFill>
              <a:latin typeface="Calibri"/>
              <a:ea typeface="Calibri"/>
              <a:cs typeface="Calibri"/>
              <a:sym typeface="Calibri"/>
            </a:endParaRPr>
          </a:p>
        </p:txBody>
      </p:sp>
      <p:sp>
        <p:nvSpPr>
          <p:cNvPr id="760" name="Google Shape;760;g3a86323efb1_2_25"/>
          <p:cNvSpPr/>
          <p:nvPr/>
        </p:nvSpPr>
        <p:spPr>
          <a:xfrm>
            <a:off x="6329500" y="1661475"/>
            <a:ext cx="5260200" cy="4292400"/>
          </a:xfrm>
          <a:prstGeom prst="rect">
            <a:avLst/>
          </a:prstGeom>
          <a:noFill/>
          <a:ln>
            <a:noFill/>
          </a:ln>
        </p:spPr>
        <p:txBody>
          <a:bodyPr anchorCtr="0" anchor="ctr" bIns="67400" lIns="134850" spcFirstLastPara="1" rIns="134850" wrap="square" tIns="67400">
            <a:noAutofit/>
          </a:bodyPr>
          <a:lstStyle/>
          <a:p>
            <a:pPr indent="0" lvl="0" marL="0" marR="0" rtl="0" algn="l">
              <a:lnSpc>
                <a:spcPct val="100000"/>
              </a:lnSpc>
              <a:spcBef>
                <a:spcPts val="0"/>
              </a:spcBef>
              <a:spcAft>
                <a:spcPts val="0"/>
              </a:spcAft>
              <a:buNone/>
            </a:pPr>
            <a:r>
              <a:rPr lang="en-US" sz="2352">
                <a:solidFill>
                  <a:srgbClr val="1E293B"/>
                </a:solidFill>
                <a:latin typeface="Calibri"/>
                <a:ea typeface="Calibri"/>
                <a:cs typeface="Calibri"/>
                <a:sym typeface="Calibri"/>
              </a:rPr>
              <a:t>Regresión Logística Binaria: predice la probabilidad:</a:t>
            </a:r>
            <a:endParaRPr sz="2352">
              <a:solidFill>
                <a:srgbClr val="1E293B"/>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452">
              <a:solidFill>
                <a:srgbClr val="1E293B"/>
              </a:solidFill>
              <a:latin typeface="Calibri"/>
              <a:ea typeface="Calibri"/>
              <a:cs typeface="Calibri"/>
              <a:sym typeface="Calibri"/>
            </a:endParaRPr>
          </a:p>
          <a:p>
            <a:pPr indent="0" lvl="0" marL="0" marR="0" rtl="0" algn="l">
              <a:lnSpc>
                <a:spcPct val="100000"/>
              </a:lnSpc>
              <a:spcBef>
                <a:spcPts val="0"/>
              </a:spcBef>
              <a:spcAft>
                <a:spcPts val="0"/>
              </a:spcAft>
              <a:buNone/>
            </a:pPr>
            <a:r>
              <a:rPr lang="en-US" sz="2452">
                <a:solidFill>
                  <a:srgbClr val="1E293B"/>
                </a:solidFill>
                <a:latin typeface="Calibri"/>
                <a:ea typeface="Calibri"/>
                <a:cs typeface="Calibri"/>
                <a:sym typeface="Calibri"/>
              </a:rPr>
              <a:t> </a:t>
            </a:r>
            <a:r>
              <a:rPr lang="en-US" sz="1952">
                <a:solidFill>
                  <a:srgbClr val="1E293B"/>
                </a:solidFill>
                <a:latin typeface="Calibri"/>
                <a:ea typeface="Calibri"/>
                <a:cs typeface="Calibri"/>
                <a:sym typeface="Calibri"/>
              </a:rPr>
              <a:t>          P(Muerte | condiciones del accidente).</a:t>
            </a:r>
            <a:endParaRPr sz="1952">
              <a:solidFill>
                <a:srgbClr val="1E293B"/>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2452">
              <a:solidFill>
                <a:srgbClr val="1E293B"/>
              </a:solidFill>
              <a:latin typeface="Calibri"/>
              <a:ea typeface="Calibri"/>
              <a:cs typeface="Calibri"/>
              <a:sym typeface="Calibri"/>
            </a:endParaRPr>
          </a:p>
          <a:p>
            <a:pPr indent="0" lvl="0" marL="0" marR="0" rtl="0" algn="l">
              <a:lnSpc>
                <a:spcPct val="100000"/>
              </a:lnSpc>
              <a:spcBef>
                <a:spcPts val="0"/>
              </a:spcBef>
              <a:spcAft>
                <a:spcPts val="0"/>
              </a:spcAft>
              <a:buNone/>
            </a:pPr>
            <a:r>
              <a:rPr lang="en-US" sz="2352">
                <a:solidFill>
                  <a:srgbClr val="1E293B"/>
                </a:solidFill>
                <a:latin typeface="Calibri"/>
                <a:ea typeface="Calibri"/>
                <a:cs typeface="Calibri"/>
                <a:sym typeface="Calibri"/>
              </a:rPr>
              <a:t>Salida: Heridos = 0 / Muertos = 1, con umbral de clasificación optimizable.</a:t>
            </a:r>
            <a:endParaRPr sz="2352">
              <a:solidFill>
                <a:srgbClr val="1E293B"/>
              </a:solidFill>
              <a:latin typeface="Calibri"/>
              <a:ea typeface="Calibri"/>
              <a:cs typeface="Calibri"/>
              <a:sym typeface="Calibri"/>
            </a:endParaRPr>
          </a:p>
          <a:p>
            <a:pPr indent="0" lvl="0" marL="0" marR="0" rtl="0" algn="l">
              <a:lnSpc>
                <a:spcPct val="100000"/>
              </a:lnSpc>
              <a:spcBef>
                <a:spcPts val="0"/>
              </a:spcBef>
              <a:spcAft>
                <a:spcPts val="0"/>
              </a:spcAft>
              <a:buNone/>
            </a:pPr>
            <a:r>
              <a:rPr lang="en-US" sz="2352">
                <a:solidFill>
                  <a:srgbClr val="1E293B"/>
                </a:solidFill>
                <a:latin typeface="Calibri"/>
                <a:ea typeface="Calibri"/>
                <a:cs typeface="Calibri"/>
                <a:sym typeface="Calibri"/>
              </a:rPr>
              <a:t>Permite priorizar el Recall de la clase Muertos minimizando falsos negativos.</a:t>
            </a:r>
            <a:endParaRPr sz="2296">
              <a:solidFill>
                <a:srgbClr val="1E293B"/>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5" name="Shape 765"/>
        <p:cNvGrpSpPr/>
        <p:nvPr/>
      </p:nvGrpSpPr>
      <p:grpSpPr>
        <a:xfrm>
          <a:off x="0" y="0"/>
          <a:ext cx="0" cy="0"/>
          <a:chOff x="0" y="0"/>
          <a:chExt cx="0" cy="0"/>
        </a:xfrm>
      </p:grpSpPr>
      <p:sp>
        <p:nvSpPr>
          <p:cNvPr id="766" name="Google Shape;766;g3a86323efb1_1_84"/>
          <p:cNvSpPr/>
          <p:nvPr/>
        </p:nvSpPr>
        <p:spPr>
          <a:xfrm>
            <a:off x="0" y="0"/>
            <a:ext cx="12192000" cy="14019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7" name="Google Shape;767;g3a86323efb1_1_84"/>
          <p:cNvSpPr/>
          <p:nvPr/>
        </p:nvSpPr>
        <p:spPr>
          <a:xfrm>
            <a:off x="609600" y="268224"/>
            <a:ext cx="10972800" cy="853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Variables del Modelo</a:t>
            </a:r>
            <a:endParaRPr b="0" i="0" sz="3500" u="none" cap="none" strike="noStrike">
              <a:solidFill>
                <a:schemeClr val="dk1"/>
              </a:solidFill>
              <a:latin typeface="Calibri"/>
              <a:ea typeface="Calibri"/>
              <a:cs typeface="Calibri"/>
              <a:sym typeface="Calibri"/>
            </a:endParaRPr>
          </a:p>
        </p:txBody>
      </p:sp>
      <p:sp>
        <p:nvSpPr>
          <p:cNvPr id="768" name="Google Shape;768;g3a86323efb1_1_84"/>
          <p:cNvSpPr/>
          <p:nvPr/>
        </p:nvSpPr>
        <p:spPr>
          <a:xfrm>
            <a:off x="487680" y="1584960"/>
            <a:ext cx="3901500" cy="4632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9" name="Google Shape;769;g3a86323efb1_1_84"/>
          <p:cNvSpPr/>
          <p:nvPr/>
        </p:nvSpPr>
        <p:spPr>
          <a:xfrm>
            <a:off x="548640" y="1584960"/>
            <a:ext cx="390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Variable</a:t>
            </a:r>
            <a:endParaRPr b="0" i="0" sz="1500" u="none" cap="none" strike="noStrike">
              <a:solidFill>
                <a:schemeClr val="dk1"/>
              </a:solidFill>
              <a:latin typeface="Calibri"/>
              <a:ea typeface="Calibri"/>
              <a:cs typeface="Calibri"/>
              <a:sym typeface="Calibri"/>
            </a:endParaRPr>
          </a:p>
        </p:txBody>
      </p:sp>
      <p:sp>
        <p:nvSpPr>
          <p:cNvPr id="770" name="Google Shape;770;g3a86323efb1_1_84"/>
          <p:cNvSpPr/>
          <p:nvPr/>
        </p:nvSpPr>
        <p:spPr>
          <a:xfrm>
            <a:off x="4450080" y="1584960"/>
            <a:ext cx="2072700" cy="4632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1" name="Google Shape;771;g3a86323efb1_1_84"/>
          <p:cNvSpPr/>
          <p:nvPr/>
        </p:nvSpPr>
        <p:spPr>
          <a:xfrm>
            <a:off x="4511040" y="1584960"/>
            <a:ext cx="20727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Tipo</a:t>
            </a:r>
            <a:endParaRPr b="0" i="0" sz="1500" u="none" cap="none" strike="noStrike">
              <a:solidFill>
                <a:schemeClr val="dk1"/>
              </a:solidFill>
              <a:latin typeface="Calibri"/>
              <a:ea typeface="Calibri"/>
              <a:cs typeface="Calibri"/>
              <a:sym typeface="Calibri"/>
            </a:endParaRPr>
          </a:p>
        </p:txBody>
      </p:sp>
      <p:sp>
        <p:nvSpPr>
          <p:cNvPr id="772" name="Google Shape;772;g3a86323efb1_1_84"/>
          <p:cNvSpPr/>
          <p:nvPr/>
        </p:nvSpPr>
        <p:spPr>
          <a:xfrm>
            <a:off x="6583680" y="1584960"/>
            <a:ext cx="2438400" cy="4632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3" name="Google Shape;773;g3a86323efb1_1_84"/>
          <p:cNvSpPr/>
          <p:nvPr/>
        </p:nvSpPr>
        <p:spPr>
          <a:xfrm>
            <a:off x="6644640" y="1584960"/>
            <a:ext cx="24384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Valores / Rango</a:t>
            </a:r>
            <a:endParaRPr b="0" i="0" sz="1500" u="none" cap="none" strike="noStrike">
              <a:solidFill>
                <a:schemeClr val="dk1"/>
              </a:solidFill>
              <a:latin typeface="Calibri"/>
              <a:ea typeface="Calibri"/>
              <a:cs typeface="Calibri"/>
              <a:sym typeface="Calibri"/>
            </a:endParaRPr>
          </a:p>
        </p:txBody>
      </p:sp>
      <p:sp>
        <p:nvSpPr>
          <p:cNvPr id="774" name="Google Shape;774;g3a86323efb1_1_84"/>
          <p:cNvSpPr/>
          <p:nvPr/>
        </p:nvSpPr>
        <p:spPr>
          <a:xfrm>
            <a:off x="487680" y="2048256"/>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5" name="Google Shape;775;g3a86323efb1_1_84"/>
          <p:cNvSpPr/>
          <p:nvPr/>
        </p:nvSpPr>
        <p:spPr>
          <a:xfrm>
            <a:off x="573024" y="2048256"/>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Hora_Accidente</a:t>
            </a:r>
            <a:endParaRPr b="0" i="0" sz="1300" u="none" cap="none" strike="noStrike">
              <a:solidFill>
                <a:schemeClr val="dk1"/>
              </a:solidFill>
              <a:latin typeface="Calibri"/>
              <a:ea typeface="Calibri"/>
              <a:cs typeface="Calibri"/>
              <a:sym typeface="Calibri"/>
            </a:endParaRPr>
          </a:p>
        </p:txBody>
      </p:sp>
      <p:sp>
        <p:nvSpPr>
          <p:cNvPr id="776" name="Google Shape;776;g3a86323efb1_1_84"/>
          <p:cNvSpPr/>
          <p:nvPr/>
        </p:nvSpPr>
        <p:spPr>
          <a:xfrm>
            <a:off x="4450080" y="2048256"/>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7" name="Google Shape;777;g3a86323efb1_1_84"/>
          <p:cNvSpPr/>
          <p:nvPr/>
        </p:nvSpPr>
        <p:spPr>
          <a:xfrm>
            <a:off x="4535424" y="2048256"/>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778" name="Google Shape;778;g3a86323efb1_1_84"/>
          <p:cNvSpPr/>
          <p:nvPr/>
        </p:nvSpPr>
        <p:spPr>
          <a:xfrm>
            <a:off x="6583680" y="2048256"/>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9" name="Google Shape;779;g3a86323efb1_1_84"/>
          <p:cNvSpPr/>
          <p:nvPr/>
        </p:nvSpPr>
        <p:spPr>
          <a:xfrm>
            <a:off x="6669024" y="2048256"/>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0 – 23 h</a:t>
            </a:r>
            <a:endParaRPr b="0" i="0" sz="1300" u="none" cap="none" strike="noStrike">
              <a:solidFill>
                <a:schemeClr val="dk1"/>
              </a:solidFill>
              <a:latin typeface="Calibri"/>
              <a:ea typeface="Calibri"/>
              <a:cs typeface="Calibri"/>
              <a:sym typeface="Calibri"/>
            </a:endParaRPr>
          </a:p>
        </p:txBody>
      </p:sp>
      <p:sp>
        <p:nvSpPr>
          <p:cNvPr id="780" name="Google Shape;780;g3a86323efb1_1_84"/>
          <p:cNvSpPr/>
          <p:nvPr/>
        </p:nvSpPr>
        <p:spPr>
          <a:xfrm>
            <a:off x="487680" y="2487168"/>
            <a:ext cx="39015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1" name="Google Shape;781;g3a86323efb1_1_84"/>
          <p:cNvSpPr/>
          <p:nvPr/>
        </p:nvSpPr>
        <p:spPr>
          <a:xfrm>
            <a:off x="573024" y="2487168"/>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Mes</a:t>
            </a:r>
            <a:endParaRPr b="0" i="0" sz="1300" u="none" cap="none" strike="noStrike">
              <a:solidFill>
                <a:schemeClr val="dk1"/>
              </a:solidFill>
              <a:latin typeface="Calibri"/>
              <a:ea typeface="Calibri"/>
              <a:cs typeface="Calibri"/>
              <a:sym typeface="Calibri"/>
            </a:endParaRPr>
          </a:p>
        </p:txBody>
      </p:sp>
      <p:sp>
        <p:nvSpPr>
          <p:cNvPr id="782" name="Google Shape;782;g3a86323efb1_1_84"/>
          <p:cNvSpPr/>
          <p:nvPr/>
        </p:nvSpPr>
        <p:spPr>
          <a:xfrm>
            <a:off x="4450080" y="2487168"/>
            <a:ext cx="20727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3" name="Google Shape;783;g3a86323efb1_1_84"/>
          <p:cNvSpPr/>
          <p:nvPr/>
        </p:nvSpPr>
        <p:spPr>
          <a:xfrm>
            <a:off x="4535424" y="2487168"/>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784" name="Google Shape;784;g3a86323efb1_1_84"/>
          <p:cNvSpPr/>
          <p:nvPr/>
        </p:nvSpPr>
        <p:spPr>
          <a:xfrm>
            <a:off x="6583680" y="2487168"/>
            <a:ext cx="24384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5" name="Google Shape;785;g3a86323efb1_1_84"/>
          <p:cNvSpPr/>
          <p:nvPr/>
        </p:nvSpPr>
        <p:spPr>
          <a:xfrm>
            <a:off x="6669024" y="2487168"/>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1 – 12</a:t>
            </a:r>
            <a:endParaRPr b="0" i="0" sz="1300" u="none" cap="none" strike="noStrike">
              <a:solidFill>
                <a:schemeClr val="dk1"/>
              </a:solidFill>
              <a:latin typeface="Calibri"/>
              <a:ea typeface="Calibri"/>
              <a:cs typeface="Calibri"/>
              <a:sym typeface="Calibri"/>
            </a:endParaRPr>
          </a:p>
        </p:txBody>
      </p:sp>
      <p:sp>
        <p:nvSpPr>
          <p:cNvPr id="786" name="Google Shape;786;g3a86323efb1_1_84"/>
          <p:cNvSpPr/>
          <p:nvPr/>
        </p:nvSpPr>
        <p:spPr>
          <a:xfrm>
            <a:off x="487680" y="2926080"/>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7" name="Google Shape;787;g3a86323efb1_1_84"/>
          <p:cNvSpPr/>
          <p:nvPr/>
        </p:nvSpPr>
        <p:spPr>
          <a:xfrm>
            <a:off x="573024" y="2926080"/>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Edad</a:t>
            </a:r>
            <a:endParaRPr b="0" i="0" sz="1300" u="none" cap="none" strike="noStrike">
              <a:solidFill>
                <a:schemeClr val="dk1"/>
              </a:solidFill>
              <a:latin typeface="Calibri"/>
              <a:ea typeface="Calibri"/>
              <a:cs typeface="Calibri"/>
              <a:sym typeface="Calibri"/>
            </a:endParaRPr>
          </a:p>
        </p:txBody>
      </p:sp>
      <p:sp>
        <p:nvSpPr>
          <p:cNvPr id="788" name="Google Shape;788;g3a86323efb1_1_84"/>
          <p:cNvSpPr/>
          <p:nvPr/>
        </p:nvSpPr>
        <p:spPr>
          <a:xfrm>
            <a:off x="4450080" y="2926080"/>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9" name="Google Shape;789;g3a86323efb1_1_84"/>
          <p:cNvSpPr/>
          <p:nvPr/>
        </p:nvSpPr>
        <p:spPr>
          <a:xfrm>
            <a:off x="4535424" y="2926080"/>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Numérica</a:t>
            </a:r>
            <a:endParaRPr b="0" i="0" sz="1300" u="none" cap="none" strike="noStrike">
              <a:solidFill>
                <a:schemeClr val="dk1"/>
              </a:solidFill>
              <a:latin typeface="Calibri"/>
              <a:ea typeface="Calibri"/>
              <a:cs typeface="Calibri"/>
              <a:sym typeface="Calibri"/>
            </a:endParaRPr>
          </a:p>
        </p:txBody>
      </p:sp>
      <p:sp>
        <p:nvSpPr>
          <p:cNvPr id="790" name="Google Shape;790;g3a86323efb1_1_84"/>
          <p:cNvSpPr/>
          <p:nvPr/>
        </p:nvSpPr>
        <p:spPr>
          <a:xfrm>
            <a:off x="6583680" y="2926080"/>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1" name="Google Shape;791;g3a86323efb1_1_84"/>
          <p:cNvSpPr/>
          <p:nvPr/>
        </p:nvSpPr>
        <p:spPr>
          <a:xfrm>
            <a:off x="6669024" y="2926080"/>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15 – 90 años</a:t>
            </a:r>
            <a:endParaRPr b="0" i="0" sz="1300" u="none" cap="none" strike="noStrike">
              <a:solidFill>
                <a:schemeClr val="dk1"/>
              </a:solidFill>
              <a:latin typeface="Calibri"/>
              <a:ea typeface="Calibri"/>
              <a:cs typeface="Calibri"/>
              <a:sym typeface="Calibri"/>
            </a:endParaRPr>
          </a:p>
        </p:txBody>
      </p:sp>
      <p:sp>
        <p:nvSpPr>
          <p:cNvPr id="792" name="Google Shape;792;g3a86323efb1_1_84"/>
          <p:cNvSpPr/>
          <p:nvPr/>
        </p:nvSpPr>
        <p:spPr>
          <a:xfrm>
            <a:off x="487680" y="3364992"/>
            <a:ext cx="39015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3" name="Google Shape;793;g3a86323efb1_1_84"/>
          <p:cNvSpPr/>
          <p:nvPr/>
        </p:nvSpPr>
        <p:spPr>
          <a:xfrm>
            <a:off x="573024" y="3364992"/>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Dia_Semana</a:t>
            </a:r>
            <a:endParaRPr b="0" i="0" sz="1300" u="none" cap="none" strike="noStrike">
              <a:solidFill>
                <a:schemeClr val="dk1"/>
              </a:solidFill>
              <a:latin typeface="Calibri"/>
              <a:ea typeface="Calibri"/>
              <a:cs typeface="Calibri"/>
              <a:sym typeface="Calibri"/>
            </a:endParaRPr>
          </a:p>
        </p:txBody>
      </p:sp>
      <p:sp>
        <p:nvSpPr>
          <p:cNvPr id="794" name="Google Shape;794;g3a86323efb1_1_84"/>
          <p:cNvSpPr/>
          <p:nvPr/>
        </p:nvSpPr>
        <p:spPr>
          <a:xfrm>
            <a:off x="4450080" y="3364992"/>
            <a:ext cx="20727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5" name="Google Shape;795;g3a86323efb1_1_84"/>
          <p:cNvSpPr/>
          <p:nvPr/>
        </p:nvSpPr>
        <p:spPr>
          <a:xfrm>
            <a:off x="4535424" y="3364992"/>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796" name="Google Shape;796;g3a86323efb1_1_84"/>
          <p:cNvSpPr/>
          <p:nvPr/>
        </p:nvSpPr>
        <p:spPr>
          <a:xfrm>
            <a:off x="6583680" y="3364992"/>
            <a:ext cx="24384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7" name="Google Shape;797;g3a86323efb1_1_84"/>
          <p:cNvSpPr/>
          <p:nvPr/>
        </p:nvSpPr>
        <p:spPr>
          <a:xfrm>
            <a:off x="6669024" y="3364992"/>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Lun – Dom</a:t>
            </a:r>
            <a:endParaRPr b="0" i="0" sz="1300" u="none" cap="none" strike="noStrike">
              <a:solidFill>
                <a:schemeClr val="dk1"/>
              </a:solidFill>
              <a:latin typeface="Calibri"/>
              <a:ea typeface="Calibri"/>
              <a:cs typeface="Calibri"/>
              <a:sym typeface="Calibri"/>
            </a:endParaRPr>
          </a:p>
        </p:txBody>
      </p:sp>
      <p:sp>
        <p:nvSpPr>
          <p:cNvPr id="798" name="Google Shape;798;g3a86323efb1_1_84"/>
          <p:cNvSpPr/>
          <p:nvPr/>
        </p:nvSpPr>
        <p:spPr>
          <a:xfrm>
            <a:off x="487680" y="3803904"/>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9" name="Google Shape;799;g3a86323efb1_1_84"/>
          <p:cNvSpPr/>
          <p:nvPr/>
        </p:nvSpPr>
        <p:spPr>
          <a:xfrm>
            <a:off x="573024" y="3803904"/>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Clase_Vehiculo</a:t>
            </a:r>
            <a:endParaRPr b="0" i="0" sz="1300" u="none" cap="none" strike="noStrike">
              <a:solidFill>
                <a:schemeClr val="dk1"/>
              </a:solidFill>
              <a:latin typeface="Calibri"/>
              <a:ea typeface="Calibri"/>
              <a:cs typeface="Calibri"/>
              <a:sym typeface="Calibri"/>
            </a:endParaRPr>
          </a:p>
        </p:txBody>
      </p:sp>
      <p:sp>
        <p:nvSpPr>
          <p:cNvPr id="800" name="Google Shape;800;g3a86323efb1_1_84"/>
          <p:cNvSpPr/>
          <p:nvPr/>
        </p:nvSpPr>
        <p:spPr>
          <a:xfrm>
            <a:off x="4450080" y="3803904"/>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1" name="Google Shape;801;g3a86323efb1_1_84"/>
          <p:cNvSpPr/>
          <p:nvPr/>
        </p:nvSpPr>
        <p:spPr>
          <a:xfrm>
            <a:off x="4535424" y="3803904"/>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02" name="Google Shape;802;g3a86323efb1_1_84"/>
          <p:cNvSpPr/>
          <p:nvPr/>
        </p:nvSpPr>
        <p:spPr>
          <a:xfrm>
            <a:off x="6583680" y="3803904"/>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3" name="Google Shape;803;g3a86323efb1_1_84"/>
          <p:cNvSpPr/>
          <p:nvPr/>
        </p:nvSpPr>
        <p:spPr>
          <a:xfrm>
            <a:off x="6669024" y="3803904"/>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11 categorías</a:t>
            </a:r>
            <a:endParaRPr b="0" i="0" sz="1300" u="none" cap="none" strike="noStrike">
              <a:solidFill>
                <a:schemeClr val="dk1"/>
              </a:solidFill>
              <a:latin typeface="Calibri"/>
              <a:ea typeface="Calibri"/>
              <a:cs typeface="Calibri"/>
              <a:sym typeface="Calibri"/>
            </a:endParaRPr>
          </a:p>
        </p:txBody>
      </p:sp>
      <p:sp>
        <p:nvSpPr>
          <p:cNvPr id="804" name="Google Shape;804;g3a86323efb1_1_84"/>
          <p:cNvSpPr/>
          <p:nvPr/>
        </p:nvSpPr>
        <p:spPr>
          <a:xfrm>
            <a:off x="487680" y="4242816"/>
            <a:ext cx="39015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5" name="Google Shape;805;g3a86323efb1_1_84"/>
          <p:cNvSpPr/>
          <p:nvPr/>
        </p:nvSpPr>
        <p:spPr>
          <a:xfrm>
            <a:off x="573024" y="4242816"/>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Tipo_Servicio</a:t>
            </a:r>
            <a:endParaRPr b="0" i="0" sz="1300" u="none" cap="none" strike="noStrike">
              <a:solidFill>
                <a:schemeClr val="dk1"/>
              </a:solidFill>
              <a:latin typeface="Calibri"/>
              <a:ea typeface="Calibri"/>
              <a:cs typeface="Calibri"/>
              <a:sym typeface="Calibri"/>
            </a:endParaRPr>
          </a:p>
        </p:txBody>
      </p:sp>
      <p:sp>
        <p:nvSpPr>
          <p:cNvPr id="806" name="Google Shape;806;g3a86323efb1_1_84"/>
          <p:cNvSpPr/>
          <p:nvPr/>
        </p:nvSpPr>
        <p:spPr>
          <a:xfrm>
            <a:off x="4450080" y="4242816"/>
            <a:ext cx="20727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7" name="Google Shape;807;g3a86323efb1_1_84"/>
          <p:cNvSpPr/>
          <p:nvPr/>
        </p:nvSpPr>
        <p:spPr>
          <a:xfrm>
            <a:off x="4535424" y="4242816"/>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08" name="Google Shape;808;g3a86323efb1_1_84"/>
          <p:cNvSpPr/>
          <p:nvPr/>
        </p:nvSpPr>
        <p:spPr>
          <a:xfrm>
            <a:off x="6583680" y="4242816"/>
            <a:ext cx="24384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9" name="Google Shape;809;g3a86323efb1_1_84"/>
          <p:cNvSpPr/>
          <p:nvPr/>
        </p:nvSpPr>
        <p:spPr>
          <a:xfrm>
            <a:off x="6669024" y="4242816"/>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Particular / Público / Otro</a:t>
            </a:r>
            <a:endParaRPr b="0" i="0" sz="1300" u="none" cap="none" strike="noStrike">
              <a:solidFill>
                <a:schemeClr val="dk1"/>
              </a:solidFill>
              <a:latin typeface="Calibri"/>
              <a:ea typeface="Calibri"/>
              <a:cs typeface="Calibri"/>
              <a:sym typeface="Calibri"/>
            </a:endParaRPr>
          </a:p>
        </p:txBody>
      </p:sp>
      <p:sp>
        <p:nvSpPr>
          <p:cNvPr id="810" name="Google Shape;810;g3a86323efb1_1_84"/>
          <p:cNvSpPr/>
          <p:nvPr/>
        </p:nvSpPr>
        <p:spPr>
          <a:xfrm>
            <a:off x="487680" y="4681728"/>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1" name="Google Shape;811;g3a86323efb1_1_84"/>
          <p:cNvSpPr/>
          <p:nvPr/>
        </p:nvSpPr>
        <p:spPr>
          <a:xfrm>
            <a:off x="573024" y="4681728"/>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Genero</a:t>
            </a:r>
            <a:endParaRPr b="0" i="0" sz="1300" u="none" cap="none" strike="noStrike">
              <a:solidFill>
                <a:schemeClr val="dk1"/>
              </a:solidFill>
              <a:latin typeface="Calibri"/>
              <a:ea typeface="Calibri"/>
              <a:cs typeface="Calibri"/>
              <a:sym typeface="Calibri"/>
            </a:endParaRPr>
          </a:p>
        </p:txBody>
      </p:sp>
      <p:sp>
        <p:nvSpPr>
          <p:cNvPr id="812" name="Google Shape;812;g3a86323efb1_1_84"/>
          <p:cNvSpPr/>
          <p:nvPr/>
        </p:nvSpPr>
        <p:spPr>
          <a:xfrm>
            <a:off x="4450080" y="4681728"/>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3" name="Google Shape;813;g3a86323efb1_1_84"/>
          <p:cNvSpPr/>
          <p:nvPr/>
        </p:nvSpPr>
        <p:spPr>
          <a:xfrm>
            <a:off x="4535424" y="4681728"/>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14" name="Google Shape;814;g3a86323efb1_1_84"/>
          <p:cNvSpPr/>
          <p:nvPr/>
        </p:nvSpPr>
        <p:spPr>
          <a:xfrm>
            <a:off x="6583680" y="4681728"/>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5" name="Google Shape;815;g3a86323efb1_1_84"/>
          <p:cNvSpPr/>
          <p:nvPr/>
        </p:nvSpPr>
        <p:spPr>
          <a:xfrm>
            <a:off x="6669024" y="4681728"/>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Hombre / Mujer</a:t>
            </a:r>
            <a:endParaRPr b="0" i="0" sz="1300" u="none" cap="none" strike="noStrike">
              <a:solidFill>
                <a:schemeClr val="dk1"/>
              </a:solidFill>
              <a:latin typeface="Calibri"/>
              <a:ea typeface="Calibri"/>
              <a:cs typeface="Calibri"/>
              <a:sym typeface="Calibri"/>
            </a:endParaRPr>
          </a:p>
        </p:txBody>
      </p:sp>
      <p:sp>
        <p:nvSpPr>
          <p:cNvPr id="816" name="Google Shape;816;g3a86323efb1_1_84"/>
          <p:cNvSpPr/>
          <p:nvPr/>
        </p:nvSpPr>
        <p:spPr>
          <a:xfrm>
            <a:off x="487680" y="5120640"/>
            <a:ext cx="39015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7" name="Google Shape;817;g3a86323efb1_1_84"/>
          <p:cNvSpPr/>
          <p:nvPr/>
        </p:nvSpPr>
        <p:spPr>
          <a:xfrm>
            <a:off x="573024" y="5120640"/>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Condicion_Climatica</a:t>
            </a:r>
            <a:endParaRPr b="0" i="0" sz="1300" u="none" cap="none" strike="noStrike">
              <a:solidFill>
                <a:schemeClr val="dk1"/>
              </a:solidFill>
              <a:latin typeface="Calibri"/>
              <a:ea typeface="Calibri"/>
              <a:cs typeface="Calibri"/>
              <a:sym typeface="Calibri"/>
            </a:endParaRPr>
          </a:p>
        </p:txBody>
      </p:sp>
      <p:sp>
        <p:nvSpPr>
          <p:cNvPr id="818" name="Google Shape;818;g3a86323efb1_1_84"/>
          <p:cNvSpPr/>
          <p:nvPr/>
        </p:nvSpPr>
        <p:spPr>
          <a:xfrm>
            <a:off x="4450080" y="5120640"/>
            <a:ext cx="20727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9" name="Google Shape;819;g3a86323efb1_1_84"/>
          <p:cNvSpPr/>
          <p:nvPr/>
        </p:nvSpPr>
        <p:spPr>
          <a:xfrm>
            <a:off x="4535424" y="5120640"/>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20" name="Google Shape;820;g3a86323efb1_1_84"/>
          <p:cNvSpPr/>
          <p:nvPr/>
        </p:nvSpPr>
        <p:spPr>
          <a:xfrm>
            <a:off x="6583680" y="5120640"/>
            <a:ext cx="24384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1" name="Google Shape;821;g3a86323efb1_1_84"/>
          <p:cNvSpPr/>
          <p:nvPr/>
        </p:nvSpPr>
        <p:spPr>
          <a:xfrm>
            <a:off x="6669024" y="5120640"/>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Normal / Lluvia</a:t>
            </a:r>
            <a:endParaRPr b="0" i="0" sz="1300" u="none" cap="none" strike="noStrike">
              <a:solidFill>
                <a:schemeClr val="dk1"/>
              </a:solidFill>
              <a:latin typeface="Calibri"/>
              <a:ea typeface="Calibri"/>
              <a:cs typeface="Calibri"/>
              <a:sym typeface="Calibri"/>
            </a:endParaRPr>
          </a:p>
        </p:txBody>
      </p:sp>
      <p:sp>
        <p:nvSpPr>
          <p:cNvPr id="822" name="Google Shape;822;g3a86323efb1_1_84"/>
          <p:cNvSpPr/>
          <p:nvPr/>
        </p:nvSpPr>
        <p:spPr>
          <a:xfrm>
            <a:off x="487680" y="5559552"/>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3" name="Google Shape;823;g3a86323efb1_1_84"/>
          <p:cNvSpPr/>
          <p:nvPr/>
        </p:nvSpPr>
        <p:spPr>
          <a:xfrm>
            <a:off x="573024" y="5559552"/>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Sector_Accidente</a:t>
            </a:r>
            <a:endParaRPr b="0" i="0" sz="1300" u="none" cap="none" strike="noStrike">
              <a:solidFill>
                <a:schemeClr val="dk1"/>
              </a:solidFill>
              <a:latin typeface="Calibri"/>
              <a:ea typeface="Calibri"/>
              <a:cs typeface="Calibri"/>
              <a:sym typeface="Calibri"/>
            </a:endParaRPr>
          </a:p>
        </p:txBody>
      </p:sp>
      <p:sp>
        <p:nvSpPr>
          <p:cNvPr id="824" name="Google Shape;824;g3a86323efb1_1_84"/>
          <p:cNvSpPr/>
          <p:nvPr/>
        </p:nvSpPr>
        <p:spPr>
          <a:xfrm>
            <a:off x="4450080" y="5559552"/>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5" name="Google Shape;825;g3a86323efb1_1_84"/>
          <p:cNvSpPr/>
          <p:nvPr/>
        </p:nvSpPr>
        <p:spPr>
          <a:xfrm>
            <a:off x="4535424" y="5559552"/>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26" name="Google Shape;826;g3a86323efb1_1_84"/>
          <p:cNvSpPr/>
          <p:nvPr/>
        </p:nvSpPr>
        <p:spPr>
          <a:xfrm>
            <a:off x="6583680" y="5559552"/>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7" name="Google Shape;827;g3a86323efb1_1_84"/>
          <p:cNvSpPr/>
          <p:nvPr/>
        </p:nvSpPr>
        <p:spPr>
          <a:xfrm>
            <a:off x="6669024" y="5559552"/>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5 sectores</a:t>
            </a:r>
            <a:endParaRPr b="0" i="0" sz="1300" u="none" cap="none" strike="noStrike">
              <a:solidFill>
                <a:schemeClr val="dk1"/>
              </a:solidFill>
              <a:latin typeface="Calibri"/>
              <a:ea typeface="Calibri"/>
              <a:cs typeface="Calibri"/>
              <a:sym typeface="Calibri"/>
            </a:endParaRPr>
          </a:p>
        </p:txBody>
      </p:sp>
      <p:sp>
        <p:nvSpPr>
          <p:cNvPr id="828" name="Google Shape;828;g3a86323efb1_1_84"/>
          <p:cNvSpPr/>
          <p:nvPr/>
        </p:nvSpPr>
        <p:spPr>
          <a:xfrm>
            <a:off x="487680" y="5998464"/>
            <a:ext cx="39015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9" name="Google Shape;829;g3a86323efb1_1_84"/>
          <p:cNvSpPr/>
          <p:nvPr/>
        </p:nvSpPr>
        <p:spPr>
          <a:xfrm>
            <a:off x="573024" y="5998464"/>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Localidad_Comuna</a:t>
            </a:r>
            <a:endParaRPr b="0" i="0" sz="1300" u="none" cap="none" strike="noStrike">
              <a:solidFill>
                <a:schemeClr val="dk1"/>
              </a:solidFill>
              <a:latin typeface="Calibri"/>
              <a:ea typeface="Calibri"/>
              <a:cs typeface="Calibri"/>
              <a:sym typeface="Calibri"/>
            </a:endParaRPr>
          </a:p>
        </p:txBody>
      </p:sp>
      <p:sp>
        <p:nvSpPr>
          <p:cNvPr id="830" name="Google Shape;830;g3a86323efb1_1_84"/>
          <p:cNvSpPr/>
          <p:nvPr/>
        </p:nvSpPr>
        <p:spPr>
          <a:xfrm>
            <a:off x="4450080" y="5998464"/>
            <a:ext cx="20727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1" name="Google Shape;831;g3a86323efb1_1_84"/>
          <p:cNvSpPr/>
          <p:nvPr/>
        </p:nvSpPr>
        <p:spPr>
          <a:xfrm>
            <a:off x="4535424" y="5998464"/>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32" name="Google Shape;832;g3a86323efb1_1_84"/>
          <p:cNvSpPr/>
          <p:nvPr/>
        </p:nvSpPr>
        <p:spPr>
          <a:xfrm>
            <a:off x="6583680" y="5998464"/>
            <a:ext cx="2438400" cy="438900"/>
          </a:xfrm>
          <a:prstGeom prst="rect">
            <a:avLst/>
          </a:prstGeom>
          <a:solidFill>
            <a:srgbClr val="FFFF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3" name="Google Shape;833;g3a86323efb1_1_84"/>
          <p:cNvSpPr/>
          <p:nvPr/>
        </p:nvSpPr>
        <p:spPr>
          <a:xfrm>
            <a:off x="6669024" y="5998464"/>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Las Vegas / Otro</a:t>
            </a:r>
            <a:endParaRPr b="0" i="0" sz="1300" u="none" cap="none" strike="noStrike">
              <a:solidFill>
                <a:schemeClr val="dk1"/>
              </a:solidFill>
              <a:latin typeface="Calibri"/>
              <a:ea typeface="Calibri"/>
              <a:cs typeface="Calibri"/>
              <a:sym typeface="Calibri"/>
            </a:endParaRPr>
          </a:p>
        </p:txBody>
      </p:sp>
      <p:sp>
        <p:nvSpPr>
          <p:cNvPr id="834" name="Google Shape;834;g3a86323efb1_1_84"/>
          <p:cNvSpPr/>
          <p:nvPr/>
        </p:nvSpPr>
        <p:spPr>
          <a:xfrm>
            <a:off x="487680" y="6437376"/>
            <a:ext cx="39015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5" name="Google Shape;835;g3a86323efb1_1_84"/>
          <p:cNvSpPr/>
          <p:nvPr/>
        </p:nvSpPr>
        <p:spPr>
          <a:xfrm>
            <a:off x="573024" y="6437376"/>
            <a:ext cx="37797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Estado_Embriaguez</a:t>
            </a:r>
            <a:endParaRPr b="0" i="0" sz="1300" u="none" cap="none" strike="noStrike">
              <a:solidFill>
                <a:schemeClr val="dk1"/>
              </a:solidFill>
              <a:latin typeface="Calibri"/>
              <a:ea typeface="Calibri"/>
              <a:cs typeface="Calibri"/>
              <a:sym typeface="Calibri"/>
            </a:endParaRPr>
          </a:p>
        </p:txBody>
      </p:sp>
      <p:sp>
        <p:nvSpPr>
          <p:cNvPr id="836" name="Google Shape;836;g3a86323efb1_1_84"/>
          <p:cNvSpPr/>
          <p:nvPr/>
        </p:nvSpPr>
        <p:spPr>
          <a:xfrm>
            <a:off x="4450080" y="6437376"/>
            <a:ext cx="20727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7" name="Google Shape;837;g3a86323efb1_1_84"/>
          <p:cNvSpPr/>
          <p:nvPr/>
        </p:nvSpPr>
        <p:spPr>
          <a:xfrm>
            <a:off x="4535424" y="6437376"/>
            <a:ext cx="19509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2F3C7E"/>
              </a:buClr>
              <a:buSzPts val="1300"/>
              <a:buFont typeface="Calibri"/>
              <a:buNone/>
            </a:pPr>
            <a:r>
              <a:rPr b="1" i="0" lang="en-US" sz="1300" u="none" cap="none" strike="noStrike">
                <a:solidFill>
                  <a:srgbClr val="2F3C7E"/>
                </a:solidFill>
                <a:latin typeface="Calibri"/>
                <a:ea typeface="Calibri"/>
                <a:cs typeface="Calibri"/>
                <a:sym typeface="Calibri"/>
              </a:rPr>
              <a:t>Categórica</a:t>
            </a:r>
            <a:endParaRPr b="0" i="0" sz="1300" u="none" cap="none" strike="noStrike">
              <a:solidFill>
                <a:schemeClr val="dk1"/>
              </a:solidFill>
              <a:latin typeface="Calibri"/>
              <a:ea typeface="Calibri"/>
              <a:cs typeface="Calibri"/>
              <a:sym typeface="Calibri"/>
            </a:endParaRPr>
          </a:p>
        </p:txBody>
      </p:sp>
      <p:sp>
        <p:nvSpPr>
          <p:cNvPr id="838" name="Google Shape;838;g3a86323efb1_1_84"/>
          <p:cNvSpPr/>
          <p:nvPr/>
        </p:nvSpPr>
        <p:spPr>
          <a:xfrm>
            <a:off x="6583680" y="6437376"/>
            <a:ext cx="2438400" cy="4389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9" name="Google Shape;839;g3a86323efb1_1_84"/>
          <p:cNvSpPr/>
          <p:nvPr/>
        </p:nvSpPr>
        <p:spPr>
          <a:xfrm>
            <a:off x="6669024" y="6437376"/>
            <a:ext cx="2316300" cy="438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Sin / Con embriaguez</a:t>
            </a:r>
            <a:endParaRPr b="0" i="0" sz="1300" u="none" cap="none" strike="noStrike">
              <a:solidFill>
                <a:schemeClr val="dk1"/>
              </a:solidFill>
              <a:latin typeface="Calibri"/>
              <a:ea typeface="Calibri"/>
              <a:cs typeface="Calibri"/>
              <a:sym typeface="Calibri"/>
            </a:endParaRPr>
          </a:p>
        </p:txBody>
      </p:sp>
      <p:sp>
        <p:nvSpPr>
          <p:cNvPr id="840" name="Google Shape;840;g3a86323efb1_1_84"/>
          <p:cNvSpPr/>
          <p:nvPr/>
        </p:nvSpPr>
        <p:spPr>
          <a:xfrm>
            <a:off x="9204960" y="1584960"/>
            <a:ext cx="2499300" cy="45720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1" name="Google Shape;841;g3a86323efb1_1_84"/>
          <p:cNvSpPr/>
          <p:nvPr/>
        </p:nvSpPr>
        <p:spPr>
          <a:xfrm>
            <a:off x="9204960" y="1584960"/>
            <a:ext cx="2499300" cy="4632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2" name="Google Shape;842;g3a86323efb1_1_84"/>
          <p:cNvSpPr/>
          <p:nvPr/>
        </p:nvSpPr>
        <p:spPr>
          <a:xfrm>
            <a:off x="9204960" y="1584960"/>
            <a:ext cx="2499300" cy="46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OBJETIVO</a:t>
            </a:r>
            <a:endParaRPr b="0" i="0" sz="1500" u="none" cap="none" strike="noStrike">
              <a:solidFill>
                <a:schemeClr val="dk1"/>
              </a:solidFill>
              <a:latin typeface="Calibri"/>
              <a:ea typeface="Calibri"/>
              <a:cs typeface="Calibri"/>
              <a:sym typeface="Calibri"/>
            </a:endParaRPr>
          </a:p>
        </p:txBody>
      </p:sp>
      <p:sp>
        <p:nvSpPr>
          <p:cNvPr id="843" name="Google Shape;843;g3a86323efb1_1_84"/>
          <p:cNvSpPr/>
          <p:nvPr/>
        </p:nvSpPr>
        <p:spPr>
          <a:xfrm>
            <a:off x="9265920" y="2218944"/>
            <a:ext cx="23163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2100"/>
              <a:buFont typeface="Calibri"/>
              <a:buNone/>
            </a:pPr>
            <a:r>
              <a:rPr b="1" i="0" lang="en-US" sz="2100" u="none" cap="none" strike="noStrike">
                <a:solidFill>
                  <a:srgbClr val="990011"/>
                </a:solidFill>
                <a:latin typeface="Calibri"/>
                <a:ea typeface="Calibri"/>
                <a:cs typeface="Calibri"/>
                <a:sym typeface="Calibri"/>
              </a:rPr>
              <a:t>Gravedad</a:t>
            </a:r>
            <a:endParaRPr b="0" i="0" sz="2100" u="none" cap="none" strike="noStrike">
              <a:solidFill>
                <a:schemeClr val="dk1"/>
              </a:solidFill>
              <a:latin typeface="Calibri"/>
              <a:ea typeface="Calibri"/>
              <a:cs typeface="Calibri"/>
              <a:sym typeface="Calibri"/>
            </a:endParaRPr>
          </a:p>
        </p:txBody>
      </p:sp>
      <p:sp>
        <p:nvSpPr>
          <p:cNvPr id="844" name="Google Shape;844;g3a86323efb1_1_84"/>
          <p:cNvSpPr/>
          <p:nvPr/>
        </p:nvSpPr>
        <p:spPr>
          <a:xfrm>
            <a:off x="9265920" y="2865120"/>
            <a:ext cx="2316300" cy="79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700"/>
              <a:buFont typeface="Calibri"/>
              <a:buNone/>
            </a:pPr>
            <a:r>
              <a:rPr b="0" i="0" lang="en-US" sz="1700" u="none" cap="none" strike="noStrike">
                <a:solidFill>
                  <a:srgbClr val="1C2951"/>
                </a:solidFill>
                <a:latin typeface="Calibri"/>
                <a:ea typeface="Calibri"/>
                <a:cs typeface="Calibri"/>
                <a:sym typeface="Calibri"/>
              </a:rPr>
              <a:t>Heridos = 0</a:t>
            </a:r>
            <a:endParaRPr b="0" i="0" sz="17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700"/>
              <a:buFont typeface="Calibri"/>
              <a:buNone/>
            </a:pPr>
            <a:r>
              <a:rPr b="0" i="0" lang="en-US" sz="1700" u="none" cap="none" strike="noStrike">
                <a:solidFill>
                  <a:srgbClr val="1C2951"/>
                </a:solidFill>
                <a:latin typeface="Calibri"/>
                <a:ea typeface="Calibri"/>
                <a:cs typeface="Calibri"/>
                <a:sym typeface="Calibri"/>
              </a:rPr>
              <a:t>Muertos = 1</a:t>
            </a:r>
            <a:endParaRPr b="0" i="0" sz="1700" u="none" cap="none" strike="noStrike">
              <a:solidFill>
                <a:schemeClr val="dk1"/>
              </a:solidFill>
              <a:latin typeface="Calibri"/>
              <a:ea typeface="Calibri"/>
              <a:cs typeface="Calibri"/>
              <a:sym typeface="Calibri"/>
            </a:endParaRPr>
          </a:p>
        </p:txBody>
      </p:sp>
      <p:sp>
        <p:nvSpPr>
          <p:cNvPr id="845" name="Google Shape;845;g3a86323efb1_1_84"/>
          <p:cNvSpPr/>
          <p:nvPr/>
        </p:nvSpPr>
        <p:spPr>
          <a:xfrm>
            <a:off x="9265920" y="3779520"/>
            <a:ext cx="2316300" cy="1036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Variable binaria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codificada con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One-Hot Encoding</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para categóricas</a:t>
            </a:r>
            <a:endParaRPr b="0" i="0" sz="1300" u="none" cap="none" strike="noStrike">
              <a:solidFill>
                <a:schemeClr val="dk1"/>
              </a:solidFill>
              <a:latin typeface="Calibri"/>
              <a:ea typeface="Calibri"/>
              <a:cs typeface="Calibri"/>
              <a:sym typeface="Calibri"/>
            </a:endParaRPr>
          </a:p>
        </p:txBody>
      </p:sp>
      <p:grpSp>
        <p:nvGrpSpPr>
          <p:cNvPr id="846" name="Google Shape;846;g3a86323efb1_1_84"/>
          <p:cNvGrpSpPr/>
          <p:nvPr/>
        </p:nvGrpSpPr>
        <p:grpSpPr>
          <a:xfrm>
            <a:off x="9175700" y="490375"/>
            <a:ext cx="2557800" cy="409200"/>
            <a:chOff x="609600" y="304800"/>
            <a:chExt cx="2557800" cy="409200"/>
          </a:xfrm>
        </p:grpSpPr>
        <p:sp>
          <p:nvSpPr>
            <p:cNvPr id="847" name="Google Shape;847;g3a86323efb1_1_84"/>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200"/>
            </a:p>
          </p:txBody>
        </p:sp>
        <p:sp>
          <p:nvSpPr>
            <p:cNvPr id="848" name="Google Shape;848;g3a86323efb1_1_84"/>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059">
                  <a:solidFill>
                    <a:srgbClr val="FFFFFF"/>
                  </a:solidFill>
                  <a:latin typeface="Calibri"/>
                  <a:ea typeface="Calibri"/>
                  <a:cs typeface="Calibri"/>
                  <a:sym typeface="Calibri"/>
                </a:rPr>
                <a:t>Regresion Logistica</a:t>
              </a:r>
              <a:endParaRPr b="0" i="0" sz="2059" u="none" cap="none" strike="noStrike">
                <a:solidFill>
                  <a:schemeClr val="dk1"/>
                </a:solidFill>
                <a:latin typeface="Calibri"/>
                <a:ea typeface="Calibri"/>
                <a:cs typeface="Calibri"/>
                <a:sym typeface="Calibri"/>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3" name="Shape 853"/>
        <p:cNvGrpSpPr/>
        <p:nvPr/>
      </p:nvGrpSpPr>
      <p:grpSpPr>
        <a:xfrm>
          <a:off x="0" y="0"/>
          <a:ext cx="0" cy="0"/>
          <a:chOff x="0" y="0"/>
          <a:chExt cx="0" cy="0"/>
        </a:xfrm>
      </p:grpSpPr>
      <p:sp>
        <p:nvSpPr>
          <p:cNvPr id="854" name="Google Shape;854;g3a86323efb1_1_56"/>
          <p:cNvSpPr/>
          <p:nvPr/>
        </p:nvSpPr>
        <p:spPr>
          <a:xfrm>
            <a:off x="0" y="0"/>
            <a:ext cx="12192000" cy="14019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5" name="Google Shape;855;g3a86323efb1_1_56"/>
          <p:cNvSpPr/>
          <p:nvPr/>
        </p:nvSpPr>
        <p:spPr>
          <a:xfrm>
            <a:off x="609600" y="268224"/>
            <a:ext cx="10972800" cy="853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Construcción del Dataset</a:t>
            </a:r>
            <a:endParaRPr b="0" i="0" sz="3500" u="none" cap="none" strike="noStrike">
              <a:solidFill>
                <a:schemeClr val="dk1"/>
              </a:solidFill>
              <a:latin typeface="Calibri"/>
              <a:ea typeface="Calibri"/>
              <a:cs typeface="Calibri"/>
              <a:sym typeface="Calibri"/>
            </a:endParaRPr>
          </a:p>
        </p:txBody>
      </p:sp>
      <p:sp>
        <p:nvSpPr>
          <p:cNvPr id="856" name="Google Shape;856;g3a86323efb1_1_56"/>
          <p:cNvSpPr/>
          <p:nvPr/>
        </p:nvSpPr>
        <p:spPr>
          <a:xfrm>
            <a:off x="48768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7" name="Google Shape;857;g3a86323efb1_1_56"/>
          <p:cNvSpPr/>
          <p:nvPr/>
        </p:nvSpPr>
        <p:spPr>
          <a:xfrm>
            <a:off x="48768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5100"/>
              <a:buFont typeface="Calibri"/>
              <a:buNone/>
            </a:pPr>
            <a:r>
              <a:rPr b="1" i="0" lang="en-US" sz="5100" u="none" cap="none" strike="noStrike">
                <a:solidFill>
                  <a:srgbClr val="2F3C7E"/>
                </a:solidFill>
                <a:latin typeface="Calibri"/>
                <a:ea typeface="Calibri"/>
                <a:cs typeface="Calibri"/>
                <a:sym typeface="Calibri"/>
              </a:rPr>
              <a:t>500</a:t>
            </a:r>
            <a:endParaRPr b="0" i="0" sz="5100" u="none" cap="none" strike="noStrike">
              <a:solidFill>
                <a:schemeClr val="dk1"/>
              </a:solidFill>
              <a:latin typeface="Calibri"/>
              <a:ea typeface="Calibri"/>
              <a:cs typeface="Calibri"/>
              <a:sym typeface="Calibri"/>
            </a:endParaRPr>
          </a:p>
        </p:txBody>
      </p:sp>
      <p:sp>
        <p:nvSpPr>
          <p:cNvPr id="858" name="Google Shape;858;g3a86323efb1_1_56"/>
          <p:cNvSpPr/>
          <p:nvPr/>
        </p:nvSpPr>
        <p:spPr>
          <a:xfrm>
            <a:off x="48768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Registros totales</a:t>
            </a:r>
            <a:endParaRPr b="0" i="0" sz="1300" u="none" cap="none" strike="noStrike">
              <a:solidFill>
                <a:schemeClr val="dk1"/>
              </a:solidFill>
              <a:latin typeface="Calibri"/>
              <a:ea typeface="Calibri"/>
              <a:cs typeface="Calibri"/>
              <a:sym typeface="Calibri"/>
            </a:endParaRPr>
          </a:p>
        </p:txBody>
      </p:sp>
      <p:sp>
        <p:nvSpPr>
          <p:cNvPr id="859" name="Google Shape;859;g3a86323efb1_1_56"/>
          <p:cNvSpPr/>
          <p:nvPr/>
        </p:nvSpPr>
        <p:spPr>
          <a:xfrm>
            <a:off x="329184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0" name="Google Shape;860;g3a86323efb1_1_56"/>
          <p:cNvSpPr/>
          <p:nvPr/>
        </p:nvSpPr>
        <p:spPr>
          <a:xfrm>
            <a:off x="329184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5100"/>
              <a:buFont typeface="Calibri"/>
              <a:buNone/>
            </a:pPr>
            <a:r>
              <a:rPr b="1" i="0" lang="en-US" sz="5100" u="none" cap="none" strike="noStrike">
                <a:solidFill>
                  <a:srgbClr val="990011"/>
                </a:solidFill>
                <a:latin typeface="Calibri"/>
                <a:ea typeface="Calibri"/>
                <a:cs typeface="Calibri"/>
                <a:sym typeface="Calibri"/>
              </a:rPr>
              <a:t>130</a:t>
            </a:r>
            <a:endParaRPr b="0" i="0" sz="5100" u="none" cap="none" strike="noStrike">
              <a:solidFill>
                <a:schemeClr val="dk1"/>
              </a:solidFill>
              <a:latin typeface="Calibri"/>
              <a:ea typeface="Calibri"/>
              <a:cs typeface="Calibri"/>
              <a:sym typeface="Calibri"/>
            </a:endParaRPr>
          </a:p>
        </p:txBody>
      </p:sp>
      <p:sp>
        <p:nvSpPr>
          <p:cNvPr id="861" name="Google Shape;861;g3a86323efb1_1_56"/>
          <p:cNvSpPr/>
          <p:nvPr/>
        </p:nvSpPr>
        <p:spPr>
          <a:xfrm>
            <a:off x="329184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Muertos (26%)</a:t>
            </a:r>
            <a:endParaRPr b="0" i="0" sz="1300" u="none" cap="none" strike="noStrike">
              <a:solidFill>
                <a:schemeClr val="dk1"/>
              </a:solidFill>
              <a:latin typeface="Calibri"/>
              <a:ea typeface="Calibri"/>
              <a:cs typeface="Calibri"/>
              <a:sym typeface="Calibri"/>
            </a:endParaRPr>
          </a:p>
        </p:txBody>
      </p:sp>
      <p:sp>
        <p:nvSpPr>
          <p:cNvPr id="862" name="Google Shape;862;g3a86323efb1_1_56"/>
          <p:cNvSpPr/>
          <p:nvPr/>
        </p:nvSpPr>
        <p:spPr>
          <a:xfrm>
            <a:off x="609600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3" name="Google Shape;863;g3a86323efb1_1_56"/>
          <p:cNvSpPr/>
          <p:nvPr/>
        </p:nvSpPr>
        <p:spPr>
          <a:xfrm>
            <a:off x="609600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5100"/>
              <a:buFont typeface="Calibri"/>
              <a:buNone/>
            </a:pPr>
            <a:r>
              <a:rPr b="1" i="0" lang="en-US" sz="5100" u="none" cap="none" strike="noStrike">
                <a:solidFill>
                  <a:srgbClr val="166534"/>
                </a:solidFill>
                <a:latin typeface="Calibri"/>
                <a:ea typeface="Calibri"/>
                <a:cs typeface="Calibri"/>
                <a:sym typeface="Calibri"/>
              </a:rPr>
              <a:t>370</a:t>
            </a:r>
            <a:endParaRPr b="0" i="0" sz="5100" u="none" cap="none" strike="noStrike">
              <a:solidFill>
                <a:schemeClr val="dk1"/>
              </a:solidFill>
              <a:latin typeface="Calibri"/>
              <a:ea typeface="Calibri"/>
              <a:cs typeface="Calibri"/>
              <a:sym typeface="Calibri"/>
            </a:endParaRPr>
          </a:p>
        </p:txBody>
      </p:sp>
      <p:sp>
        <p:nvSpPr>
          <p:cNvPr id="864" name="Google Shape;864;g3a86323efb1_1_56"/>
          <p:cNvSpPr/>
          <p:nvPr/>
        </p:nvSpPr>
        <p:spPr>
          <a:xfrm>
            <a:off x="609600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Heridos aleatorios (74%)</a:t>
            </a:r>
            <a:endParaRPr b="0" i="0" sz="1300" u="none" cap="none" strike="noStrike">
              <a:solidFill>
                <a:schemeClr val="dk1"/>
              </a:solidFill>
              <a:latin typeface="Calibri"/>
              <a:ea typeface="Calibri"/>
              <a:cs typeface="Calibri"/>
              <a:sym typeface="Calibri"/>
            </a:endParaRPr>
          </a:p>
        </p:txBody>
      </p:sp>
      <p:sp>
        <p:nvSpPr>
          <p:cNvPr id="865" name="Google Shape;865;g3a86323efb1_1_56"/>
          <p:cNvSpPr/>
          <p:nvPr/>
        </p:nvSpPr>
        <p:spPr>
          <a:xfrm>
            <a:off x="8900160" y="1584960"/>
            <a:ext cx="2560500" cy="17067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6" name="Google Shape;866;g3a86323efb1_1_56"/>
          <p:cNvSpPr/>
          <p:nvPr/>
        </p:nvSpPr>
        <p:spPr>
          <a:xfrm>
            <a:off x="8900160" y="1682496"/>
            <a:ext cx="2560500" cy="914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5100"/>
              <a:buFont typeface="Calibri"/>
              <a:buNone/>
            </a:pPr>
            <a:r>
              <a:rPr b="1" i="0" lang="en-US" sz="5100" u="none" cap="none" strike="noStrike">
                <a:solidFill>
                  <a:srgbClr val="64748B"/>
                </a:solidFill>
                <a:latin typeface="Calibri"/>
                <a:ea typeface="Calibri"/>
                <a:cs typeface="Calibri"/>
                <a:sym typeface="Calibri"/>
              </a:rPr>
              <a:t>32</a:t>
            </a:r>
            <a:endParaRPr b="0" i="0" sz="5100" u="none" cap="none" strike="noStrike">
              <a:solidFill>
                <a:schemeClr val="dk1"/>
              </a:solidFill>
              <a:latin typeface="Calibri"/>
              <a:ea typeface="Calibri"/>
              <a:cs typeface="Calibri"/>
              <a:sym typeface="Calibri"/>
            </a:endParaRPr>
          </a:p>
        </p:txBody>
      </p:sp>
      <p:sp>
        <p:nvSpPr>
          <p:cNvPr id="867" name="Google Shape;867;g3a86323efb1_1_56"/>
          <p:cNvSpPr/>
          <p:nvPr/>
        </p:nvSpPr>
        <p:spPr>
          <a:xfrm>
            <a:off x="8900160" y="2560320"/>
            <a:ext cx="25605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Columnas originales</a:t>
            </a:r>
            <a:endParaRPr b="0" i="0" sz="1300" u="none" cap="none" strike="noStrike">
              <a:solidFill>
                <a:schemeClr val="dk1"/>
              </a:solidFill>
              <a:latin typeface="Calibri"/>
              <a:ea typeface="Calibri"/>
              <a:cs typeface="Calibri"/>
              <a:sym typeface="Calibri"/>
            </a:endParaRPr>
          </a:p>
        </p:txBody>
      </p:sp>
      <p:pic>
        <p:nvPicPr>
          <p:cNvPr id="868" name="Google Shape;868;g3a86323efb1_1_56"/>
          <p:cNvPicPr preferRelativeResize="0"/>
          <p:nvPr/>
        </p:nvPicPr>
        <p:blipFill rotWithShape="1">
          <a:blip r:embed="rId3">
            <a:alphaModFix/>
          </a:blip>
          <a:srcRect b="0" l="0" r="0" t="0"/>
          <a:stretch/>
        </p:blipFill>
        <p:spPr>
          <a:xfrm>
            <a:off x="487680" y="3596640"/>
            <a:ext cx="5486400" cy="2804100"/>
          </a:xfrm>
          <a:prstGeom prst="rect">
            <a:avLst/>
          </a:prstGeom>
          <a:noFill/>
          <a:ln>
            <a:noFill/>
          </a:ln>
        </p:spPr>
      </p:pic>
      <p:sp>
        <p:nvSpPr>
          <p:cNvPr id="869" name="Google Shape;869;g3a86323efb1_1_56"/>
          <p:cNvSpPr/>
          <p:nvPr/>
        </p:nvSpPr>
        <p:spPr>
          <a:xfrm>
            <a:off x="6339840" y="3596640"/>
            <a:ext cx="5364300" cy="280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0" name="Google Shape;870;g3a86323efb1_1_56"/>
          <p:cNvSpPr/>
          <p:nvPr/>
        </p:nvSpPr>
        <p:spPr>
          <a:xfrm>
            <a:off x="6461760" y="3718560"/>
            <a:ext cx="4998900" cy="487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700"/>
              <a:buFont typeface="Calibri"/>
              <a:buNone/>
            </a:pPr>
            <a:r>
              <a:rPr b="1" i="0" lang="en-US" sz="1700" u="none" cap="none" strike="noStrike">
                <a:solidFill>
                  <a:srgbClr val="1C2951"/>
                </a:solidFill>
                <a:latin typeface="Calibri"/>
                <a:ea typeface="Calibri"/>
                <a:cs typeface="Calibri"/>
                <a:sym typeface="Calibri"/>
              </a:rPr>
              <a:t>Estrategia de Muestreo</a:t>
            </a:r>
            <a:endParaRPr b="0" i="0" sz="1700" u="none" cap="none" strike="noStrike">
              <a:solidFill>
                <a:schemeClr val="dk1"/>
              </a:solidFill>
              <a:latin typeface="Calibri"/>
              <a:ea typeface="Calibri"/>
              <a:cs typeface="Calibri"/>
              <a:sym typeface="Calibri"/>
            </a:endParaRPr>
          </a:p>
        </p:txBody>
      </p:sp>
      <p:sp>
        <p:nvSpPr>
          <p:cNvPr id="871" name="Google Shape;871;g3a86323efb1_1_56"/>
          <p:cNvSpPr/>
          <p:nvPr/>
        </p:nvSpPr>
        <p:spPr>
          <a:xfrm>
            <a:off x="6461760" y="4328160"/>
            <a:ext cx="4998900" cy="18897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1. Se leen todos los registros del archivo (500).</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2. Se toman TODOS los Muertos (130) sin excepción.</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3. Los 370 Heridos se leen en orden aleatorio (sample frac=1).</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4. Ambos grupos se mezclan aleatoriamente (seed=42).</a:t>
            </a:r>
            <a:endParaRPr b="0" i="0" sz="17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700" u="none" cap="none" strike="noStrike">
                <a:solidFill>
                  <a:srgbClr val="1E293B"/>
                </a:solidFill>
                <a:latin typeface="Calibri"/>
                <a:ea typeface="Calibri"/>
                <a:cs typeface="Calibri"/>
                <a:sym typeface="Calibri"/>
              </a:rPr>
              <a:t>5. Resultado: dataset reproducible y sin fuga de datos.</a:t>
            </a:r>
            <a:endParaRPr b="0" i="0" sz="1700" u="none" cap="none" strike="noStrike">
              <a:solidFill>
                <a:schemeClr val="dk1"/>
              </a:solidFill>
              <a:latin typeface="Calibri"/>
              <a:ea typeface="Calibri"/>
              <a:cs typeface="Calibri"/>
              <a:sym typeface="Calibri"/>
            </a:endParaRPr>
          </a:p>
        </p:txBody>
      </p:sp>
      <p:grpSp>
        <p:nvGrpSpPr>
          <p:cNvPr id="872" name="Google Shape;872;g3a86323efb1_1_56"/>
          <p:cNvGrpSpPr/>
          <p:nvPr/>
        </p:nvGrpSpPr>
        <p:grpSpPr>
          <a:xfrm>
            <a:off x="8977075" y="490375"/>
            <a:ext cx="2557800" cy="409200"/>
            <a:chOff x="609600" y="304800"/>
            <a:chExt cx="2557800" cy="409200"/>
          </a:xfrm>
        </p:grpSpPr>
        <p:sp>
          <p:nvSpPr>
            <p:cNvPr id="873" name="Google Shape;873;g3a86323efb1_1_56"/>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100"/>
            </a:p>
          </p:txBody>
        </p:sp>
        <p:sp>
          <p:nvSpPr>
            <p:cNvPr id="874" name="Google Shape;874;g3a86323efb1_1_56"/>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1959">
                  <a:solidFill>
                    <a:srgbClr val="FFFFFF"/>
                  </a:solidFill>
                  <a:latin typeface="Calibri"/>
                  <a:ea typeface="Calibri"/>
                  <a:cs typeface="Calibri"/>
                  <a:sym typeface="Calibri"/>
                </a:rPr>
                <a:t>Regresion Logistica</a:t>
              </a:r>
              <a:endParaRPr b="0" i="0" sz="1959" u="none" cap="none" strike="noStrike">
                <a:solidFill>
                  <a:schemeClr val="dk1"/>
                </a:solidFill>
                <a:latin typeface="Calibri"/>
                <a:ea typeface="Calibri"/>
                <a:cs typeface="Calibri"/>
                <a:sym typeface="Calibri"/>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9" name="Shape 879"/>
        <p:cNvGrpSpPr/>
        <p:nvPr/>
      </p:nvGrpSpPr>
      <p:grpSpPr>
        <a:xfrm>
          <a:off x="0" y="0"/>
          <a:ext cx="0" cy="0"/>
          <a:chOff x="0" y="0"/>
          <a:chExt cx="0" cy="0"/>
        </a:xfrm>
      </p:grpSpPr>
      <p:sp>
        <p:nvSpPr>
          <p:cNvPr id="880" name="Google Shape;880;g3a86323efb1_1_236"/>
          <p:cNvSpPr/>
          <p:nvPr/>
        </p:nvSpPr>
        <p:spPr>
          <a:xfrm>
            <a:off x="0" y="0"/>
            <a:ext cx="12192000" cy="14019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1" name="Google Shape;881;g3a86323efb1_1_236"/>
          <p:cNvSpPr/>
          <p:nvPr/>
        </p:nvSpPr>
        <p:spPr>
          <a:xfrm>
            <a:off x="609600" y="268224"/>
            <a:ext cx="10972800" cy="853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Metodología</a:t>
            </a:r>
            <a:endParaRPr b="0" i="0" sz="3500" u="none" cap="none" strike="noStrike">
              <a:solidFill>
                <a:schemeClr val="dk1"/>
              </a:solidFill>
              <a:latin typeface="Calibri"/>
              <a:ea typeface="Calibri"/>
              <a:cs typeface="Calibri"/>
              <a:sym typeface="Calibri"/>
            </a:endParaRPr>
          </a:p>
        </p:txBody>
      </p:sp>
      <p:sp>
        <p:nvSpPr>
          <p:cNvPr id="882" name="Google Shape;882;g3a86323efb1_1_236"/>
          <p:cNvSpPr/>
          <p:nvPr/>
        </p:nvSpPr>
        <p:spPr>
          <a:xfrm>
            <a:off x="426720"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3" name="Google Shape;883;g3a86323efb1_1_236"/>
          <p:cNvSpPr/>
          <p:nvPr/>
        </p:nvSpPr>
        <p:spPr>
          <a:xfrm>
            <a:off x="426720" y="1645920"/>
            <a:ext cx="1438800" cy="7317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4" name="Google Shape;884;g3a86323efb1_1_236"/>
          <p:cNvSpPr/>
          <p:nvPr/>
        </p:nvSpPr>
        <p:spPr>
          <a:xfrm>
            <a:off x="426720"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1</a:t>
            </a:r>
            <a:endParaRPr b="0" i="0" sz="2900" u="none" cap="none" strike="noStrike">
              <a:solidFill>
                <a:schemeClr val="dk1"/>
              </a:solidFill>
              <a:latin typeface="Calibri"/>
              <a:ea typeface="Calibri"/>
              <a:cs typeface="Calibri"/>
              <a:sym typeface="Calibri"/>
            </a:endParaRPr>
          </a:p>
        </p:txBody>
      </p:sp>
      <p:sp>
        <p:nvSpPr>
          <p:cNvPr id="885" name="Google Shape;885;g3a86323efb1_1_236"/>
          <p:cNvSpPr/>
          <p:nvPr/>
        </p:nvSpPr>
        <p:spPr>
          <a:xfrm>
            <a:off x="475488"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1500"/>
              <a:buFont typeface="Calibri"/>
              <a:buNone/>
            </a:pPr>
            <a:r>
              <a:rPr b="1" i="0" lang="en-US" sz="1500" u="none" cap="none" strike="noStrike">
                <a:solidFill>
                  <a:srgbClr val="2F3C7E"/>
                </a:solidFill>
                <a:latin typeface="Calibri"/>
                <a:ea typeface="Calibri"/>
                <a:cs typeface="Calibri"/>
                <a:sym typeface="Calibri"/>
              </a:rPr>
              <a:t>Carga</a:t>
            </a:r>
            <a:endParaRPr b="0" i="0" sz="1500" u="none" cap="none" strike="noStrike">
              <a:solidFill>
                <a:schemeClr val="dk1"/>
              </a:solidFill>
              <a:latin typeface="Calibri"/>
              <a:ea typeface="Calibri"/>
              <a:cs typeface="Calibri"/>
              <a:sym typeface="Calibri"/>
            </a:endParaRPr>
          </a:p>
        </p:txBody>
      </p:sp>
      <p:sp>
        <p:nvSpPr>
          <p:cNvPr id="886" name="Google Shape;886;g3a86323efb1_1_236"/>
          <p:cNvSpPr/>
          <p:nvPr/>
        </p:nvSpPr>
        <p:spPr>
          <a:xfrm>
            <a:off x="499872"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Lee DataSet_Accidentes_500.xlsx</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Todos los Muertos + Heridos aleatorios</a:t>
            </a:r>
            <a:endParaRPr b="0" i="0" sz="1300" u="none" cap="none" strike="noStrike">
              <a:solidFill>
                <a:schemeClr val="dk1"/>
              </a:solidFill>
              <a:latin typeface="Calibri"/>
              <a:ea typeface="Calibri"/>
              <a:cs typeface="Calibri"/>
              <a:sym typeface="Calibri"/>
            </a:endParaRPr>
          </a:p>
        </p:txBody>
      </p:sp>
      <p:sp>
        <p:nvSpPr>
          <p:cNvPr id="887" name="Google Shape;887;g3a86323efb1_1_236"/>
          <p:cNvSpPr/>
          <p:nvPr/>
        </p:nvSpPr>
        <p:spPr>
          <a:xfrm>
            <a:off x="1865376"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8" name="Google Shape;888;g3a86323efb1_1_236"/>
          <p:cNvSpPr/>
          <p:nvPr/>
        </p:nvSpPr>
        <p:spPr>
          <a:xfrm>
            <a:off x="2048256"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9" name="Google Shape;889;g3a86323efb1_1_236"/>
          <p:cNvSpPr/>
          <p:nvPr/>
        </p:nvSpPr>
        <p:spPr>
          <a:xfrm>
            <a:off x="2048256" y="1645920"/>
            <a:ext cx="1438800" cy="731700"/>
          </a:xfrm>
          <a:prstGeom prst="rect">
            <a:avLst/>
          </a:prstGeom>
          <a:solidFill>
            <a:srgbClr val="0E7490"/>
          </a:solidFill>
          <a:ln cap="flat" cmpd="sng" w="16925">
            <a:solidFill>
              <a:srgbClr val="0E749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0" name="Google Shape;890;g3a86323efb1_1_236"/>
          <p:cNvSpPr/>
          <p:nvPr/>
        </p:nvSpPr>
        <p:spPr>
          <a:xfrm>
            <a:off x="2048256"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2</a:t>
            </a:r>
            <a:endParaRPr b="0" i="0" sz="2900" u="none" cap="none" strike="noStrike">
              <a:solidFill>
                <a:schemeClr val="dk1"/>
              </a:solidFill>
              <a:latin typeface="Calibri"/>
              <a:ea typeface="Calibri"/>
              <a:cs typeface="Calibri"/>
              <a:sym typeface="Calibri"/>
            </a:endParaRPr>
          </a:p>
        </p:txBody>
      </p:sp>
      <p:sp>
        <p:nvSpPr>
          <p:cNvPr id="891" name="Google Shape;891;g3a86323efb1_1_236"/>
          <p:cNvSpPr/>
          <p:nvPr/>
        </p:nvSpPr>
        <p:spPr>
          <a:xfrm>
            <a:off x="2097024"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7490"/>
              </a:buClr>
              <a:buSzPts val="1500"/>
              <a:buFont typeface="Calibri"/>
              <a:buNone/>
            </a:pPr>
            <a:r>
              <a:rPr b="1" i="0" lang="en-US" sz="1500" u="none" cap="none" strike="noStrike">
                <a:solidFill>
                  <a:srgbClr val="0E7490"/>
                </a:solidFill>
                <a:latin typeface="Calibri"/>
                <a:ea typeface="Calibri"/>
                <a:cs typeface="Calibri"/>
                <a:sym typeface="Calibri"/>
              </a:rPr>
              <a:t>Selección</a:t>
            </a:r>
            <a:endParaRPr b="0" i="0" sz="1500" u="none" cap="none" strike="noStrike">
              <a:solidFill>
                <a:schemeClr val="dk1"/>
              </a:solidFill>
              <a:latin typeface="Calibri"/>
              <a:ea typeface="Calibri"/>
              <a:cs typeface="Calibri"/>
              <a:sym typeface="Calibri"/>
            </a:endParaRPr>
          </a:p>
        </p:txBody>
      </p:sp>
      <p:sp>
        <p:nvSpPr>
          <p:cNvPr id="892" name="Google Shape;892;g3a86323efb1_1_236"/>
          <p:cNvSpPr/>
          <p:nvPr/>
        </p:nvSpPr>
        <p:spPr>
          <a:xfrm>
            <a:off x="2121408"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u="none" cap="none" strike="noStrike">
                <a:solidFill>
                  <a:srgbClr val="1E293B"/>
                </a:solidFill>
                <a:latin typeface="Calibri"/>
                <a:ea typeface="Calibri"/>
                <a:cs typeface="Calibri"/>
                <a:sym typeface="Calibri"/>
              </a:rPr>
              <a:t>11 variables de entrada</a:t>
            </a:r>
            <a:endParaRPr b="0" i="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u="none" cap="none" strike="noStrike">
                <a:solidFill>
                  <a:srgbClr val="1E293B"/>
                </a:solidFill>
                <a:latin typeface="Calibri"/>
                <a:ea typeface="Calibri"/>
                <a:cs typeface="Calibri"/>
                <a:sym typeface="Calibri"/>
              </a:rPr>
              <a:t>1 variable objetivo (Gravedad)</a:t>
            </a:r>
            <a:endParaRPr b="0" i="0" u="none" cap="none" strike="noStrike">
              <a:solidFill>
                <a:schemeClr val="dk1"/>
              </a:solidFill>
              <a:latin typeface="Calibri"/>
              <a:ea typeface="Calibri"/>
              <a:cs typeface="Calibri"/>
              <a:sym typeface="Calibri"/>
            </a:endParaRPr>
          </a:p>
        </p:txBody>
      </p:sp>
      <p:sp>
        <p:nvSpPr>
          <p:cNvPr id="893" name="Google Shape;893;g3a86323efb1_1_236"/>
          <p:cNvSpPr/>
          <p:nvPr/>
        </p:nvSpPr>
        <p:spPr>
          <a:xfrm>
            <a:off x="3486912"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4" name="Google Shape;894;g3a86323efb1_1_236"/>
          <p:cNvSpPr/>
          <p:nvPr/>
        </p:nvSpPr>
        <p:spPr>
          <a:xfrm>
            <a:off x="3669792"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5" name="Google Shape;895;g3a86323efb1_1_236"/>
          <p:cNvSpPr/>
          <p:nvPr/>
        </p:nvSpPr>
        <p:spPr>
          <a:xfrm>
            <a:off x="3669792" y="1645920"/>
            <a:ext cx="1438800" cy="731700"/>
          </a:xfrm>
          <a:prstGeom prst="rect">
            <a:avLst/>
          </a:prstGeom>
          <a:solidFill>
            <a:srgbClr val="0E7490"/>
          </a:solidFill>
          <a:ln cap="flat" cmpd="sng" w="16925">
            <a:solidFill>
              <a:srgbClr val="0E749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6" name="Google Shape;896;g3a86323efb1_1_236"/>
          <p:cNvSpPr/>
          <p:nvPr/>
        </p:nvSpPr>
        <p:spPr>
          <a:xfrm>
            <a:off x="3669792"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3</a:t>
            </a:r>
            <a:endParaRPr b="0" i="0" sz="2900" u="none" cap="none" strike="noStrike">
              <a:solidFill>
                <a:schemeClr val="dk1"/>
              </a:solidFill>
              <a:latin typeface="Calibri"/>
              <a:ea typeface="Calibri"/>
              <a:cs typeface="Calibri"/>
              <a:sym typeface="Calibri"/>
            </a:endParaRPr>
          </a:p>
        </p:txBody>
      </p:sp>
      <p:sp>
        <p:nvSpPr>
          <p:cNvPr id="897" name="Google Shape;897;g3a86323efb1_1_236"/>
          <p:cNvSpPr/>
          <p:nvPr/>
        </p:nvSpPr>
        <p:spPr>
          <a:xfrm>
            <a:off x="3718560"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7490"/>
              </a:buClr>
              <a:buSzPts val="1500"/>
              <a:buFont typeface="Calibri"/>
              <a:buNone/>
            </a:pPr>
            <a:r>
              <a:rPr b="1" i="0" lang="en-US" sz="1500" u="none" cap="none" strike="noStrike">
                <a:solidFill>
                  <a:srgbClr val="0E7490"/>
                </a:solidFill>
                <a:latin typeface="Calibri"/>
                <a:ea typeface="Calibri"/>
                <a:cs typeface="Calibri"/>
                <a:sym typeface="Calibri"/>
              </a:rPr>
              <a:t>Ingeniería</a:t>
            </a:r>
            <a:endParaRPr b="0" i="0" sz="1500" u="none" cap="none" strike="noStrike">
              <a:solidFill>
                <a:schemeClr val="dk1"/>
              </a:solidFill>
              <a:latin typeface="Calibri"/>
              <a:ea typeface="Calibri"/>
              <a:cs typeface="Calibri"/>
              <a:sym typeface="Calibri"/>
            </a:endParaRPr>
          </a:p>
        </p:txBody>
      </p:sp>
      <p:sp>
        <p:nvSpPr>
          <p:cNvPr id="898" name="Google Shape;898;g3a86323efb1_1_236"/>
          <p:cNvSpPr/>
          <p:nvPr/>
        </p:nvSpPr>
        <p:spPr>
          <a:xfrm>
            <a:off x="3742944"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Hora → entero 0-23</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Comunas &lt; 80 registros → 'Otro'</a:t>
            </a:r>
            <a:endParaRPr b="0" i="0" sz="1300" u="none" cap="none" strike="noStrike">
              <a:solidFill>
                <a:schemeClr val="dk1"/>
              </a:solidFill>
              <a:latin typeface="Calibri"/>
              <a:ea typeface="Calibri"/>
              <a:cs typeface="Calibri"/>
              <a:sym typeface="Calibri"/>
            </a:endParaRPr>
          </a:p>
        </p:txBody>
      </p:sp>
      <p:sp>
        <p:nvSpPr>
          <p:cNvPr id="899" name="Google Shape;899;g3a86323efb1_1_236"/>
          <p:cNvSpPr/>
          <p:nvPr/>
        </p:nvSpPr>
        <p:spPr>
          <a:xfrm>
            <a:off x="5108448"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0" name="Google Shape;900;g3a86323efb1_1_236"/>
          <p:cNvSpPr/>
          <p:nvPr/>
        </p:nvSpPr>
        <p:spPr>
          <a:xfrm>
            <a:off x="5291328"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1" name="Google Shape;901;g3a86323efb1_1_236"/>
          <p:cNvSpPr/>
          <p:nvPr/>
        </p:nvSpPr>
        <p:spPr>
          <a:xfrm>
            <a:off x="5291328" y="1645920"/>
            <a:ext cx="1438800" cy="7317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2" name="Google Shape;902;g3a86323efb1_1_236"/>
          <p:cNvSpPr/>
          <p:nvPr/>
        </p:nvSpPr>
        <p:spPr>
          <a:xfrm>
            <a:off x="5291328"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4</a:t>
            </a:r>
            <a:endParaRPr b="0" i="0" sz="2900" u="none" cap="none" strike="noStrike">
              <a:solidFill>
                <a:schemeClr val="dk1"/>
              </a:solidFill>
              <a:latin typeface="Calibri"/>
              <a:ea typeface="Calibri"/>
              <a:cs typeface="Calibri"/>
              <a:sym typeface="Calibri"/>
            </a:endParaRPr>
          </a:p>
        </p:txBody>
      </p:sp>
      <p:sp>
        <p:nvSpPr>
          <p:cNvPr id="903" name="Google Shape;903;g3a86323efb1_1_236"/>
          <p:cNvSpPr/>
          <p:nvPr/>
        </p:nvSpPr>
        <p:spPr>
          <a:xfrm>
            <a:off x="5340096"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Codificación</a:t>
            </a:r>
            <a:endParaRPr b="0" i="0" sz="1500" u="none" cap="none" strike="noStrike">
              <a:solidFill>
                <a:schemeClr val="dk1"/>
              </a:solidFill>
              <a:latin typeface="Calibri"/>
              <a:ea typeface="Calibri"/>
              <a:cs typeface="Calibri"/>
              <a:sym typeface="Calibri"/>
            </a:endParaRPr>
          </a:p>
        </p:txBody>
      </p:sp>
      <p:sp>
        <p:nvSpPr>
          <p:cNvPr id="904" name="Google Shape;904;g3a86323efb1_1_236"/>
          <p:cNvSpPr/>
          <p:nvPr/>
        </p:nvSpPr>
        <p:spPr>
          <a:xfrm>
            <a:off x="5364480"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Gravedad: Muertos=1, Heridos=0</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One-Hot Encoding (drop_first=True)</a:t>
            </a:r>
            <a:endParaRPr b="0" i="0" sz="1300" u="none" cap="none" strike="noStrike">
              <a:solidFill>
                <a:schemeClr val="dk1"/>
              </a:solidFill>
              <a:latin typeface="Calibri"/>
              <a:ea typeface="Calibri"/>
              <a:cs typeface="Calibri"/>
              <a:sym typeface="Calibri"/>
            </a:endParaRPr>
          </a:p>
        </p:txBody>
      </p:sp>
      <p:sp>
        <p:nvSpPr>
          <p:cNvPr id="905" name="Google Shape;905;g3a86323efb1_1_236"/>
          <p:cNvSpPr/>
          <p:nvPr/>
        </p:nvSpPr>
        <p:spPr>
          <a:xfrm>
            <a:off x="6729984"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6" name="Google Shape;906;g3a86323efb1_1_236"/>
          <p:cNvSpPr/>
          <p:nvPr/>
        </p:nvSpPr>
        <p:spPr>
          <a:xfrm>
            <a:off x="6912864"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7" name="Google Shape;907;g3a86323efb1_1_236"/>
          <p:cNvSpPr/>
          <p:nvPr/>
        </p:nvSpPr>
        <p:spPr>
          <a:xfrm>
            <a:off x="6912864" y="1645920"/>
            <a:ext cx="1438800" cy="731700"/>
          </a:xfrm>
          <a:prstGeom prst="rect">
            <a:avLst/>
          </a:prstGeom>
          <a:solidFill>
            <a:srgbClr val="7C3AED"/>
          </a:solidFill>
          <a:ln cap="flat" cmpd="sng" w="16925">
            <a:solidFill>
              <a:srgbClr val="7C3A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8" name="Google Shape;908;g3a86323efb1_1_236"/>
          <p:cNvSpPr/>
          <p:nvPr/>
        </p:nvSpPr>
        <p:spPr>
          <a:xfrm>
            <a:off x="6912864"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5</a:t>
            </a:r>
            <a:endParaRPr b="0" i="0" sz="2900" u="none" cap="none" strike="noStrike">
              <a:solidFill>
                <a:schemeClr val="dk1"/>
              </a:solidFill>
              <a:latin typeface="Calibri"/>
              <a:ea typeface="Calibri"/>
              <a:cs typeface="Calibri"/>
              <a:sym typeface="Calibri"/>
            </a:endParaRPr>
          </a:p>
        </p:txBody>
      </p:sp>
      <p:sp>
        <p:nvSpPr>
          <p:cNvPr id="909" name="Google Shape;909;g3a86323efb1_1_236"/>
          <p:cNvSpPr/>
          <p:nvPr/>
        </p:nvSpPr>
        <p:spPr>
          <a:xfrm>
            <a:off x="6961632"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Split</a:t>
            </a:r>
            <a:endParaRPr b="0" i="0" sz="1500" u="none" cap="none" strike="noStrike">
              <a:solidFill>
                <a:schemeClr val="dk1"/>
              </a:solidFill>
              <a:latin typeface="Calibri"/>
              <a:ea typeface="Calibri"/>
              <a:cs typeface="Calibri"/>
              <a:sym typeface="Calibri"/>
            </a:endParaRPr>
          </a:p>
        </p:txBody>
      </p:sp>
      <p:sp>
        <p:nvSpPr>
          <p:cNvPr id="910" name="Google Shape;910;g3a86323efb1_1_236"/>
          <p:cNvSpPr/>
          <p:nvPr/>
        </p:nvSpPr>
        <p:spPr>
          <a:xfrm>
            <a:off x="6986016"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80% Entrenamiento</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20% Prueba (estratificado)</a:t>
            </a:r>
            <a:endParaRPr b="0" i="0" sz="1300" u="none" cap="none" strike="noStrike">
              <a:solidFill>
                <a:schemeClr val="dk1"/>
              </a:solidFill>
              <a:latin typeface="Calibri"/>
              <a:ea typeface="Calibri"/>
              <a:cs typeface="Calibri"/>
              <a:sym typeface="Calibri"/>
            </a:endParaRPr>
          </a:p>
        </p:txBody>
      </p:sp>
      <p:sp>
        <p:nvSpPr>
          <p:cNvPr id="911" name="Google Shape;911;g3a86323efb1_1_236"/>
          <p:cNvSpPr/>
          <p:nvPr/>
        </p:nvSpPr>
        <p:spPr>
          <a:xfrm>
            <a:off x="8351520"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2" name="Google Shape;912;g3a86323efb1_1_236"/>
          <p:cNvSpPr/>
          <p:nvPr/>
        </p:nvSpPr>
        <p:spPr>
          <a:xfrm>
            <a:off x="8534400"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3" name="Google Shape;913;g3a86323efb1_1_236"/>
          <p:cNvSpPr/>
          <p:nvPr/>
        </p:nvSpPr>
        <p:spPr>
          <a:xfrm>
            <a:off x="8534400" y="1645920"/>
            <a:ext cx="1438800" cy="731700"/>
          </a:xfrm>
          <a:prstGeom prst="rect">
            <a:avLst/>
          </a:prstGeom>
          <a:solidFill>
            <a:srgbClr val="7C3AED"/>
          </a:solidFill>
          <a:ln cap="flat" cmpd="sng" w="16925">
            <a:solidFill>
              <a:srgbClr val="7C3A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4" name="Google Shape;914;g3a86323efb1_1_236"/>
          <p:cNvSpPr/>
          <p:nvPr/>
        </p:nvSpPr>
        <p:spPr>
          <a:xfrm>
            <a:off x="8534400"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6</a:t>
            </a:r>
            <a:endParaRPr b="0" i="0" sz="2900" u="none" cap="none" strike="noStrike">
              <a:solidFill>
                <a:schemeClr val="dk1"/>
              </a:solidFill>
              <a:latin typeface="Calibri"/>
              <a:ea typeface="Calibri"/>
              <a:cs typeface="Calibri"/>
              <a:sym typeface="Calibri"/>
            </a:endParaRPr>
          </a:p>
        </p:txBody>
      </p:sp>
      <p:sp>
        <p:nvSpPr>
          <p:cNvPr id="915" name="Google Shape;915;g3a86323efb1_1_236"/>
          <p:cNvSpPr/>
          <p:nvPr/>
        </p:nvSpPr>
        <p:spPr>
          <a:xfrm>
            <a:off x="8583168"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Escalado</a:t>
            </a:r>
            <a:endParaRPr b="0" i="0" sz="1500" u="none" cap="none" strike="noStrike">
              <a:solidFill>
                <a:schemeClr val="dk1"/>
              </a:solidFill>
              <a:latin typeface="Calibri"/>
              <a:ea typeface="Calibri"/>
              <a:cs typeface="Calibri"/>
              <a:sym typeface="Calibri"/>
            </a:endParaRPr>
          </a:p>
        </p:txBody>
      </p:sp>
      <p:sp>
        <p:nvSpPr>
          <p:cNvPr id="916" name="Google Shape;916;g3a86323efb1_1_236"/>
          <p:cNvSpPr/>
          <p:nvPr/>
        </p:nvSpPr>
        <p:spPr>
          <a:xfrm>
            <a:off x="8607552"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MinMaxScaler sobre Hora, Mes, Edad</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Ajuste SOLO en train (evita data leakage)</a:t>
            </a:r>
            <a:endParaRPr b="0" i="0" sz="1300" u="none" cap="none" strike="noStrike">
              <a:solidFill>
                <a:schemeClr val="dk1"/>
              </a:solidFill>
              <a:latin typeface="Calibri"/>
              <a:ea typeface="Calibri"/>
              <a:cs typeface="Calibri"/>
              <a:sym typeface="Calibri"/>
            </a:endParaRPr>
          </a:p>
        </p:txBody>
      </p:sp>
      <p:sp>
        <p:nvSpPr>
          <p:cNvPr id="917" name="Google Shape;917;g3a86323efb1_1_236"/>
          <p:cNvSpPr/>
          <p:nvPr/>
        </p:nvSpPr>
        <p:spPr>
          <a:xfrm>
            <a:off x="9973056" y="3779520"/>
            <a:ext cx="182700" cy="97500"/>
          </a:xfrm>
          <a:prstGeom prst="rect">
            <a:avLst/>
          </a:prstGeom>
          <a:solidFill>
            <a:srgbClr val="E2E8F0"/>
          </a:solidFill>
          <a:ln cap="flat" cmpd="sng" w="16925">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8" name="Google Shape;918;g3a86323efb1_1_236"/>
          <p:cNvSpPr/>
          <p:nvPr/>
        </p:nvSpPr>
        <p:spPr>
          <a:xfrm>
            <a:off x="10155936" y="1645920"/>
            <a:ext cx="1438800" cy="46941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9" name="Google Shape;919;g3a86323efb1_1_236"/>
          <p:cNvSpPr/>
          <p:nvPr/>
        </p:nvSpPr>
        <p:spPr>
          <a:xfrm>
            <a:off x="10155936" y="1645920"/>
            <a:ext cx="1438800" cy="731700"/>
          </a:xfrm>
          <a:prstGeom prst="rect">
            <a:avLst/>
          </a:prstGeom>
          <a:solidFill>
            <a:srgbClr val="166534"/>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0" name="Google Shape;920;g3a86323efb1_1_236"/>
          <p:cNvSpPr/>
          <p:nvPr/>
        </p:nvSpPr>
        <p:spPr>
          <a:xfrm>
            <a:off x="10155936" y="1645920"/>
            <a:ext cx="1438800" cy="731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2900"/>
              <a:buFont typeface="Calibri"/>
              <a:buNone/>
            </a:pPr>
            <a:r>
              <a:rPr b="1" i="0" lang="en-US" sz="2900" u="none" cap="none" strike="noStrike">
                <a:solidFill>
                  <a:srgbClr val="FFFFFF"/>
                </a:solidFill>
                <a:latin typeface="Calibri"/>
                <a:ea typeface="Calibri"/>
                <a:cs typeface="Calibri"/>
                <a:sym typeface="Calibri"/>
              </a:rPr>
              <a:t>7</a:t>
            </a:r>
            <a:endParaRPr b="0" i="0" sz="2900" u="none" cap="none" strike="noStrike">
              <a:solidFill>
                <a:schemeClr val="dk1"/>
              </a:solidFill>
              <a:latin typeface="Calibri"/>
              <a:ea typeface="Calibri"/>
              <a:cs typeface="Calibri"/>
              <a:sym typeface="Calibri"/>
            </a:endParaRPr>
          </a:p>
        </p:txBody>
      </p:sp>
      <p:sp>
        <p:nvSpPr>
          <p:cNvPr id="921" name="Google Shape;921;g3a86323efb1_1_236"/>
          <p:cNvSpPr/>
          <p:nvPr/>
        </p:nvSpPr>
        <p:spPr>
          <a:xfrm>
            <a:off x="10204704" y="2499360"/>
            <a:ext cx="1341300" cy="4875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Modelo</a:t>
            </a:r>
            <a:endParaRPr b="0" i="0" sz="1500" u="none" cap="none" strike="noStrike">
              <a:solidFill>
                <a:schemeClr val="dk1"/>
              </a:solidFill>
              <a:latin typeface="Calibri"/>
              <a:ea typeface="Calibri"/>
              <a:cs typeface="Calibri"/>
              <a:sym typeface="Calibri"/>
            </a:endParaRPr>
          </a:p>
        </p:txBody>
      </p:sp>
      <p:sp>
        <p:nvSpPr>
          <p:cNvPr id="922" name="Google Shape;922;g3a86323efb1_1_236"/>
          <p:cNvSpPr/>
          <p:nvPr/>
        </p:nvSpPr>
        <p:spPr>
          <a:xfrm>
            <a:off x="10229088" y="3108960"/>
            <a:ext cx="1292400" cy="1828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LogisticRegression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E293B"/>
              </a:buClr>
              <a:buSzPts val="1200"/>
              <a:buFont typeface="Calibri"/>
              <a:buNone/>
            </a:pPr>
            <a:r>
              <a:rPr b="0" i="0" lang="en-US" sz="1300" u="none" cap="none" strike="noStrike">
                <a:solidFill>
                  <a:srgbClr val="1E293B"/>
                </a:solidFill>
                <a:latin typeface="Calibri"/>
                <a:ea typeface="Calibri"/>
                <a:cs typeface="Calibri"/>
                <a:sym typeface="Calibri"/>
              </a:rPr>
              <a:t>max_iter=1000, solver='lbfgs'</a:t>
            </a:r>
            <a:endParaRPr b="0" i="0" sz="1300" u="none" cap="none" strike="noStrike">
              <a:solidFill>
                <a:schemeClr val="dk1"/>
              </a:solidFill>
              <a:latin typeface="Calibri"/>
              <a:ea typeface="Calibri"/>
              <a:cs typeface="Calibri"/>
              <a:sym typeface="Calibri"/>
            </a:endParaRPr>
          </a:p>
        </p:txBody>
      </p:sp>
      <p:grpSp>
        <p:nvGrpSpPr>
          <p:cNvPr id="923" name="Google Shape;923;g3a86323efb1_1_236"/>
          <p:cNvGrpSpPr/>
          <p:nvPr/>
        </p:nvGrpSpPr>
        <p:grpSpPr>
          <a:xfrm>
            <a:off x="9207625" y="552825"/>
            <a:ext cx="2557800" cy="409200"/>
            <a:chOff x="609600" y="304800"/>
            <a:chExt cx="2557800" cy="409200"/>
          </a:xfrm>
        </p:grpSpPr>
        <p:sp>
          <p:nvSpPr>
            <p:cNvPr id="924" name="Google Shape;924;g3a86323efb1_1_236"/>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100"/>
            </a:p>
          </p:txBody>
        </p:sp>
        <p:sp>
          <p:nvSpPr>
            <p:cNvPr id="925" name="Google Shape;925;g3a86323efb1_1_236"/>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1959">
                  <a:solidFill>
                    <a:srgbClr val="FFFFFF"/>
                  </a:solidFill>
                  <a:latin typeface="Calibri"/>
                  <a:ea typeface="Calibri"/>
                  <a:cs typeface="Calibri"/>
                  <a:sym typeface="Calibri"/>
                </a:rPr>
                <a:t>Regresion Logistica</a:t>
              </a:r>
              <a:endParaRPr b="0" i="0" sz="1959" u="none" cap="none" strike="noStrike">
                <a:solidFill>
                  <a:schemeClr val="dk1"/>
                </a:solidFill>
                <a:latin typeface="Calibri"/>
                <a:ea typeface="Calibri"/>
                <a:cs typeface="Calibri"/>
                <a:sym typeface="Calibri"/>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g3a86323efb1_1_287"/>
          <p:cNvSpPr/>
          <p:nvPr/>
        </p:nvSpPr>
        <p:spPr>
          <a:xfrm>
            <a:off x="0" y="0"/>
            <a:ext cx="12192000" cy="1341300"/>
          </a:xfrm>
          <a:prstGeom prst="rect">
            <a:avLst/>
          </a:prstGeom>
          <a:solidFill>
            <a:srgbClr val="0E7490"/>
          </a:solidFill>
          <a:ln cap="flat" cmpd="sng" w="16925">
            <a:solidFill>
              <a:srgbClr val="0E749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1" name="Google Shape;931;g3a86323efb1_1_287"/>
          <p:cNvSpPr/>
          <p:nvPr/>
        </p:nvSpPr>
        <p:spPr>
          <a:xfrm>
            <a:off x="609600" y="219456"/>
            <a:ext cx="10972800" cy="878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Transformación de Datos</a:t>
            </a:r>
            <a:endParaRPr b="0" i="0" sz="3500" u="none" cap="none" strike="noStrike">
              <a:solidFill>
                <a:schemeClr val="dk1"/>
              </a:solidFill>
              <a:latin typeface="Calibri"/>
              <a:ea typeface="Calibri"/>
              <a:cs typeface="Calibri"/>
              <a:sym typeface="Calibri"/>
            </a:endParaRPr>
          </a:p>
        </p:txBody>
      </p:sp>
      <p:sp>
        <p:nvSpPr>
          <p:cNvPr id="932" name="Google Shape;932;g3a86323efb1_1_287"/>
          <p:cNvSpPr/>
          <p:nvPr/>
        </p:nvSpPr>
        <p:spPr>
          <a:xfrm>
            <a:off x="426720" y="1463040"/>
            <a:ext cx="5303700" cy="2377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3" name="Google Shape;933;g3a86323efb1_1_287"/>
          <p:cNvSpPr/>
          <p:nvPr/>
        </p:nvSpPr>
        <p:spPr>
          <a:xfrm>
            <a:off x="426720" y="1463040"/>
            <a:ext cx="5303700" cy="512100"/>
          </a:xfrm>
          <a:prstGeom prst="rect">
            <a:avLst/>
          </a:prstGeom>
          <a:solidFill>
            <a:srgbClr val="0E7490"/>
          </a:solidFill>
          <a:ln cap="flat" cmpd="sng" w="16925">
            <a:solidFill>
              <a:srgbClr val="0E749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4" name="Google Shape;934;g3a86323efb1_1_287"/>
          <p:cNvSpPr/>
          <p:nvPr/>
        </p:nvSpPr>
        <p:spPr>
          <a:xfrm>
            <a:off x="512064" y="1463040"/>
            <a:ext cx="51207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 · Ingeniería de Características</a:t>
            </a:r>
            <a:endParaRPr b="0" i="0" sz="1500" u="none" cap="none" strike="noStrike">
              <a:solidFill>
                <a:schemeClr val="dk1"/>
              </a:solidFill>
              <a:latin typeface="Calibri"/>
              <a:ea typeface="Calibri"/>
              <a:cs typeface="Calibri"/>
              <a:sym typeface="Calibri"/>
            </a:endParaRPr>
          </a:p>
        </p:txBody>
      </p:sp>
      <p:sp>
        <p:nvSpPr>
          <p:cNvPr id="935" name="Google Shape;935;g3a86323efb1_1_287"/>
          <p:cNvSpPr/>
          <p:nvPr/>
        </p:nvSpPr>
        <p:spPr>
          <a:xfrm>
            <a:off x="512075" y="2097025"/>
            <a:ext cx="5096400" cy="1584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400"/>
              <a:buFont typeface="Calibri"/>
              <a:buNone/>
            </a:pPr>
            <a:r>
              <a:rPr b="1" i="0" lang="en-US" sz="1500" u="none" cap="none" strike="noStrike">
                <a:solidFill>
                  <a:srgbClr val="1E293B"/>
                </a:solidFill>
                <a:latin typeface="Calibri"/>
                <a:ea typeface="Calibri"/>
                <a:cs typeface="Calibri"/>
                <a:sym typeface="Calibri"/>
              </a:rPr>
              <a:t>Hora_Accidente</a:t>
            </a:r>
            <a:r>
              <a:rPr b="0" i="0" lang="en-US" sz="1500" u="none" cap="none" strike="noStrike">
                <a:solidFill>
                  <a:srgbClr val="1E293B"/>
                </a:solidFill>
                <a:latin typeface="Calibri"/>
                <a:ea typeface="Calibri"/>
                <a:cs typeface="Calibri"/>
                <a:sym typeface="Calibri"/>
              </a:rPr>
              <a:t>: 'HH:MM:SS' → entero 0–23</a:t>
            </a:r>
            <a:br>
              <a:rPr b="0" i="0" lang="en-US" sz="1500" u="none" cap="none" strike="noStrike">
                <a:solidFill>
                  <a:srgbClr val="1E293B"/>
                </a:solidFill>
                <a:latin typeface="Calibri"/>
                <a:ea typeface="Calibri"/>
                <a:cs typeface="Calibri"/>
                <a:sym typeface="Calibri"/>
              </a:rPr>
            </a:br>
            <a:r>
              <a:rPr b="1" i="0" lang="en-US" sz="1500" u="none" cap="none" strike="noStrike">
                <a:solidFill>
                  <a:srgbClr val="1E293B"/>
                </a:solidFill>
                <a:latin typeface="Calibri"/>
                <a:ea typeface="Calibri"/>
                <a:cs typeface="Calibri"/>
                <a:sym typeface="Calibri"/>
              </a:rPr>
              <a:t>Localidad_Comuna</a:t>
            </a:r>
            <a:r>
              <a:rPr b="0" i="0" lang="en-US" sz="1500" u="none" cap="none" strike="noStrike">
                <a:solidFill>
                  <a:srgbClr val="1E293B"/>
                </a:solidFill>
                <a:latin typeface="Calibri"/>
                <a:ea typeface="Calibri"/>
                <a:cs typeface="Calibri"/>
                <a:sym typeface="Calibri"/>
              </a:rPr>
              <a:t>: comunas con &lt; 80 registros → 'Otro'</a:t>
            </a:r>
            <a:r>
              <a:rPr lang="en-US" sz="1500">
                <a:solidFill>
                  <a:schemeClr val="dk1"/>
                </a:solidFill>
                <a:latin typeface="Calibri"/>
                <a:ea typeface="Calibri"/>
                <a:cs typeface="Calibri"/>
                <a:sym typeface="Calibri"/>
              </a:rPr>
              <a:t> </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1" i="0" lang="en-US" sz="1500" u="none" cap="none" strike="noStrike">
                <a:solidFill>
                  <a:srgbClr val="1E293B"/>
                </a:solidFill>
                <a:latin typeface="Calibri"/>
                <a:ea typeface="Calibri"/>
                <a:cs typeface="Calibri"/>
                <a:sym typeface="Calibri"/>
              </a:rPr>
              <a:t>Las Vegas</a:t>
            </a:r>
            <a:r>
              <a:rPr b="0" i="0" lang="en-US" sz="1500" u="none" cap="none" strike="noStrike">
                <a:solidFill>
                  <a:srgbClr val="1E293B"/>
                </a:solidFill>
                <a:latin typeface="Calibri"/>
                <a:ea typeface="Calibri"/>
                <a:cs typeface="Calibri"/>
                <a:sym typeface="Calibri"/>
              </a:rPr>
              <a:t> conservada como categoría propia.</a:t>
            </a:r>
            <a:endParaRPr b="0" i="0" sz="1500" u="none" cap="none" strike="noStrike">
              <a:solidFill>
                <a:schemeClr val="dk1"/>
              </a:solidFill>
              <a:latin typeface="Calibri"/>
              <a:ea typeface="Calibri"/>
              <a:cs typeface="Calibri"/>
              <a:sym typeface="Calibri"/>
            </a:endParaRPr>
          </a:p>
        </p:txBody>
      </p:sp>
      <p:sp>
        <p:nvSpPr>
          <p:cNvPr id="936" name="Google Shape;936;g3a86323efb1_1_287"/>
          <p:cNvSpPr/>
          <p:nvPr/>
        </p:nvSpPr>
        <p:spPr>
          <a:xfrm>
            <a:off x="6461760" y="1463040"/>
            <a:ext cx="5303700" cy="2377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7" name="Google Shape;937;g3a86323efb1_1_287"/>
          <p:cNvSpPr/>
          <p:nvPr/>
        </p:nvSpPr>
        <p:spPr>
          <a:xfrm>
            <a:off x="6461760" y="1463040"/>
            <a:ext cx="5303700" cy="5121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8" name="Google Shape;938;g3a86323efb1_1_287"/>
          <p:cNvSpPr/>
          <p:nvPr/>
        </p:nvSpPr>
        <p:spPr>
          <a:xfrm>
            <a:off x="6559296" y="1463040"/>
            <a:ext cx="51207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 · Codificación Variable Objetivo</a:t>
            </a:r>
            <a:endParaRPr b="0" i="0" sz="1500" u="none" cap="none" strike="noStrike">
              <a:solidFill>
                <a:schemeClr val="dk1"/>
              </a:solidFill>
              <a:latin typeface="Calibri"/>
              <a:ea typeface="Calibri"/>
              <a:cs typeface="Calibri"/>
              <a:sym typeface="Calibri"/>
            </a:endParaRPr>
          </a:p>
        </p:txBody>
      </p:sp>
      <p:sp>
        <p:nvSpPr>
          <p:cNvPr id="939" name="Google Shape;939;g3a86323efb1_1_287"/>
          <p:cNvSpPr/>
          <p:nvPr/>
        </p:nvSpPr>
        <p:spPr>
          <a:xfrm>
            <a:off x="6644640" y="2145792"/>
            <a:ext cx="2438400" cy="536400"/>
          </a:xfrm>
          <a:prstGeom prst="rect">
            <a:avLst/>
          </a:prstGeom>
          <a:solidFill>
            <a:srgbClr val="DCFCE7"/>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0" name="Google Shape;940;g3a86323efb1_1_287"/>
          <p:cNvSpPr/>
          <p:nvPr/>
        </p:nvSpPr>
        <p:spPr>
          <a:xfrm>
            <a:off x="6644640" y="2145792"/>
            <a:ext cx="24384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1600"/>
              <a:buFont typeface="Calibri"/>
              <a:buNone/>
            </a:pPr>
            <a:r>
              <a:rPr b="1" i="0" lang="en-US" sz="1600" u="none" cap="none" strike="noStrike">
                <a:solidFill>
                  <a:srgbClr val="166534"/>
                </a:solidFill>
                <a:latin typeface="Calibri"/>
                <a:ea typeface="Calibri"/>
                <a:cs typeface="Calibri"/>
                <a:sym typeface="Calibri"/>
              </a:rPr>
              <a:t>Heridos</a:t>
            </a:r>
            <a:endParaRPr b="0" i="0" sz="1600" u="none" cap="none" strike="noStrike">
              <a:solidFill>
                <a:schemeClr val="dk1"/>
              </a:solidFill>
              <a:latin typeface="Calibri"/>
              <a:ea typeface="Calibri"/>
              <a:cs typeface="Calibri"/>
              <a:sym typeface="Calibri"/>
            </a:endParaRPr>
          </a:p>
        </p:txBody>
      </p:sp>
      <p:sp>
        <p:nvSpPr>
          <p:cNvPr id="941" name="Google Shape;941;g3a86323efb1_1_287"/>
          <p:cNvSpPr/>
          <p:nvPr/>
        </p:nvSpPr>
        <p:spPr>
          <a:xfrm>
            <a:off x="9144000" y="2145792"/>
            <a:ext cx="1219200" cy="536400"/>
          </a:xfrm>
          <a:prstGeom prst="rect">
            <a:avLst/>
          </a:prstGeom>
          <a:solidFill>
            <a:srgbClr val="166534"/>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2" name="Google Shape;942;g3a86323efb1_1_287"/>
          <p:cNvSpPr/>
          <p:nvPr/>
        </p:nvSpPr>
        <p:spPr>
          <a:xfrm>
            <a:off x="9144000" y="2145792"/>
            <a:ext cx="12192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0</a:t>
            </a:r>
            <a:endParaRPr b="0" i="0" sz="1900" u="none" cap="none" strike="noStrike">
              <a:solidFill>
                <a:schemeClr val="dk1"/>
              </a:solidFill>
              <a:latin typeface="Calibri"/>
              <a:ea typeface="Calibri"/>
              <a:cs typeface="Calibri"/>
              <a:sym typeface="Calibri"/>
            </a:endParaRPr>
          </a:p>
        </p:txBody>
      </p:sp>
      <p:sp>
        <p:nvSpPr>
          <p:cNvPr id="943" name="Google Shape;943;g3a86323efb1_1_287"/>
          <p:cNvSpPr/>
          <p:nvPr/>
        </p:nvSpPr>
        <p:spPr>
          <a:xfrm>
            <a:off x="6644640" y="2779776"/>
            <a:ext cx="2438400" cy="536400"/>
          </a:xfrm>
          <a:prstGeom prst="rect">
            <a:avLst/>
          </a:prstGeom>
          <a:solidFill>
            <a:srgbClr val="FEE2E2"/>
          </a:solidFill>
          <a:ln cap="flat" cmpd="sng" w="16925">
            <a:solidFill>
              <a:srgbClr val="991B1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4" name="Google Shape;944;g3a86323efb1_1_287"/>
          <p:cNvSpPr/>
          <p:nvPr/>
        </p:nvSpPr>
        <p:spPr>
          <a:xfrm>
            <a:off x="6644640" y="2779776"/>
            <a:ext cx="24384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1B1B"/>
              </a:buClr>
              <a:buSzPts val="1600"/>
              <a:buFont typeface="Calibri"/>
              <a:buNone/>
            </a:pPr>
            <a:r>
              <a:rPr b="1" i="0" lang="en-US" sz="1600" u="none" cap="none" strike="noStrike">
                <a:solidFill>
                  <a:srgbClr val="991B1B"/>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945" name="Google Shape;945;g3a86323efb1_1_287"/>
          <p:cNvSpPr/>
          <p:nvPr/>
        </p:nvSpPr>
        <p:spPr>
          <a:xfrm>
            <a:off x="9144000" y="2779776"/>
            <a:ext cx="1219200" cy="536400"/>
          </a:xfrm>
          <a:prstGeom prst="rect">
            <a:avLst/>
          </a:prstGeom>
          <a:solidFill>
            <a:srgbClr val="991B1B"/>
          </a:solidFill>
          <a:ln cap="flat" cmpd="sng" w="16925">
            <a:solidFill>
              <a:srgbClr val="991B1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6" name="Google Shape;946;g3a86323efb1_1_287"/>
          <p:cNvSpPr/>
          <p:nvPr/>
        </p:nvSpPr>
        <p:spPr>
          <a:xfrm>
            <a:off x="9144000" y="2779776"/>
            <a:ext cx="1219200" cy="5364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900"/>
              <a:buFont typeface="Calibri"/>
              <a:buNone/>
            </a:pPr>
            <a:r>
              <a:rPr b="1" i="0" lang="en-US" sz="1900" u="none" cap="none" strike="noStrike">
                <a:solidFill>
                  <a:srgbClr val="FFFFFF"/>
                </a:solidFill>
                <a:latin typeface="Calibri"/>
                <a:ea typeface="Calibri"/>
                <a:cs typeface="Calibri"/>
                <a:sym typeface="Calibri"/>
              </a:rPr>
              <a:t>= 1</a:t>
            </a:r>
            <a:endParaRPr b="0" i="0" sz="1900" u="none" cap="none" strike="noStrike">
              <a:solidFill>
                <a:schemeClr val="dk1"/>
              </a:solidFill>
              <a:latin typeface="Calibri"/>
              <a:ea typeface="Calibri"/>
              <a:cs typeface="Calibri"/>
              <a:sym typeface="Calibri"/>
            </a:endParaRPr>
          </a:p>
        </p:txBody>
      </p:sp>
      <p:sp>
        <p:nvSpPr>
          <p:cNvPr id="947" name="Google Shape;947;g3a86323efb1_1_287"/>
          <p:cNvSpPr/>
          <p:nvPr/>
        </p:nvSpPr>
        <p:spPr>
          <a:xfrm>
            <a:off x="426720" y="3998976"/>
            <a:ext cx="5303700" cy="2377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8" name="Google Shape;948;g3a86323efb1_1_287"/>
          <p:cNvSpPr/>
          <p:nvPr/>
        </p:nvSpPr>
        <p:spPr>
          <a:xfrm>
            <a:off x="426720" y="3998976"/>
            <a:ext cx="5303700" cy="512100"/>
          </a:xfrm>
          <a:prstGeom prst="rect">
            <a:avLst/>
          </a:prstGeom>
          <a:solidFill>
            <a:srgbClr val="7C3AED"/>
          </a:solidFill>
          <a:ln cap="flat" cmpd="sng" w="16925">
            <a:solidFill>
              <a:srgbClr val="7C3AED"/>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9" name="Google Shape;949;g3a86323efb1_1_287"/>
          <p:cNvSpPr/>
          <p:nvPr/>
        </p:nvSpPr>
        <p:spPr>
          <a:xfrm>
            <a:off x="512064" y="3998976"/>
            <a:ext cx="51207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 · One-Hot Encoding (get_dummies)</a:t>
            </a:r>
            <a:endParaRPr b="0" i="0" sz="1500" u="none" cap="none" strike="noStrike">
              <a:solidFill>
                <a:schemeClr val="dk1"/>
              </a:solidFill>
              <a:latin typeface="Calibri"/>
              <a:ea typeface="Calibri"/>
              <a:cs typeface="Calibri"/>
              <a:sym typeface="Calibri"/>
            </a:endParaRPr>
          </a:p>
        </p:txBody>
      </p:sp>
      <p:sp>
        <p:nvSpPr>
          <p:cNvPr id="950" name="Google Shape;950;g3a86323efb1_1_287"/>
          <p:cNvSpPr/>
          <p:nvPr/>
        </p:nvSpPr>
        <p:spPr>
          <a:xfrm>
            <a:off x="609600" y="4608576"/>
            <a:ext cx="4998900" cy="15849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400"/>
              <a:buFont typeface="Calibri"/>
              <a:buNone/>
            </a:pPr>
            <a:r>
              <a:rPr b="1" i="0" lang="en-US" sz="1800" u="none" cap="none" strike="noStrike">
                <a:solidFill>
                  <a:srgbClr val="1E293B"/>
                </a:solidFill>
                <a:latin typeface="Calibri"/>
                <a:ea typeface="Calibri"/>
                <a:cs typeface="Calibri"/>
                <a:sym typeface="Calibri"/>
              </a:rPr>
              <a:t>drop_first=True</a:t>
            </a:r>
            <a:r>
              <a:rPr b="0" i="0" lang="en-US" sz="1800" u="none" cap="none" strike="noStrike">
                <a:solidFill>
                  <a:srgbClr val="1E293B"/>
                </a:solidFill>
                <a:latin typeface="Calibri"/>
                <a:ea typeface="Calibri"/>
                <a:cs typeface="Calibri"/>
                <a:sym typeface="Calibri"/>
              </a:rPr>
              <a:t> elimina multicolinealidad perfecta.</a:t>
            </a:r>
            <a:br>
              <a:rPr b="0" i="0" lang="en-US" sz="1800" u="none" cap="none" strike="noStrike">
                <a:solidFill>
                  <a:srgbClr val="1E293B"/>
                </a:solidFill>
                <a:latin typeface="Calibri"/>
                <a:ea typeface="Calibri"/>
                <a:cs typeface="Calibri"/>
                <a:sym typeface="Calibri"/>
              </a:rPr>
            </a:br>
            <a:r>
              <a:rPr b="1" i="0" lang="en-US" sz="1800" u="none" cap="none" strike="noStrike">
                <a:solidFill>
                  <a:srgbClr val="1E293B"/>
                </a:solidFill>
                <a:latin typeface="Calibri"/>
                <a:ea typeface="Calibri"/>
                <a:cs typeface="Calibri"/>
                <a:sym typeface="Calibri"/>
              </a:rPr>
              <a:t>Resultado: 500 filas × 29 columnas</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E293B"/>
              </a:buClr>
              <a:buSzPts val="1400"/>
              <a:buFont typeface="Calibri"/>
              <a:buNone/>
            </a:pPr>
            <a:r>
              <a:rPr b="0" i="0" lang="en-US" sz="1800" u="none" cap="none" strike="noStrike">
                <a:solidFill>
                  <a:srgbClr val="1E293B"/>
                </a:solidFill>
                <a:latin typeface="Calibri"/>
                <a:ea typeface="Calibri"/>
                <a:cs typeface="Calibri"/>
                <a:sym typeface="Calibri"/>
              </a:rPr>
              <a:t>8 variables categóricas → 25 dummies generadas.</a:t>
            </a:r>
            <a:endParaRPr b="0" i="0" sz="1800" u="none" cap="none" strike="noStrike">
              <a:solidFill>
                <a:schemeClr val="dk1"/>
              </a:solidFill>
              <a:latin typeface="Calibri"/>
              <a:ea typeface="Calibri"/>
              <a:cs typeface="Calibri"/>
              <a:sym typeface="Calibri"/>
            </a:endParaRPr>
          </a:p>
        </p:txBody>
      </p:sp>
      <p:sp>
        <p:nvSpPr>
          <p:cNvPr id="951" name="Google Shape;951;g3a86323efb1_1_287"/>
          <p:cNvSpPr/>
          <p:nvPr/>
        </p:nvSpPr>
        <p:spPr>
          <a:xfrm>
            <a:off x="6461760" y="3998976"/>
            <a:ext cx="5303700" cy="23775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2" name="Google Shape;952;g3a86323efb1_1_287"/>
          <p:cNvSpPr/>
          <p:nvPr/>
        </p:nvSpPr>
        <p:spPr>
          <a:xfrm>
            <a:off x="6461760" y="3998976"/>
            <a:ext cx="5303700" cy="5121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3" name="Google Shape;953;g3a86323efb1_1_287"/>
          <p:cNvSpPr/>
          <p:nvPr/>
        </p:nvSpPr>
        <p:spPr>
          <a:xfrm>
            <a:off x="6559296" y="3998976"/>
            <a:ext cx="5120700" cy="512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 · Split 80/20 + MinMaxScaler</a:t>
            </a:r>
            <a:endParaRPr b="0" i="0" sz="1500" u="none" cap="none" strike="noStrike">
              <a:solidFill>
                <a:schemeClr val="dk1"/>
              </a:solidFill>
              <a:latin typeface="Calibri"/>
              <a:ea typeface="Calibri"/>
              <a:cs typeface="Calibri"/>
              <a:sym typeface="Calibri"/>
            </a:endParaRPr>
          </a:p>
        </p:txBody>
      </p:sp>
      <p:sp>
        <p:nvSpPr>
          <p:cNvPr id="954" name="Google Shape;954;g3a86323efb1_1_287"/>
          <p:cNvSpPr/>
          <p:nvPr/>
        </p:nvSpPr>
        <p:spPr>
          <a:xfrm>
            <a:off x="6644640" y="4657344"/>
            <a:ext cx="2377500" cy="15240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5" name="Google Shape;955;g3a86323efb1_1_287"/>
          <p:cNvSpPr/>
          <p:nvPr/>
        </p:nvSpPr>
        <p:spPr>
          <a:xfrm>
            <a:off x="6644640" y="4718304"/>
            <a:ext cx="2377500" cy="390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1600"/>
              <a:buFont typeface="Calibri"/>
              <a:buNone/>
            </a:pPr>
            <a:r>
              <a:rPr b="1" i="0" lang="en-US" sz="1600" u="none" cap="none" strike="noStrike">
                <a:solidFill>
                  <a:srgbClr val="2F3C7E"/>
                </a:solidFill>
                <a:latin typeface="Calibri"/>
                <a:ea typeface="Calibri"/>
                <a:cs typeface="Calibri"/>
                <a:sym typeface="Calibri"/>
              </a:rPr>
              <a:t>Train</a:t>
            </a:r>
            <a:endParaRPr b="0" i="0" sz="1600" u="none" cap="none" strike="noStrike">
              <a:solidFill>
                <a:schemeClr val="dk1"/>
              </a:solidFill>
              <a:latin typeface="Calibri"/>
              <a:ea typeface="Calibri"/>
              <a:cs typeface="Calibri"/>
              <a:sym typeface="Calibri"/>
            </a:endParaRPr>
          </a:p>
        </p:txBody>
      </p:sp>
      <p:sp>
        <p:nvSpPr>
          <p:cNvPr id="956" name="Google Shape;956;g3a86323efb1_1_287"/>
          <p:cNvSpPr/>
          <p:nvPr/>
        </p:nvSpPr>
        <p:spPr>
          <a:xfrm>
            <a:off x="6644640" y="5120640"/>
            <a:ext cx="2377500" cy="304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400 muestras</a:t>
            </a:r>
            <a:endParaRPr b="0" i="0" sz="1300" u="none" cap="none" strike="noStrike">
              <a:solidFill>
                <a:schemeClr val="dk1"/>
              </a:solidFill>
              <a:latin typeface="Calibri"/>
              <a:ea typeface="Calibri"/>
              <a:cs typeface="Calibri"/>
              <a:sym typeface="Calibri"/>
            </a:endParaRPr>
          </a:p>
        </p:txBody>
      </p:sp>
      <p:sp>
        <p:nvSpPr>
          <p:cNvPr id="957" name="Google Shape;957;g3a86323efb1_1_287"/>
          <p:cNvSpPr/>
          <p:nvPr/>
        </p:nvSpPr>
        <p:spPr>
          <a:xfrm>
            <a:off x="6644640" y="5449824"/>
            <a:ext cx="2377500" cy="304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104 Muertos (26%)</a:t>
            </a:r>
            <a:endParaRPr b="0" i="0" sz="1300" u="none" cap="none" strike="noStrike">
              <a:solidFill>
                <a:schemeClr val="dk1"/>
              </a:solidFill>
              <a:latin typeface="Calibri"/>
              <a:ea typeface="Calibri"/>
              <a:cs typeface="Calibri"/>
              <a:sym typeface="Calibri"/>
            </a:endParaRPr>
          </a:p>
        </p:txBody>
      </p:sp>
      <p:sp>
        <p:nvSpPr>
          <p:cNvPr id="958" name="Google Shape;958;g3a86323efb1_1_287"/>
          <p:cNvSpPr/>
          <p:nvPr/>
        </p:nvSpPr>
        <p:spPr>
          <a:xfrm>
            <a:off x="9204960" y="4657344"/>
            <a:ext cx="2377500" cy="15240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9" name="Google Shape;959;g3a86323efb1_1_287"/>
          <p:cNvSpPr/>
          <p:nvPr/>
        </p:nvSpPr>
        <p:spPr>
          <a:xfrm>
            <a:off x="9204960" y="4718304"/>
            <a:ext cx="2377500" cy="3900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1600"/>
              <a:buFont typeface="Calibri"/>
              <a:buNone/>
            </a:pPr>
            <a:r>
              <a:rPr b="1" i="0" lang="en-US" sz="1600" u="none" cap="none" strike="noStrike">
                <a:solidFill>
                  <a:srgbClr val="990011"/>
                </a:solidFill>
                <a:latin typeface="Calibri"/>
                <a:ea typeface="Calibri"/>
                <a:cs typeface="Calibri"/>
                <a:sym typeface="Calibri"/>
              </a:rPr>
              <a:t>Test</a:t>
            </a:r>
            <a:endParaRPr b="0" i="0" sz="1600" u="none" cap="none" strike="noStrike">
              <a:solidFill>
                <a:schemeClr val="dk1"/>
              </a:solidFill>
              <a:latin typeface="Calibri"/>
              <a:ea typeface="Calibri"/>
              <a:cs typeface="Calibri"/>
              <a:sym typeface="Calibri"/>
            </a:endParaRPr>
          </a:p>
        </p:txBody>
      </p:sp>
      <p:sp>
        <p:nvSpPr>
          <p:cNvPr id="960" name="Google Shape;960;g3a86323efb1_1_287"/>
          <p:cNvSpPr/>
          <p:nvPr/>
        </p:nvSpPr>
        <p:spPr>
          <a:xfrm>
            <a:off x="9204960" y="5120640"/>
            <a:ext cx="2377500" cy="304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E293B"/>
              </a:buClr>
              <a:buSzPts val="1300"/>
              <a:buFont typeface="Calibri"/>
              <a:buNone/>
            </a:pPr>
            <a:r>
              <a:rPr b="0" i="0" lang="en-US" sz="1300" u="none" cap="none" strike="noStrike">
                <a:solidFill>
                  <a:srgbClr val="1E293B"/>
                </a:solidFill>
                <a:latin typeface="Calibri"/>
                <a:ea typeface="Calibri"/>
                <a:cs typeface="Calibri"/>
                <a:sym typeface="Calibri"/>
              </a:rPr>
              <a:t>100 muestras</a:t>
            </a:r>
            <a:endParaRPr b="0" i="0" sz="1300" u="none" cap="none" strike="noStrike">
              <a:solidFill>
                <a:schemeClr val="dk1"/>
              </a:solidFill>
              <a:latin typeface="Calibri"/>
              <a:ea typeface="Calibri"/>
              <a:cs typeface="Calibri"/>
              <a:sym typeface="Calibri"/>
            </a:endParaRPr>
          </a:p>
        </p:txBody>
      </p:sp>
      <p:sp>
        <p:nvSpPr>
          <p:cNvPr id="961" name="Google Shape;961;g3a86323efb1_1_287"/>
          <p:cNvSpPr/>
          <p:nvPr/>
        </p:nvSpPr>
        <p:spPr>
          <a:xfrm>
            <a:off x="9204960" y="5449824"/>
            <a:ext cx="2377500" cy="3048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26 Muertos (26%)</a:t>
            </a:r>
            <a:endParaRPr b="0" i="0" sz="1300" u="none" cap="none" strike="noStrike">
              <a:solidFill>
                <a:schemeClr val="dk1"/>
              </a:solidFill>
              <a:latin typeface="Calibri"/>
              <a:ea typeface="Calibri"/>
              <a:cs typeface="Calibri"/>
              <a:sym typeface="Calibri"/>
            </a:endParaRPr>
          </a:p>
        </p:txBody>
      </p:sp>
      <p:sp>
        <p:nvSpPr>
          <p:cNvPr id="962" name="Google Shape;962;g3a86323efb1_1_287"/>
          <p:cNvSpPr/>
          <p:nvPr/>
        </p:nvSpPr>
        <p:spPr>
          <a:xfrm>
            <a:off x="6559296" y="6242304"/>
            <a:ext cx="49989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200"/>
              <a:buFont typeface="Calibri"/>
              <a:buNone/>
            </a:pPr>
            <a:r>
              <a:rPr b="0" i="1" lang="en-US" sz="1200" u="none" cap="none" strike="noStrike">
                <a:solidFill>
                  <a:srgbClr val="64748B"/>
                </a:solidFill>
                <a:latin typeface="Calibri"/>
                <a:ea typeface="Calibri"/>
                <a:cs typeface="Calibri"/>
                <a:sym typeface="Calibri"/>
              </a:rPr>
              <a:t>Escalado (Hora, Mes, Edad) solo en train → evita data leakage</a:t>
            </a:r>
            <a:endParaRPr b="0" i="0" sz="1200" u="none" cap="none" strike="noStrike">
              <a:solidFill>
                <a:schemeClr val="dk1"/>
              </a:solidFill>
              <a:latin typeface="Calibri"/>
              <a:ea typeface="Calibri"/>
              <a:cs typeface="Calibri"/>
              <a:sym typeface="Calibri"/>
            </a:endParaRPr>
          </a:p>
        </p:txBody>
      </p:sp>
      <p:grpSp>
        <p:nvGrpSpPr>
          <p:cNvPr id="963" name="Google Shape;963;g3a86323efb1_1_287"/>
          <p:cNvGrpSpPr/>
          <p:nvPr/>
        </p:nvGrpSpPr>
        <p:grpSpPr>
          <a:xfrm>
            <a:off x="9144000" y="419825"/>
            <a:ext cx="2557800" cy="409200"/>
            <a:chOff x="609600" y="304800"/>
            <a:chExt cx="2557800" cy="409200"/>
          </a:xfrm>
        </p:grpSpPr>
        <p:sp>
          <p:nvSpPr>
            <p:cNvPr id="964" name="Google Shape;964;g3a86323efb1_1_287"/>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200"/>
            </a:p>
          </p:txBody>
        </p:sp>
        <p:sp>
          <p:nvSpPr>
            <p:cNvPr id="965" name="Google Shape;965;g3a86323efb1_1_287"/>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2059">
                  <a:solidFill>
                    <a:srgbClr val="FFFFFF"/>
                  </a:solidFill>
                  <a:latin typeface="Calibri"/>
                  <a:ea typeface="Calibri"/>
                  <a:cs typeface="Calibri"/>
                  <a:sym typeface="Calibri"/>
                </a:rPr>
                <a:t>Regresion Logistica</a:t>
              </a:r>
              <a:endParaRPr b="0" i="0" sz="2059" u="none" cap="none" strike="noStrike">
                <a:solidFill>
                  <a:schemeClr val="dk1"/>
                </a:solidFill>
                <a:latin typeface="Calibri"/>
                <a:ea typeface="Calibri"/>
                <a:cs typeface="Calibri"/>
                <a:sym typeface="Calibri"/>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g3a86323efb1_1_378"/>
          <p:cNvSpPr/>
          <p:nvPr/>
        </p:nvSpPr>
        <p:spPr>
          <a:xfrm>
            <a:off x="0" y="0"/>
            <a:ext cx="12192000" cy="13413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1" name="Google Shape;971;g3a86323efb1_1_378"/>
          <p:cNvSpPr/>
          <p:nvPr/>
        </p:nvSpPr>
        <p:spPr>
          <a:xfrm>
            <a:off x="609600" y="219456"/>
            <a:ext cx="10972800" cy="878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Resultados del Modelo</a:t>
            </a:r>
            <a:endParaRPr b="0" i="0" sz="3500" u="none" cap="none" strike="noStrike">
              <a:solidFill>
                <a:schemeClr val="dk1"/>
              </a:solidFill>
              <a:latin typeface="Calibri"/>
              <a:ea typeface="Calibri"/>
              <a:cs typeface="Calibri"/>
              <a:sym typeface="Calibri"/>
            </a:endParaRPr>
          </a:p>
        </p:txBody>
      </p:sp>
      <p:sp>
        <p:nvSpPr>
          <p:cNvPr id="972" name="Google Shape;972;g3a86323efb1_1_378"/>
          <p:cNvSpPr/>
          <p:nvPr/>
        </p:nvSpPr>
        <p:spPr>
          <a:xfrm>
            <a:off x="426720"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3" name="Google Shape;973;g3a86323efb1_1_378"/>
          <p:cNvSpPr/>
          <p:nvPr/>
        </p:nvSpPr>
        <p:spPr>
          <a:xfrm>
            <a:off x="426720"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5300"/>
              <a:buFont typeface="Calibri"/>
              <a:buNone/>
            </a:pPr>
            <a:r>
              <a:rPr b="1" i="0" lang="en-US" sz="5300" u="none" cap="none" strike="noStrike">
                <a:solidFill>
                  <a:srgbClr val="166534"/>
                </a:solidFill>
                <a:latin typeface="Calibri"/>
                <a:ea typeface="Calibri"/>
                <a:cs typeface="Calibri"/>
                <a:sym typeface="Calibri"/>
              </a:rPr>
              <a:t>0.9226</a:t>
            </a:r>
            <a:endParaRPr b="0" i="0" sz="5300" u="none" cap="none" strike="noStrike">
              <a:solidFill>
                <a:schemeClr val="dk1"/>
              </a:solidFill>
              <a:latin typeface="Calibri"/>
              <a:ea typeface="Calibri"/>
              <a:cs typeface="Calibri"/>
              <a:sym typeface="Calibri"/>
            </a:endParaRPr>
          </a:p>
        </p:txBody>
      </p:sp>
      <p:sp>
        <p:nvSpPr>
          <p:cNvPr id="974" name="Google Shape;974;g3a86323efb1_1_378"/>
          <p:cNvSpPr/>
          <p:nvPr/>
        </p:nvSpPr>
        <p:spPr>
          <a:xfrm>
            <a:off x="426720"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AUC-ROC</a:t>
            </a:r>
            <a:endParaRPr b="0" i="0" sz="1600" u="none" cap="none" strike="noStrike">
              <a:solidFill>
                <a:schemeClr val="dk1"/>
              </a:solidFill>
              <a:latin typeface="Calibri"/>
              <a:ea typeface="Calibri"/>
              <a:cs typeface="Calibri"/>
              <a:sym typeface="Calibri"/>
            </a:endParaRPr>
          </a:p>
        </p:txBody>
      </p:sp>
      <p:sp>
        <p:nvSpPr>
          <p:cNvPr id="975" name="Google Shape;975;g3a86323efb1_1_378"/>
          <p:cNvSpPr/>
          <p:nvPr/>
        </p:nvSpPr>
        <p:spPr>
          <a:xfrm>
            <a:off x="426720"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700" u="none" cap="none" strike="noStrike">
                <a:solidFill>
                  <a:srgbClr val="64748B"/>
                </a:solidFill>
                <a:latin typeface="Calibri"/>
                <a:ea typeface="Calibri"/>
                <a:cs typeface="Calibri"/>
                <a:sym typeface="Calibri"/>
              </a:rPr>
              <a:t>Capacidad discriminante</a:t>
            </a:r>
            <a:endParaRPr b="1" i="0" sz="1700" u="none" cap="none" strike="noStrike">
              <a:solidFill>
                <a:schemeClr val="dk1"/>
              </a:solidFill>
              <a:latin typeface="Calibri"/>
              <a:ea typeface="Calibri"/>
              <a:cs typeface="Calibri"/>
              <a:sym typeface="Calibri"/>
            </a:endParaRPr>
          </a:p>
        </p:txBody>
      </p:sp>
      <p:sp>
        <p:nvSpPr>
          <p:cNvPr id="976" name="Google Shape;976;g3a86323efb1_1_378"/>
          <p:cNvSpPr/>
          <p:nvPr/>
        </p:nvSpPr>
        <p:spPr>
          <a:xfrm>
            <a:off x="3328416"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7" name="Google Shape;977;g3a86323efb1_1_378"/>
          <p:cNvSpPr/>
          <p:nvPr/>
        </p:nvSpPr>
        <p:spPr>
          <a:xfrm>
            <a:off x="3328416"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2F3C7E"/>
              </a:buClr>
              <a:buSzPts val="5300"/>
              <a:buFont typeface="Calibri"/>
              <a:buNone/>
            </a:pPr>
            <a:r>
              <a:rPr b="1" i="0" lang="en-US" sz="5300" u="none" cap="none" strike="noStrike">
                <a:solidFill>
                  <a:srgbClr val="2F3C7E"/>
                </a:solidFill>
                <a:latin typeface="Calibri"/>
                <a:ea typeface="Calibri"/>
                <a:cs typeface="Calibri"/>
                <a:sym typeface="Calibri"/>
              </a:rPr>
              <a:t>0.73</a:t>
            </a:r>
            <a:endParaRPr b="0" i="0" sz="5300" u="none" cap="none" strike="noStrike">
              <a:solidFill>
                <a:schemeClr val="dk1"/>
              </a:solidFill>
              <a:latin typeface="Calibri"/>
              <a:ea typeface="Calibri"/>
              <a:cs typeface="Calibri"/>
              <a:sym typeface="Calibri"/>
            </a:endParaRPr>
          </a:p>
        </p:txBody>
      </p:sp>
      <p:sp>
        <p:nvSpPr>
          <p:cNvPr id="978" name="Google Shape;978;g3a86323efb1_1_378"/>
          <p:cNvSpPr/>
          <p:nvPr/>
        </p:nvSpPr>
        <p:spPr>
          <a:xfrm>
            <a:off x="3328416"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F1-Score</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979" name="Google Shape;979;g3a86323efb1_1_378"/>
          <p:cNvSpPr/>
          <p:nvPr/>
        </p:nvSpPr>
        <p:spPr>
          <a:xfrm>
            <a:off x="3328416"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700" u="none" cap="none" strike="noStrike">
                <a:solidFill>
                  <a:srgbClr val="64748B"/>
                </a:solidFill>
                <a:latin typeface="Calibri"/>
                <a:ea typeface="Calibri"/>
                <a:cs typeface="Calibri"/>
                <a:sym typeface="Calibri"/>
              </a:rPr>
              <a:t>Balance Recall / Precisión</a:t>
            </a:r>
            <a:endParaRPr b="1" i="0" sz="1700" u="none" cap="none" strike="noStrike">
              <a:solidFill>
                <a:schemeClr val="dk1"/>
              </a:solidFill>
              <a:latin typeface="Calibri"/>
              <a:ea typeface="Calibri"/>
              <a:cs typeface="Calibri"/>
              <a:sym typeface="Calibri"/>
            </a:endParaRPr>
          </a:p>
        </p:txBody>
      </p:sp>
      <p:sp>
        <p:nvSpPr>
          <p:cNvPr id="980" name="Google Shape;980;g3a86323efb1_1_378"/>
          <p:cNvSpPr/>
          <p:nvPr/>
        </p:nvSpPr>
        <p:spPr>
          <a:xfrm>
            <a:off x="6230112"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1" name="Google Shape;981;g3a86323efb1_1_378"/>
          <p:cNvSpPr/>
          <p:nvPr/>
        </p:nvSpPr>
        <p:spPr>
          <a:xfrm>
            <a:off x="6230112"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7490"/>
              </a:buClr>
              <a:buSzPts val="5300"/>
              <a:buFont typeface="Calibri"/>
              <a:buNone/>
            </a:pPr>
            <a:r>
              <a:rPr b="1" i="0" lang="en-US" sz="5300" u="none" cap="none" strike="noStrike">
                <a:solidFill>
                  <a:srgbClr val="0E7490"/>
                </a:solidFill>
                <a:latin typeface="Calibri"/>
                <a:ea typeface="Calibri"/>
                <a:cs typeface="Calibri"/>
                <a:sym typeface="Calibri"/>
              </a:rPr>
              <a:t>58%</a:t>
            </a:r>
            <a:endParaRPr b="0" i="0" sz="5300" u="none" cap="none" strike="noStrike">
              <a:solidFill>
                <a:schemeClr val="dk1"/>
              </a:solidFill>
              <a:latin typeface="Calibri"/>
              <a:ea typeface="Calibri"/>
              <a:cs typeface="Calibri"/>
              <a:sym typeface="Calibri"/>
            </a:endParaRPr>
          </a:p>
        </p:txBody>
      </p:sp>
      <p:sp>
        <p:nvSpPr>
          <p:cNvPr id="982" name="Google Shape;982;g3a86323efb1_1_378"/>
          <p:cNvSpPr/>
          <p:nvPr/>
        </p:nvSpPr>
        <p:spPr>
          <a:xfrm>
            <a:off x="6230112"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Recall</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983" name="Google Shape;983;g3a86323efb1_1_378"/>
          <p:cNvSpPr/>
          <p:nvPr/>
        </p:nvSpPr>
        <p:spPr>
          <a:xfrm>
            <a:off x="6230112"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Muertes reales detectadas</a:t>
            </a:r>
            <a:endParaRPr b="1" i="0" sz="1600" u="none" cap="none" strike="noStrike">
              <a:solidFill>
                <a:schemeClr val="dk1"/>
              </a:solidFill>
              <a:latin typeface="Calibri"/>
              <a:ea typeface="Calibri"/>
              <a:cs typeface="Calibri"/>
              <a:sym typeface="Calibri"/>
            </a:endParaRPr>
          </a:p>
        </p:txBody>
      </p:sp>
      <p:sp>
        <p:nvSpPr>
          <p:cNvPr id="984" name="Google Shape;984;g3a86323efb1_1_378"/>
          <p:cNvSpPr/>
          <p:nvPr/>
        </p:nvSpPr>
        <p:spPr>
          <a:xfrm>
            <a:off x="9131808" y="1463040"/>
            <a:ext cx="2658000" cy="24384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5" name="Google Shape;985;g3a86323efb1_1_378"/>
          <p:cNvSpPr/>
          <p:nvPr/>
        </p:nvSpPr>
        <p:spPr>
          <a:xfrm>
            <a:off x="9131808" y="1560576"/>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0011"/>
              </a:buClr>
              <a:buSzPts val="5300"/>
              <a:buFont typeface="Calibri"/>
              <a:buNone/>
            </a:pPr>
            <a:r>
              <a:rPr b="1" i="0" lang="en-US" sz="5300" u="none" cap="none" strike="noStrike">
                <a:solidFill>
                  <a:srgbClr val="990011"/>
                </a:solidFill>
                <a:latin typeface="Calibri"/>
                <a:ea typeface="Calibri"/>
                <a:cs typeface="Calibri"/>
                <a:sym typeface="Calibri"/>
              </a:rPr>
              <a:t>100%</a:t>
            </a:r>
            <a:endParaRPr b="0" i="0" sz="5300" u="none" cap="none" strike="noStrike">
              <a:solidFill>
                <a:schemeClr val="dk1"/>
              </a:solidFill>
              <a:latin typeface="Calibri"/>
              <a:ea typeface="Calibri"/>
              <a:cs typeface="Calibri"/>
              <a:sym typeface="Calibri"/>
            </a:endParaRPr>
          </a:p>
        </p:txBody>
      </p:sp>
      <p:sp>
        <p:nvSpPr>
          <p:cNvPr id="986" name="Google Shape;986;g3a86323efb1_1_378"/>
          <p:cNvSpPr/>
          <p:nvPr/>
        </p:nvSpPr>
        <p:spPr>
          <a:xfrm>
            <a:off x="9131808" y="2682240"/>
            <a:ext cx="2658000" cy="5487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Precisión</a:t>
            </a:r>
            <a:endParaRPr b="0" i="0" sz="1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C2951"/>
              </a:buClr>
              <a:buSzPts val="1600"/>
              <a:buFont typeface="Calibri"/>
              <a:buNone/>
            </a:pPr>
            <a:r>
              <a:rPr b="1" i="0" lang="en-US" sz="1600" u="none" cap="none" strike="noStrike">
                <a:solidFill>
                  <a:srgbClr val="1C2951"/>
                </a:solidFill>
                <a:latin typeface="Calibri"/>
                <a:ea typeface="Calibri"/>
                <a:cs typeface="Calibri"/>
                <a:sym typeface="Calibri"/>
              </a:rPr>
              <a:t>Muertos</a:t>
            </a:r>
            <a:endParaRPr b="0" i="0" sz="1600" u="none" cap="none" strike="noStrike">
              <a:solidFill>
                <a:schemeClr val="dk1"/>
              </a:solidFill>
              <a:latin typeface="Calibri"/>
              <a:ea typeface="Calibri"/>
              <a:cs typeface="Calibri"/>
              <a:sym typeface="Calibri"/>
            </a:endParaRPr>
          </a:p>
        </p:txBody>
      </p:sp>
      <p:sp>
        <p:nvSpPr>
          <p:cNvPr id="987" name="Google Shape;987;g3a86323efb1_1_378"/>
          <p:cNvSpPr/>
          <p:nvPr/>
        </p:nvSpPr>
        <p:spPr>
          <a:xfrm>
            <a:off x="9131808" y="3316224"/>
            <a:ext cx="2658000" cy="4269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64748B"/>
              </a:buClr>
              <a:buSzPts val="1200"/>
              <a:buFont typeface="Calibri"/>
              <a:buNone/>
            </a:pPr>
            <a:r>
              <a:rPr b="1" i="0" lang="en-US" sz="1600" u="none" cap="none" strike="noStrike">
                <a:solidFill>
                  <a:srgbClr val="64748B"/>
                </a:solidFill>
                <a:latin typeface="Calibri"/>
                <a:ea typeface="Calibri"/>
                <a:cs typeface="Calibri"/>
                <a:sym typeface="Calibri"/>
              </a:rPr>
              <a:t>Sin falsos positivos</a:t>
            </a:r>
            <a:endParaRPr b="1" i="0" sz="1600" u="none" cap="none" strike="noStrike">
              <a:solidFill>
                <a:schemeClr val="dk1"/>
              </a:solidFill>
              <a:latin typeface="Calibri"/>
              <a:ea typeface="Calibri"/>
              <a:cs typeface="Calibri"/>
              <a:sym typeface="Calibri"/>
            </a:endParaRPr>
          </a:p>
        </p:txBody>
      </p:sp>
      <p:sp>
        <p:nvSpPr>
          <p:cNvPr id="988" name="Google Shape;988;g3a86323efb1_1_378"/>
          <p:cNvSpPr/>
          <p:nvPr/>
        </p:nvSpPr>
        <p:spPr>
          <a:xfrm>
            <a:off x="426720" y="4084320"/>
            <a:ext cx="21336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9" name="Google Shape;989;g3a86323efb1_1_378"/>
          <p:cNvSpPr/>
          <p:nvPr/>
        </p:nvSpPr>
        <p:spPr>
          <a:xfrm>
            <a:off x="487680" y="4084320"/>
            <a:ext cx="21336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Clase</a:t>
            </a:r>
            <a:endParaRPr b="0" i="0" sz="1400" u="none" cap="none" strike="noStrike">
              <a:solidFill>
                <a:schemeClr val="dk1"/>
              </a:solidFill>
              <a:latin typeface="Calibri"/>
              <a:ea typeface="Calibri"/>
              <a:cs typeface="Calibri"/>
              <a:sym typeface="Calibri"/>
            </a:endParaRPr>
          </a:p>
        </p:txBody>
      </p:sp>
      <p:sp>
        <p:nvSpPr>
          <p:cNvPr id="990" name="Google Shape;990;g3a86323efb1_1_378"/>
          <p:cNvSpPr/>
          <p:nvPr/>
        </p:nvSpPr>
        <p:spPr>
          <a:xfrm>
            <a:off x="262128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1" name="Google Shape;991;g3a86323efb1_1_378"/>
          <p:cNvSpPr/>
          <p:nvPr/>
        </p:nvSpPr>
        <p:spPr>
          <a:xfrm>
            <a:off x="268224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Precisión</a:t>
            </a:r>
            <a:endParaRPr b="0" i="0" sz="1400" u="none" cap="none" strike="noStrike">
              <a:solidFill>
                <a:schemeClr val="dk1"/>
              </a:solidFill>
              <a:latin typeface="Calibri"/>
              <a:ea typeface="Calibri"/>
              <a:cs typeface="Calibri"/>
              <a:sym typeface="Calibri"/>
            </a:endParaRPr>
          </a:p>
        </p:txBody>
      </p:sp>
      <p:sp>
        <p:nvSpPr>
          <p:cNvPr id="992" name="Google Shape;992;g3a86323efb1_1_378"/>
          <p:cNvSpPr/>
          <p:nvPr/>
        </p:nvSpPr>
        <p:spPr>
          <a:xfrm>
            <a:off x="432816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3" name="Google Shape;993;g3a86323efb1_1_378"/>
          <p:cNvSpPr/>
          <p:nvPr/>
        </p:nvSpPr>
        <p:spPr>
          <a:xfrm>
            <a:off x="438912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Recall</a:t>
            </a:r>
            <a:endParaRPr b="0" i="0" sz="1400" u="none" cap="none" strike="noStrike">
              <a:solidFill>
                <a:schemeClr val="dk1"/>
              </a:solidFill>
              <a:latin typeface="Calibri"/>
              <a:ea typeface="Calibri"/>
              <a:cs typeface="Calibri"/>
              <a:sym typeface="Calibri"/>
            </a:endParaRPr>
          </a:p>
        </p:txBody>
      </p:sp>
      <p:sp>
        <p:nvSpPr>
          <p:cNvPr id="994" name="Google Shape;994;g3a86323efb1_1_378"/>
          <p:cNvSpPr/>
          <p:nvPr/>
        </p:nvSpPr>
        <p:spPr>
          <a:xfrm>
            <a:off x="603504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5" name="Google Shape;995;g3a86323efb1_1_378"/>
          <p:cNvSpPr/>
          <p:nvPr/>
        </p:nvSpPr>
        <p:spPr>
          <a:xfrm>
            <a:off x="609600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F1-Score</a:t>
            </a:r>
            <a:endParaRPr b="0" i="0" sz="1400" u="none" cap="none" strike="noStrike">
              <a:solidFill>
                <a:schemeClr val="dk1"/>
              </a:solidFill>
              <a:latin typeface="Calibri"/>
              <a:ea typeface="Calibri"/>
              <a:cs typeface="Calibri"/>
              <a:sym typeface="Calibri"/>
            </a:endParaRPr>
          </a:p>
        </p:txBody>
      </p:sp>
      <p:sp>
        <p:nvSpPr>
          <p:cNvPr id="996" name="Google Shape;996;g3a86323efb1_1_378"/>
          <p:cNvSpPr/>
          <p:nvPr/>
        </p:nvSpPr>
        <p:spPr>
          <a:xfrm>
            <a:off x="7741920" y="4084320"/>
            <a:ext cx="1646100" cy="463200"/>
          </a:xfrm>
          <a:prstGeom prst="rect">
            <a:avLst/>
          </a:prstGeom>
          <a:solidFill>
            <a:srgbClr val="1C2951"/>
          </a:solidFill>
          <a:ln cap="flat" cmpd="sng" w="16925">
            <a:solidFill>
              <a:srgbClr val="1C295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7" name="Google Shape;997;g3a86323efb1_1_378"/>
          <p:cNvSpPr/>
          <p:nvPr/>
        </p:nvSpPr>
        <p:spPr>
          <a:xfrm>
            <a:off x="7802880" y="4084320"/>
            <a:ext cx="16461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Soporte</a:t>
            </a:r>
            <a:endParaRPr b="0" i="0" sz="1400" u="none" cap="none" strike="noStrike">
              <a:solidFill>
                <a:schemeClr val="dk1"/>
              </a:solidFill>
              <a:latin typeface="Calibri"/>
              <a:ea typeface="Calibri"/>
              <a:cs typeface="Calibri"/>
              <a:sym typeface="Calibri"/>
            </a:endParaRPr>
          </a:p>
        </p:txBody>
      </p:sp>
      <p:sp>
        <p:nvSpPr>
          <p:cNvPr id="998" name="Google Shape;998;g3a86323efb1_1_378"/>
          <p:cNvSpPr/>
          <p:nvPr/>
        </p:nvSpPr>
        <p:spPr>
          <a:xfrm>
            <a:off x="426720" y="4547616"/>
            <a:ext cx="21336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9" name="Google Shape;999;g3a86323efb1_1_378"/>
          <p:cNvSpPr/>
          <p:nvPr/>
        </p:nvSpPr>
        <p:spPr>
          <a:xfrm>
            <a:off x="499872" y="454761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Heridos (0)</a:t>
            </a:r>
            <a:endParaRPr b="0" i="0" sz="1500" u="none" cap="none" strike="noStrike">
              <a:solidFill>
                <a:schemeClr val="dk1"/>
              </a:solidFill>
              <a:latin typeface="Calibri"/>
              <a:ea typeface="Calibri"/>
              <a:cs typeface="Calibri"/>
              <a:sym typeface="Calibri"/>
            </a:endParaRPr>
          </a:p>
        </p:txBody>
      </p:sp>
      <p:sp>
        <p:nvSpPr>
          <p:cNvPr id="1000" name="Google Shape;1000;g3a86323efb1_1_378"/>
          <p:cNvSpPr/>
          <p:nvPr/>
        </p:nvSpPr>
        <p:spPr>
          <a:xfrm>
            <a:off x="262128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1" name="Google Shape;1001;g3a86323efb1_1_378"/>
          <p:cNvSpPr/>
          <p:nvPr/>
        </p:nvSpPr>
        <p:spPr>
          <a:xfrm>
            <a:off x="269443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0.87</a:t>
            </a:r>
            <a:endParaRPr b="0" i="0" sz="1500" u="none" cap="none" strike="noStrike">
              <a:solidFill>
                <a:schemeClr val="dk1"/>
              </a:solidFill>
              <a:latin typeface="Calibri"/>
              <a:ea typeface="Calibri"/>
              <a:cs typeface="Calibri"/>
              <a:sym typeface="Calibri"/>
            </a:endParaRPr>
          </a:p>
        </p:txBody>
      </p:sp>
      <p:sp>
        <p:nvSpPr>
          <p:cNvPr id="1002" name="Google Shape;1002;g3a86323efb1_1_378"/>
          <p:cNvSpPr/>
          <p:nvPr/>
        </p:nvSpPr>
        <p:spPr>
          <a:xfrm>
            <a:off x="432816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3" name="Google Shape;1003;g3a86323efb1_1_378"/>
          <p:cNvSpPr/>
          <p:nvPr/>
        </p:nvSpPr>
        <p:spPr>
          <a:xfrm>
            <a:off x="440131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1.00</a:t>
            </a:r>
            <a:endParaRPr b="0" i="0" sz="1500" u="none" cap="none" strike="noStrike">
              <a:solidFill>
                <a:schemeClr val="dk1"/>
              </a:solidFill>
              <a:latin typeface="Calibri"/>
              <a:ea typeface="Calibri"/>
              <a:cs typeface="Calibri"/>
              <a:sym typeface="Calibri"/>
            </a:endParaRPr>
          </a:p>
        </p:txBody>
      </p:sp>
      <p:sp>
        <p:nvSpPr>
          <p:cNvPr id="1004" name="Google Shape;1004;g3a86323efb1_1_378"/>
          <p:cNvSpPr/>
          <p:nvPr/>
        </p:nvSpPr>
        <p:spPr>
          <a:xfrm>
            <a:off x="603504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5" name="Google Shape;1005;g3a86323efb1_1_378"/>
          <p:cNvSpPr/>
          <p:nvPr/>
        </p:nvSpPr>
        <p:spPr>
          <a:xfrm>
            <a:off x="610819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0.93</a:t>
            </a:r>
            <a:endParaRPr b="0" i="0" sz="1500" u="none" cap="none" strike="noStrike">
              <a:solidFill>
                <a:schemeClr val="dk1"/>
              </a:solidFill>
              <a:latin typeface="Calibri"/>
              <a:ea typeface="Calibri"/>
              <a:cs typeface="Calibri"/>
              <a:sym typeface="Calibri"/>
            </a:endParaRPr>
          </a:p>
        </p:txBody>
      </p:sp>
      <p:sp>
        <p:nvSpPr>
          <p:cNvPr id="1006" name="Google Shape;1006;g3a86323efb1_1_378"/>
          <p:cNvSpPr/>
          <p:nvPr/>
        </p:nvSpPr>
        <p:spPr>
          <a:xfrm>
            <a:off x="7741920" y="4547616"/>
            <a:ext cx="1646100" cy="463200"/>
          </a:xfrm>
          <a:prstGeom prst="rect">
            <a:avLst/>
          </a:prstGeom>
          <a:solidFill>
            <a:srgbClr val="EFF6FF"/>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7" name="Google Shape;1007;g3a86323efb1_1_378"/>
          <p:cNvSpPr/>
          <p:nvPr/>
        </p:nvSpPr>
        <p:spPr>
          <a:xfrm>
            <a:off x="7815072" y="454761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74</a:t>
            </a:r>
            <a:endParaRPr b="0" i="0" sz="1500" u="none" cap="none" strike="noStrike">
              <a:solidFill>
                <a:schemeClr val="dk1"/>
              </a:solidFill>
              <a:latin typeface="Calibri"/>
              <a:ea typeface="Calibri"/>
              <a:cs typeface="Calibri"/>
              <a:sym typeface="Calibri"/>
            </a:endParaRPr>
          </a:p>
        </p:txBody>
      </p:sp>
      <p:sp>
        <p:nvSpPr>
          <p:cNvPr id="1008" name="Google Shape;1008;g3a86323efb1_1_378"/>
          <p:cNvSpPr/>
          <p:nvPr/>
        </p:nvSpPr>
        <p:spPr>
          <a:xfrm>
            <a:off x="426720" y="5035296"/>
            <a:ext cx="21336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9" name="Google Shape;1009;g3a86323efb1_1_378"/>
          <p:cNvSpPr/>
          <p:nvPr/>
        </p:nvSpPr>
        <p:spPr>
          <a:xfrm>
            <a:off x="499872" y="503529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Muertos (1)</a:t>
            </a:r>
            <a:endParaRPr b="0" i="0" sz="1500" u="none" cap="none" strike="noStrike">
              <a:solidFill>
                <a:schemeClr val="dk1"/>
              </a:solidFill>
              <a:latin typeface="Calibri"/>
              <a:ea typeface="Calibri"/>
              <a:cs typeface="Calibri"/>
              <a:sym typeface="Calibri"/>
            </a:endParaRPr>
          </a:p>
        </p:txBody>
      </p:sp>
      <p:sp>
        <p:nvSpPr>
          <p:cNvPr id="1010" name="Google Shape;1010;g3a86323efb1_1_378"/>
          <p:cNvSpPr/>
          <p:nvPr/>
        </p:nvSpPr>
        <p:spPr>
          <a:xfrm>
            <a:off x="262128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1" name="Google Shape;1011;g3a86323efb1_1_378"/>
          <p:cNvSpPr/>
          <p:nvPr/>
        </p:nvSpPr>
        <p:spPr>
          <a:xfrm>
            <a:off x="269443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1.00</a:t>
            </a:r>
            <a:endParaRPr b="0" i="0" sz="1500" u="none" cap="none" strike="noStrike">
              <a:solidFill>
                <a:schemeClr val="dk1"/>
              </a:solidFill>
              <a:latin typeface="Calibri"/>
              <a:ea typeface="Calibri"/>
              <a:cs typeface="Calibri"/>
              <a:sym typeface="Calibri"/>
            </a:endParaRPr>
          </a:p>
        </p:txBody>
      </p:sp>
      <p:sp>
        <p:nvSpPr>
          <p:cNvPr id="1012" name="Google Shape;1012;g3a86323efb1_1_378"/>
          <p:cNvSpPr/>
          <p:nvPr/>
        </p:nvSpPr>
        <p:spPr>
          <a:xfrm>
            <a:off x="432816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3" name="Google Shape;1013;g3a86323efb1_1_378"/>
          <p:cNvSpPr/>
          <p:nvPr/>
        </p:nvSpPr>
        <p:spPr>
          <a:xfrm>
            <a:off x="440131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0.58</a:t>
            </a:r>
            <a:endParaRPr b="0" i="0" sz="1500" u="none" cap="none" strike="noStrike">
              <a:solidFill>
                <a:schemeClr val="dk1"/>
              </a:solidFill>
              <a:latin typeface="Calibri"/>
              <a:ea typeface="Calibri"/>
              <a:cs typeface="Calibri"/>
              <a:sym typeface="Calibri"/>
            </a:endParaRPr>
          </a:p>
        </p:txBody>
      </p:sp>
      <p:sp>
        <p:nvSpPr>
          <p:cNvPr id="1014" name="Google Shape;1014;g3a86323efb1_1_378"/>
          <p:cNvSpPr/>
          <p:nvPr/>
        </p:nvSpPr>
        <p:spPr>
          <a:xfrm>
            <a:off x="603504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5" name="Google Shape;1015;g3a86323efb1_1_378"/>
          <p:cNvSpPr/>
          <p:nvPr/>
        </p:nvSpPr>
        <p:spPr>
          <a:xfrm>
            <a:off x="610819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0.73</a:t>
            </a:r>
            <a:endParaRPr b="0" i="0" sz="1500" u="none" cap="none" strike="noStrike">
              <a:solidFill>
                <a:schemeClr val="dk1"/>
              </a:solidFill>
              <a:latin typeface="Calibri"/>
              <a:ea typeface="Calibri"/>
              <a:cs typeface="Calibri"/>
              <a:sym typeface="Calibri"/>
            </a:endParaRPr>
          </a:p>
        </p:txBody>
      </p:sp>
      <p:sp>
        <p:nvSpPr>
          <p:cNvPr id="1016" name="Google Shape;1016;g3a86323efb1_1_378"/>
          <p:cNvSpPr/>
          <p:nvPr/>
        </p:nvSpPr>
        <p:spPr>
          <a:xfrm>
            <a:off x="7741920" y="5035296"/>
            <a:ext cx="1646100" cy="463200"/>
          </a:xfrm>
          <a:prstGeom prst="rect">
            <a:avLst/>
          </a:prstGeom>
          <a:solidFill>
            <a:srgbClr val="FEE2E2"/>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7" name="Google Shape;1017;g3a86323efb1_1_378"/>
          <p:cNvSpPr/>
          <p:nvPr/>
        </p:nvSpPr>
        <p:spPr>
          <a:xfrm>
            <a:off x="7815072" y="503529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500" u="none" cap="none" strike="noStrike">
                <a:solidFill>
                  <a:srgbClr val="1E293B"/>
                </a:solidFill>
                <a:latin typeface="Calibri"/>
                <a:ea typeface="Calibri"/>
                <a:cs typeface="Calibri"/>
                <a:sym typeface="Calibri"/>
              </a:rPr>
              <a:t>26</a:t>
            </a:r>
            <a:endParaRPr b="0" i="0" sz="1500" u="none" cap="none" strike="noStrike">
              <a:solidFill>
                <a:schemeClr val="dk1"/>
              </a:solidFill>
              <a:latin typeface="Calibri"/>
              <a:ea typeface="Calibri"/>
              <a:cs typeface="Calibri"/>
              <a:sym typeface="Calibri"/>
            </a:endParaRPr>
          </a:p>
        </p:txBody>
      </p:sp>
      <p:sp>
        <p:nvSpPr>
          <p:cNvPr id="1018" name="Google Shape;1018;g3a86323efb1_1_378"/>
          <p:cNvSpPr/>
          <p:nvPr/>
        </p:nvSpPr>
        <p:spPr>
          <a:xfrm>
            <a:off x="426720" y="5522976"/>
            <a:ext cx="21336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9" name="Google Shape;1019;g3a86323efb1_1_378"/>
          <p:cNvSpPr/>
          <p:nvPr/>
        </p:nvSpPr>
        <p:spPr>
          <a:xfrm>
            <a:off x="499872" y="5522976"/>
            <a:ext cx="20115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C2951"/>
              </a:buClr>
              <a:buSzPts val="1500"/>
              <a:buFont typeface="Calibri"/>
              <a:buNone/>
            </a:pPr>
            <a:r>
              <a:rPr b="1" i="0" lang="en-US" sz="1500" u="none" cap="none" strike="noStrike">
                <a:solidFill>
                  <a:srgbClr val="1C2951"/>
                </a:solidFill>
                <a:latin typeface="Calibri"/>
                <a:ea typeface="Calibri"/>
                <a:cs typeface="Calibri"/>
                <a:sym typeface="Calibri"/>
              </a:rPr>
              <a:t>Accuracy</a:t>
            </a:r>
            <a:endParaRPr b="0" i="0" sz="1500" u="none" cap="none" strike="noStrike">
              <a:solidFill>
                <a:schemeClr val="dk1"/>
              </a:solidFill>
              <a:latin typeface="Calibri"/>
              <a:ea typeface="Calibri"/>
              <a:cs typeface="Calibri"/>
              <a:sym typeface="Calibri"/>
            </a:endParaRPr>
          </a:p>
        </p:txBody>
      </p:sp>
      <p:sp>
        <p:nvSpPr>
          <p:cNvPr id="1020" name="Google Shape;1020;g3a86323efb1_1_378"/>
          <p:cNvSpPr/>
          <p:nvPr/>
        </p:nvSpPr>
        <p:spPr>
          <a:xfrm>
            <a:off x="262128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1" name="Google Shape;1021;g3a86323efb1_1_378"/>
          <p:cNvSpPr/>
          <p:nvPr/>
        </p:nvSpPr>
        <p:spPr>
          <a:xfrm>
            <a:off x="269443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022" name="Google Shape;1022;g3a86323efb1_1_378"/>
          <p:cNvSpPr/>
          <p:nvPr/>
        </p:nvSpPr>
        <p:spPr>
          <a:xfrm>
            <a:off x="432816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3" name="Google Shape;1023;g3a86323efb1_1_378"/>
          <p:cNvSpPr/>
          <p:nvPr/>
        </p:nvSpPr>
        <p:spPr>
          <a:xfrm>
            <a:off x="440131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1024" name="Google Shape;1024;g3a86323efb1_1_378"/>
          <p:cNvSpPr/>
          <p:nvPr/>
        </p:nvSpPr>
        <p:spPr>
          <a:xfrm>
            <a:off x="603504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5" name="Google Shape;1025;g3a86323efb1_1_378"/>
          <p:cNvSpPr/>
          <p:nvPr/>
        </p:nvSpPr>
        <p:spPr>
          <a:xfrm>
            <a:off x="610819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0.89</a:t>
            </a:r>
            <a:endParaRPr b="0" i="0" sz="1500" u="none" cap="none" strike="noStrike">
              <a:solidFill>
                <a:schemeClr val="dk1"/>
              </a:solidFill>
              <a:latin typeface="Calibri"/>
              <a:ea typeface="Calibri"/>
              <a:cs typeface="Calibri"/>
              <a:sym typeface="Calibri"/>
            </a:endParaRPr>
          </a:p>
        </p:txBody>
      </p:sp>
      <p:sp>
        <p:nvSpPr>
          <p:cNvPr id="1026" name="Google Shape;1026;g3a86323efb1_1_378"/>
          <p:cNvSpPr/>
          <p:nvPr/>
        </p:nvSpPr>
        <p:spPr>
          <a:xfrm>
            <a:off x="7741920" y="5522976"/>
            <a:ext cx="1646100" cy="463200"/>
          </a:xfrm>
          <a:prstGeom prst="rect">
            <a:avLst/>
          </a:prstGeom>
          <a:solidFill>
            <a:srgbClr val="F8FAFC"/>
          </a:solidFill>
          <a:ln cap="flat" cmpd="sng" w="12700">
            <a:solidFill>
              <a:srgbClr val="E2E8F0"/>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7" name="Google Shape;1027;g3a86323efb1_1_378"/>
          <p:cNvSpPr/>
          <p:nvPr/>
        </p:nvSpPr>
        <p:spPr>
          <a:xfrm>
            <a:off x="7815072" y="5522976"/>
            <a:ext cx="1524000" cy="4632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1" i="0" lang="en-US" sz="1500" u="none" cap="none" strike="noStrike">
                <a:solidFill>
                  <a:srgbClr val="1E293B"/>
                </a:solidFill>
                <a:latin typeface="Calibri"/>
                <a:ea typeface="Calibri"/>
                <a:cs typeface="Calibri"/>
                <a:sym typeface="Calibri"/>
              </a:rPr>
              <a:t>100</a:t>
            </a:r>
            <a:endParaRPr b="0" i="0" sz="1500" u="none" cap="none" strike="noStrike">
              <a:solidFill>
                <a:schemeClr val="dk1"/>
              </a:solidFill>
              <a:latin typeface="Calibri"/>
              <a:ea typeface="Calibri"/>
              <a:cs typeface="Calibri"/>
              <a:sym typeface="Calibri"/>
            </a:endParaRPr>
          </a:p>
        </p:txBody>
      </p:sp>
      <p:sp>
        <p:nvSpPr>
          <p:cNvPr id="1028" name="Google Shape;1028;g3a86323efb1_1_378"/>
          <p:cNvSpPr/>
          <p:nvPr/>
        </p:nvSpPr>
        <p:spPr>
          <a:xfrm>
            <a:off x="9570720" y="3998976"/>
            <a:ext cx="2255700" cy="4632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C2951"/>
              </a:buClr>
              <a:buSzPts val="1300"/>
              <a:buFont typeface="Calibri"/>
              <a:buNone/>
            </a:pPr>
            <a:r>
              <a:rPr b="1" i="0" lang="en-US" sz="1300" u="none" cap="none" strike="noStrike">
                <a:solidFill>
                  <a:srgbClr val="1C2951"/>
                </a:solidFill>
                <a:latin typeface="Calibri"/>
                <a:ea typeface="Calibri"/>
                <a:cs typeface="Calibri"/>
                <a:sym typeface="Calibri"/>
              </a:rPr>
              <a:t>Top Variables</a:t>
            </a:r>
            <a:endParaRPr b="0" i="0" sz="1300" u="none" cap="none" strike="noStrike">
              <a:solidFill>
                <a:schemeClr val="dk1"/>
              </a:solidFill>
              <a:latin typeface="Calibri"/>
              <a:ea typeface="Calibri"/>
              <a:cs typeface="Calibri"/>
              <a:sym typeface="Calibri"/>
            </a:endParaRPr>
          </a:p>
        </p:txBody>
      </p:sp>
      <p:sp>
        <p:nvSpPr>
          <p:cNvPr id="1029" name="Google Shape;1029;g3a86323efb1_1_378"/>
          <p:cNvSpPr/>
          <p:nvPr/>
        </p:nvSpPr>
        <p:spPr>
          <a:xfrm>
            <a:off x="9570720" y="4547616"/>
            <a:ext cx="585300" cy="402300"/>
          </a:xfrm>
          <a:prstGeom prst="rect">
            <a:avLst/>
          </a:prstGeom>
          <a:solidFill>
            <a:srgbClr val="FEE2E2"/>
          </a:solidFill>
          <a:ln cap="flat" cmpd="sng" w="16925">
            <a:solidFill>
              <a:srgbClr val="991B1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0" name="Google Shape;1030;g3a86323efb1_1_378"/>
          <p:cNvSpPr/>
          <p:nvPr/>
        </p:nvSpPr>
        <p:spPr>
          <a:xfrm>
            <a:off x="9570720" y="4547616"/>
            <a:ext cx="5853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1B1B"/>
              </a:buClr>
              <a:buSzPts val="1100"/>
              <a:buFont typeface="Calibri"/>
              <a:buNone/>
            </a:pPr>
            <a:r>
              <a:rPr b="1" i="0" lang="en-US" sz="1100" u="none" cap="none" strike="noStrike">
                <a:solidFill>
                  <a:srgbClr val="991B1B"/>
                </a:solidFill>
                <a:latin typeface="Calibri"/>
                <a:ea typeface="Calibri"/>
                <a:cs typeface="Calibri"/>
                <a:sym typeface="Calibri"/>
              </a:rPr>
              <a:t>+5.69</a:t>
            </a:r>
            <a:endParaRPr b="0" i="0" sz="1100" u="none" cap="none" strike="noStrike">
              <a:solidFill>
                <a:schemeClr val="dk1"/>
              </a:solidFill>
              <a:latin typeface="Calibri"/>
              <a:ea typeface="Calibri"/>
              <a:cs typeface="Calibri"/>
              <a:sym typeface="Calibri"/>
            </a:endParaRPr>
          </a:p>
        </p:txBody>
      </p:sp>
      <p:sp>
        <p:nvSpPr>
          <p:cNvPr id="1031" name="Google Shape;1031;g3a86323efb1_1_378"/>
          <p:cNvSpPr/>
          <p:nvPr/>
        </p:nvSpPr>
        <p:spPr>
          <a:xfrm>
            <a:off x="10204704" y="4547616"/>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Mes</a:t>
            </a:r>
            <a:endParaRPr b="0" i="0" sz="1100" u="none" cap="none" strike="noStrike">
              <a:solidFill>
                <a:schemeClr val="dk1"/>
              </a:solidFill>
              <a:latin typeface="Calibri"/>
              <a:ea typeface="Calibri"/>
              <a:cs typeface="Calibri"/>
              <a:sym typeface="Calibri"/>
            </a:endParaRPr>
          </a:p>
        </p:txBody>
      </p:sp>
      <p:sp>
        <p:nvSpPr>
          <p:cNvPr id="1032" name="Google Shape;1032;g3a86323efb1_1_378"/>
          <p:cNvSpPr/>
          <p:nvPr/>
        </p:nvSpPr>
        <p:spPr>
          <a:xfrm>
            <a:off x="9570720" y="5010912"/>
            <a:ext cx="585300" cy="402300"/>
          </a:xfrm>
          <a:prstGeom prst="rect">
            <a:avLst/>
          </a:prstGeom>
          <a:solidFill>
            <a:srgbClr val="FEE2E2"/>
          </a:solidFill>
          <a:ln cap="flat" cmpd="sng" w="16925">
            <a:solidFill>
              <a:srgbClr val="991B1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3" name="Google Shape;1033;g3a86323efb1_1_378"/>
          <p:cNvSpPr/>
          <p:nvPr/>
        </p:nvSpPr>
        <p:spPr>
          <a:xfrm>
            <a:off x="9570720" y="5010912"/>
            <a:ext cx="5853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1B1B"/>
              </a:buClr>
              <a:buSzPts val="1100"/>
              <a:buFont typeface="Calibri"/>
              <a:buNone/>
            </a:pPr>
            <a:r>
              <a:rPr b="1" i="0" lang="en-US" sz="1100" u="none" cap="none" strike="noStrike">
                <a:solidFill>
                  <a:srgbClr val="991B1B"/>
                </a:solidFill>
                <a:latin typeface="Calibri"/>
                <a:ea typeface="Calibri"/>
                <a:cs typeface="Calibri"/>
                <a:sym typeface="Calibri"/>
              </a:rPr>
              <a:t>+1.42</a:t>
            </a:r>
            <a:endParaRPr b="0" i="0" sz="1100" u="none" cap="none" strike="noStrike">
              <a:solidFill>
                <a:schemeClr val="dk1"/>
              </a:solidFill>
              <a:latin typeface="Calibri"/>
              <a:ea typeface="Calibri"/>
              <a:cs typeface="Calibri"/>
              <a:sym typeface="Calibri"/>
            </a:endParaRPr>
          </a:p>
        </p:txBody>
      </p:sp>
      <p:sp>
        <p:nvSpPr>
          <p:cNvPr id="1034" name="Google Shape;1034;g3a86323efb1_1_378"/>
          <p:cNvSpPr/>
          <p:nvPr/>
        </p:nvSpPr>
        <p:spPr>
          <a:xfrm>
            <a:off x="10204704" y="5010912"/>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Edad</a:t>
            </a:r>
            <a:endParaRPr b="0" i="0" sz="1100" u="none" cap="none" strike="noStrike">
              <a:solidFill>
                <a:schemeClr val="dk1"/>
              </a:solidFill>
              <a:latin typeface="Calibri"/>
              <a:ea typeface="Calibri"/>
              <a:cs typeface="Calibri"/>
              <a:sym typeface="Calibri"/>
            </a:endParaRPr>
          </a:p>
        </p:txBody>
      </p:sp>
      <p:sp>
        <p:nvSpPr>
          <p:cNvPr id="1035" name="Google Shape;1035;g3a86323efb1_1_378"/>
          <p:cNvSpPr/>
          <p:nvPr/>
        </p:nvSpPr>
        <p:spPr>
          <a:xfrm>
            <a:off x="9570720" y="5474208"/>
            <a:ext cx="585300" cy="402300"/>
          </a:xfrm>
          <a:prstGeom prst="rect">
            <a:avLst/>
          </a:prstGeom>
          <a:solidFill>
            <a:srgbClr val="FEE2E2"/>
          </a:solidFill>
          <a:ln cap="flat" cmpd="sng" w="16925">
            <a:solidFill>
              <a:srgbClr val="991B1B"/>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6" name="Google Shape;1036;g3a86323efb1_1_378"/>
          <p:cNvSpPr/>
          <p:nvPr/>
        </p:nvSpPr>
        <p:spPr>
          <a:xfrm>
            <a:off x="9570720" y="5474208"/>
            <a:ext cx="5853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991B1B"/>
              </a:buClr>
              <a:buSzPts val="1100"/>
              <a:buFont typeface="Calibri"/>
              <a:buNone/>
            </a:pPr>
            <a:r>
              <a:rPr b="1" i="0" lang="en-US" sz="1100" u="none" cap="none" strike="noStrike">
                <a:solidFill>
                  <a:srgbClr val="991B1B"/>
                </a:solidFill>
                <a:latin typeface="Calibri"/>
                <a:ea typeface="Calibri"/>
                <a:cs typeface="Calibri"/>
                <a:sym typeface="Calibri"/>
              </a:rPr>
              <a:t>+1.07</a:t>
            </a:r>
            <a:endParaRPr b="0" i="0" sz="1100" u="none" cap="none" strike="noStrike">
              <a:solidFill>
                <a:schemeClr val="dk1"/>
              </a:solidFill>
              <a:latin typeface="Calibri"/>
              <a:ea typeface="Calibri"/>
              <a:cs typeface="Calibri"/>
              <a:sym typeface="Calibri"/>
            </a:endParaRPr>
          </a:p>
        </p:txBody>
      </p:sp>
      <p:sp>
        <p:nvSpPr>
          <p:cNvPr id="1037" name="Google Shape;1037;g3a86323efb1_1_378"/>
          <p:cNvSpPr/>
          <p:nvPr/>
        </p:nvSpPr>
        <p:spPr>
          <a:xfrm>
            <a:off x="10204704" y="5474208"/>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Sector Industrial</a:t>
            </a:r>
            <a:endParaRPr b="0" i="0" sz="1100" u="none" cap="none" strike="noStrike">
              <a:solidFill>
                <a:schemeClr val="dk1"/>
              </a:solidFill>
              <a:latin typeface="Calibri"/>
              <a:ea typeface="Calibri"/>
              <a:cs typeface="Calibri"/>
              <a:sym typeface="Calibri"/>
            </a:endParaRPr>
          </a:p>
        </p:txBody>
      </p:sp>
      <p:sp>
        <p:nvSpPr>
          <p:cNvPr id="1038" name="Google Shape;1038;g3a86323efb1_1_378"/>
          <p:cNvSpPr/>
          <p:nvPr/>
        </p:nvSpPr>
        <p:spPr>
          <a:xfrm>
            <a:off x="9570720" y="5937504"/>
            <a:ext cx="585300" cy="402300"/>
          </a:xfrm>
          <a:prstGeom prst="rect">
            <a:avLst/>
          </a:prstGeom>
          <a:solidFill>
            <a:srgbClr val="DCFCE7"/>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9" name="Google Shape;1039;g3a86323efb1_1_378"/>
          <p:cNvSpPr/>
          <p:nvPr/>
        </p:nvSpPr>
        <p:spPr>
          <a:xfrm>
            <a:off x="9570720" y="5937504"/>
            <a:ext cx="5853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1100"/>
              <a:buFont typeface="Calibri"/>
              <a:buNone/>
            </a:pPr>
            <a:r>
              <a:rPr b="1" i="0" lang="en-US" sz="1100" u="none" cap="none" strike="noStrike">
                <a:solidFill>
                  <a:srgbClr val="166534"/>
                </a:solidFill>
                <a:latin typeface="Calibri"/>
                <a:ea typeface="Calibri"/>
                <a:cs typeface="Calibri"/>
                <a:sym typeface="Calibri"/>
              </a:rPr>
              <a:t>−1.29</a:t>
            </a:r>
            <a:endParaRPr b="0" i="0" sz="1100" u="none" cap="none" strike="noStrike">
              <a:solidFill>
                <a:schemeClr val="dk1"/>
              </a:solidFill>
              <a:latin typeface="Calibri"/>
              <a:ea typeface="Calibri"/>
              <a:cs typeface="Calibri"/>
              <a:sym typeface="Calibri"/>
            </a:endParaRPr>
          </a:p>
        </p:txBody>
      </p:sp>
      <p:sp>
        <p:nvSpPr>
          <p:cNvPr id="1040" name="Google Shape;1040;g3a86323efb1_1_378"/>
          <p:cNvSpPr/>
          <p:nvPr/>
        </p:nvSpPr>
        <p:spPr>
          <a:xfrm>
            <a:off x="10204704" y="5937504"/>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Sector Residencial</a:t>
            </a:r>
            <a:endParaRPr b="0" i="0" sz="1100" u="none" cap="none" strike="noStrike">
              <a:solidFill>
                <a:schemeClr val="dk1"/>
              </a:solidFill>
              <a:latin typeface="Calibri"/>
              <a:ea typeface="Calibri"/>
              <a:cs typeface="Calibri"/>
              <a:sym typeface="Calibri"/>
            </a:endParaRPr>
          </a:p>
        </p:txBody>
      </p:sp>
      <p:sp>
        <p:nvSpPr>
          <p:cNvPr id="1041" name="Google Shape;1041;g3a86323efb1_1_378"/>
          <p:cNvSpPr/>
          <p:nvPr/>
        </p:nvSpPr>
        <p:spPr>
          <a:xfrm>
            <a:off x="9570720" y="6400800"/>
            <a:ext cx="585300" cy="402300"/>
          </a:xfrm>
          <a:prstGeom prst="rect">
            <a:avLst/>
          </a:prstGeom>
          <a:solidFill>
            <a:srgbClr val="DCFCE7"/>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2" name="Google Shape;1042;g3a86323efb1_1_378"/>
          <p:cNvSpPr/>
          <p:nvPr/>
        </p:nvSpPr>
        <p:spPr>
          <a:xfrm>
            <a:off x="9570720" y="6400800"/>
            <a:ext cx="585300" cy="402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166534"/>
              </a:buClr>
              <a:buSzPts val="1100"/>
              <a:buFont typeface="Calibri"/>
              <a:buNone/>
            </a:pPr>
            <a:r>
              <a:rPr b="1" i="0" lang="en-US" sz="1100" u="none" cap="none" strike="noStrike">
                <a:solidFill>
                  <a:srgbClr val="166534"/>
                </a:solidFill>
                <a:latin typeface="Calibri"/>
                <a:ea typeface="Calibri"/>
                <a:cs typeface="Calibri"/>
                <a:sym typeface="Calibri"/>
              </a:rPr>
              <a:t>−0.76</a:t>
            </a:r>
            <a:endParaRPr b="0" i="0" sz="1100" u="none" cap="none" strike="noStrike">
              <a:solidFill>
                <a:schemeClr val="dk1"/>
              </a:solidFill>
              <a:latin typeface="Calibri"/>
              <a:ea typeface="Calibri"/>
              <a:cs typeface="Calibri"/>
              <a:sym typeface="Calibri"/>
            </a:endParaRPr>
          </a:p>
        </p:txBody>
      </p:sp>
      <p:sp>
        <p:nvSpPr>
          <p:cNvPr id="1043" name="Google Shape;1043;g3a86323efb1_1_378"/>
          <p:cNvSpPr/>
          <p:nvPr/>
        </p:nvSpPr>
        <p:spPr>
          <a:xfrm>
            <a:off x="10204704" y="6400800"/>
            <a:ext cx="1646100" cy="4023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Día </a:t>
            </a:r>
            <a:r>
              <a:rPr b="0" i="0" lang="en-US" sz="1100" u="none" cap="none" strike="noStrike">
                <a:solidFill>
                  <a:srgbClr val="1E293B"/>
                </a:solidFill>
                <a:latin typeface="Calibri"/>
                <a:ea typeface="Calibri"/>
                <a:cs typeface="Calibri"/>
                <a:sym typeface="Calibri"/>
              </a:rPr>
              <a:t>Martes</a:t>
            </a:r>
            <a:endParaRPr b="0" i="0" sz="1100" u="none" cap="none" strike="noStrike">
              <a:solidFill>
                <a:schemeClr val="dk1"/>
              </a:solidFill>
              <a:latin typeface="Calibri"/>
              <a:ea typeface="Calibri"/>
              <a:cs typeface="Calibri"/>
              <a:sym typeface="Calibri"/>
            </a:endParaRPr>
          </a:p>
        </p:txBody>
      </p:sp>
      <p:grpSp>
        <p:nvGrpSpPr>
          <p:cNvPr id="1044" name="Google Shape;1044;g3a86323efb1_1_378"/>
          <p:cNvGrpSpPr/>
          <p:nvPr/>
        </p:nvGrpSpPr>
        <p:grpSpPr>
          <a:xfrm>
            <a:off x="9232000" y="407675"/>
            <a:ext cx="2557800" cy="409200"/>
            <a:chOff x="609600" y="304800"/>
            <a:chExt cx="2557800" cy="409200"/>
          </a:xfrm>
        </p:grpSpPr>
        <p:sp>
          <p:nvSpPr>
            <p:cNvPr id="1045" name="Google Shape;1045;g3a86323efb1_1_378"/>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100"/>
            </a:p>
          </p:txBody>
        </p:sp>
        <p:sp>
          <p:nvSpPr>
            <p:cNvPr id="1046" name="Google Shape;1046;g3a86323efb1_1_378"/>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1959">
                  <a:solidFill>
                    <a:srgbClr val="FFFFFF"/>
                  </a:solidFill>
                  <a:latin typeface="Calibri"/>
                  <a:ea typeface="Calibri"/>
                  <a:cs typeface="Calibri"/>
                  <a:sym typeface="Calibri"/>
                </a:rPr>
                <a:t>Regresion Logistica</a:t>
              </a:r>
              <a:endParaRPr b="0" i="0" sz="1959" u="none" cap="none" strike="noStrike">
                <a:solidFill>
                  <a:schemeClr val="dk1"/>
                </a:solidFill>
                <a:latin typeface="Calibri"/>
                <a:ea typeface="Calibri"/>
                <a:cs typeface="Calibri"/>
                <a:sym typeface="Calibri"/>
              </a:endParaRPr>
            </a:p>
          </p:txBody>
        </p:sp>
      </p:grpSp>
      <p:sp>
        <p:nvSpPr>
          <p:cNvPr id="1047" name="Google Shape;1047;g3a86323efb1_1_378"/>
          <p:cNvSpPr/>
          <p:nvPr/>
        </p:nvSpPr>
        <p:spPr>
          <a:xfrm>
            <a:off x="3735662" y="5876501"/>
            <a:ext cx="2658000" cy="10971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0E7490"/>
              </a:buClr>
              <a:buSzPts val="5300"/>
              <a:buFont typeface="Calibri"/>
              <a:buNone/>
            </a:pPr>
            <a:r>
              <a:rPr b="1" lang="en-US" sz="3200">
                <a:solidFill>
                  <a:srgbClr val="0E7490"/>
                </a:solidFill>
                <a:latin typeface="Calibri"/>
                <a:ea typeface="Calibri"/>
                <a:cs typeface="Calibri"/>
                <a:sym typeface="Calibri"/>
              </a:rPr>
              <a:t>15/26</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137"/>
        </a:solidFill>
      </p:bgPr>
    </p:bg>
    <p:spTree>
      <p:nvGrpSpPr>
        <p:cNvPr id="1052" name="Shape 1052"/>
        <p:cNvGrpSpPr/>
        <p:nvPr/>
      </p:nvGrpSpPr>
      <p:grpSpPr>
        <a:xfrm>
          <a:off x="0" y="0"/>
          <a:ext cx="0" cy="0"/>
          <a:chOff x="0" y="0"/>
          <a:chExt cx="0" cy="0"/>
        </a:xfrm>
      </p:grpSpPr>
      <p:sp>
        <p:nvSpPr>
          <p:cNvPr id="1053" name="Google Shape;1053;p22"/>
          <p:cNvSpPr/>
          <p:nvPr/>
        </p:nvSpPr>
        <p:spPr>
          <a:xfrm>
            <a:off x="148200" y="498850"/>
            <a:ext cx="8157000" cy="6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3467" u="none" cap="none" strike="noStrike">
                <a:solidFill>
                  <a:srgbClr val="FFFFFF"/>
                </a:solidFill>
                <a:latin typeface="Georgia"/>
                <a:ea typeface="Georgia"/>
                <a:cs typeface="Georgia"/>
                <a:sym typeface="Georgia"/>
              </a:rPr>
              <a:t>Matriz de Confusión y Curva ROC</a:t>
            </a:r>
            <a:endParaRPr b="0" i="0" sz="3467" u="none" cap="none" strike="noStrike">
              <a:solidFill>
                <a:srgbClr val="000000"/>
              </a:solidFill>
              <a:latin typeface="Calibri"/>
              <a:ea typeface="Calibri"/>
              <a:cs typeface="Calibri"/>
              <a:sym typeface="Calibri"/>
            </a:endParaRPr>
          </a:p>
        </p:txBody>
      </p:sp>
      <p:graphicFrame>
        <p:nvGraphicFramePr>
          <p:cNvPr id="1054" name="Google Shape;1054;p22"/>
          <p:cNvGraphicFramePr/>
          <p:nvPr/>
        </p:nvGraphicFramePr>
        <p:xfrm>
          <a:off x="288476" y="1861985"/>
          <a:ext cx="3000000" cy="3000000"/>
        </p:xfrm>
        <a:graphic>
          <a:graphicData uri="http://schemas.openxmlformats.org/drawingml/2006/table">
            <a:tbl>
              <a:tblPr>
                <a:noFill/>
                <a:tableStyleId>{38C2099B-79C9-4A69-BC85-5F42607CA374}</a:tableStyleId>
              </a:tblPr>
              <a:tblGrid>
                <a:gridCol w="1721125"/>
                <a:gridCol w="2213250"/>
                <a:gridCol w="2161125"/>
              </a:tblGrid>
              <a:tr h="962650">
                <a:tc>
                  <a:txBody>
                    <a:bodyPr/>
                    <a:lstStyle/>
                    <a:p>
                      <a:pPr indent="0" lvl="0" marL="0" marR="0" rtl="0" algn="l">
                        <a:spcBef>
                          <a:spcPts val="0"/>
                        </a:spcBef>
                        <a:spcAft>
                          <a:spcPts val="0"/>
                        </a:spcAft>
                        <a:buClr>
                          <a:schemeClr val="dk1"/>
                        </a:buClr>
                        <a:buSzPts val="1600"/>
                        <a:buFont typeface="Calibri"/>
                        <a:buNone/>
                      </a:pPr>
                      <a:r>
                        <a:t/>
                      </a:r>
                      <a:endParaRPr sz="1600" u="none" cap="none" strike="noStrike"/>
                    </a:p>
                  </a:txBody>
                  <a:tcPr marT="60950" marB="60950" marR="121925" marL="121925">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b="1" lang="en-US" sz="1600" u="none" cap="none" strike="noStrike">
                          <a:solidFill>
                            <a:srgbClr val="FFFFFF"/>
                          </a:solidFill>
                        </a:rPr>
                        <a:t>Pred.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r>
              <a:tr h="1452075">
                <a:tc>
                  <a:txBody>
                    <a:bodyPr/>
                    <a:lstStyle/>
                    <a:p>
                      <a:pPr indent="0" lvl="0" marL="0" marR="0" rtl="0" algn="ctr">
                        <a:spcBef>
                          <a:spcPts val="0"/>
                        </a:spcBef>
                        <a:spcAft>
                          <a:spcPts val="0"/>
                        </a:spcAft>
                        <a:buClr>
                          <a:srgbClr val="5EEAD4"/>
                        </a:buClr>
                        <a:buSzPts val="1600"/>
                        <a:buFont typeface="Calibri"/>
                        <a:buNone/>
                      </a:pPr>
                      <a:r>
                        <a:rPr b="1" lang="en-US" sz="1600" u="none" cap="none" strike="noStrike">
                          <a:solidFill>
                            <a:srgbClr val="5EEAD4"/>
                          </a:solidFill>
                        </a:rPr>
                        <a:t>Real Heridos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7</a:t>
                      </a:r>
                      <a:r>
                        <a:rPr lang="en-US" sz="1600">
                          <a:solidFill>
                            <a:srgbClr val="FFFFFF"/>
                          </a:solidFill>
                        </a:rPr>
                        <a:t>4</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0</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Positivos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3A2A0D"/>
                    </a:solidFill>
                  </a:tcPr>
                </a:tc>
              </a:tr>
              <a:tr h="1452075">
                <a:tc>
                  <a:txBody>
                    <a:bodyPr/>
                    <a:lstStyle/>
                    <a:p>
                      <a:pPr indent="0" lvl="0" marL="0" marR="0" rtl="0" algn="ctr">
                        <a:spcBef>
                          <a:spcPts val="0"/>
                        </a:spcBef>
                        <a:spcAft>
                          <a:spcPts val="0"/>
                        </a:spcAft>
                        <a:buClr>
                          <a:srgbClr val="E84C4C"/>
                        </a:buClr>
                        <a:buSzPts val="1600"/>
                        <a:buFont typeface="Calibri"/>
                        <a:buNone/>
                      </a:pPr>
                      <a:r>
                        <a:rPr b="1" lang="en-US" sz="1600" u="none" cap="none" strike="noStrike">
                          <a:solidFill>
                            <a:srgbClr val="E84C4C"/>
                          </a:solidFill>
                        </a:rPr>
                        <a:t>Real Muertos</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1A3A5C"/>
                    </a:solidFill>
                  </a:tcPr>
                </a:tc>
                <a:tc>
                  <a:txBody>
                    <a:bodyPr/>
                    <a:lstStyle/>
                    <a:p>
                      <a:pPr indent="0" lvl="0" marL="0" marR="0" rtl="0" algn="ctr">
                        <a:spcBef>
                          <a:spcPts val="0"/>
                        </a:spcBef>
                        <a:spcAft>
                          <a:spcPts val="0"/>
                        </a:spcAft>
                        <a:buClr>
                          <a:srgbClr val="FFFFFF"/>
                        </a:buClr>
                        <a:buSzPts val="1600"/>
                        <a:buFont typeface="Calibri"/>
                        <a:buNone/>
                      </a:pPr>
                      <a:r>
                        <a:rPr lang="en-US" sz="1600">
                          <a:solidFill>
                            <a:srgbClr val="FFFFFF"/>
                          </a:solidFill>
                        </a:rPr>
                        <a:t>11</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Falsos Negativos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4A1010"/>
                    </a:solidFill>
                  </a:tcPr>
                </a:tc>
                <a:tc>
                  <a:txBody>
                    <a:bodyPr/>
                    <a:lstStyle/>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1</a:t>
                      </a:r>
                      <a:r>
                        <a:rPr lang="en-US" sz="1600">
                          <a:solidFill>
                            <a:srgbClr val="FFFFFF"/>
                          </a:solidFill>
                        </a:rPr>
                        <a:t>5</a:t>
                      </a:r>
                      <a:endParaRPr sz="1600" u="none" cap="none" strike="noStrike"/>
                    </a:p>
                    <a:p>
                      <a:pPr indent="0" lvl="0" marL="0" marR="0" rtl="0" algn="ctr">
                        <a:spcBef>
                          <a:spcPts val="0"/>
                        </a:spcBef>
                        <a:spcAft>
                          <a:spcPts val="0"/>
                        </a:spcAft>
                        <a:buClr>
                          <a:srgbClr val="FFFFFF"/>
                        </a:buClr>
                        <a:buSzPts val="1600"/>
                        <a:buFont typeface="Calibri"/>
                        <a:buNone/>
                      </a:pPr>
                      <a:r>
                        <a:rPr lang="en-US" sz="1600" u="none" cap="none" strike="noStrike">
                          <a:solidFill>
                            <a:srgbClr val="FFFFFF"/>
                          </a:solidFill>
                        </a:rPr>
                        <a:t>Verdaderos Positivos ✅</a:t>
                      </a:r>
                      <a:endParaRPr sz="1600" u="none" cap="none" strike="noStrike"/>
                    </a:p>
                  </a:txBody>
                  <a:tcPr marT="60950" marB="60950" marR="121925" marL="121925" anchor="ctr">
                    <a:lnL cap="flat" cmpd="sng" w="12700">
                      <a:solidFill>
                        <a:srgbClr val="0D9488"/>
                      </a:solidFill>
                      <a:prstDash val="solid"/>
                      <a:round/>
                      <a:headEnd len="sm" w="sm" type="none"/>
                      <a:tailEnd len="sm" w="sm" type="none"/>
                    </a:lnL>
                    <a:lnR cap="flat" cmpd="sng" w="12700">
                      <a:solidFill>
                        <a:srgbClr val="0D9488"/>
                      </a:solidFill>
                      <a:prstDash val="solid"/>
                      <a:round/>
                      <a:headEnd len="sm" w="sm" type="none"/>
                      <a:tailEnd len="sm" w="sm" type="none"/>
                    </a:lnR>
                    <a:lnT cap="flat" cmpd="sng" w="12700">
                      <a:solidFill>
                        <a:srgbClr val="0D9488"/>
                      </a:solidFill>
                      <a:prstDash val="solid"/>
                      <a:round/>
                      <a:headEnd len="sm" w="sm" type="none"/>
                      <a:tailEnd len="sm" w="sm" type="none"/>
                    </a:lnT>
                    <a:lnB cap="flat" cmpd="sng" w="12700">
                      <a:solidFill>
                        <a:srgbClr val="0D9488"/>
                      </a:solidFill>
                      <a:prstDash val="solid"/>
                      <a:round/>
                      <a:headEnd len="sm" w="sm" type="none"/>
                      <a:tailEnd len="sm" w="sm" type="none"/>
                    </a:lnB>
                    <a:solidFill>
                      <a:srgbClr val="0D3A1A"/>
                    </a:solidFill>
                  </a:tcPr>
                </a:tc>
              </a:tr>
            </a:tbl>
          </a:graphicData>
        </a:graphic>
      </p:graphicFrame>
      <p:sp>
        <p:nvSpPr>
          <p:cNvPr id="1055" name="Google Shape;1055;p22"/>
          <p:cNvSpPr/>
          <p:nvPr/>
        </p:nvSpPr>
        <p:spPr>
          <a:xfrm>
            <a:off x="0" y="6156960"/>
            <a:ext cx="12192000" cy="701040"/>
          </a:xfrm>
          <a:prstGeom prst="rect">
            <a:avLst/>
          </a:prstGeom>
          <a:solidFill>
            <a:srgbClr val="1A3A5C"/>
          </a:solidFill>
          <a:ln cap="flat" cmpd="sng" w="12700">
            <a:solidFill>
              <a:srgbClr val="1A3A5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grpSp>
        <p:nvGrpSpPr>
          <p:cNvPr id="1056" name="Google Shape;1056;p22"/>
          <p:cNvGrpSpPr/>
          <p:nvPr/>
        </p:nvGrpSpPr>
        <p:grpSpPr>
          <a:xfrm>
            <a:off x="8778300" y="295275"/>
            <a:ext cx="2557800" cy="409200"/>
            <a:chOff x="609600" y="304800"/>
            <a:chExt cx="2557800" cy="409200"/>
          </a:xfrm>
        </p:grpSpPr>
        <p:sp>
          <p:nvSpPr>
            <p:cNvPr id="1057" name="Google Shape;1057;p22"/>
            <p:cNvSpPr/>
            <p:nvPr/>
          </p:nvSpPr>
          <p:spPr>
            <a:xfrm>
              <a:off x="609600" y="304800"/>
              <a:ext cx="2557800" cy="409200"/>
            </a:xfrm>
            <a:prstGeom prst="rect">
              <a:avLst/>
            </a:prstGeom>
            <a:solidFill>
              <a:srgbClr val="0D9488"/>
            </a:solidFill>
            <a:ln cap="flat" cmpd="sng" w="17750">
              <a:solidFill>
                <a:srgbClr val="0D9488"/>
              </a:solidFill>
              <a:prstDash val="solid"/>
              <a:round/>
              <a:headEnd len="sm" w="sm" type="none"/>
              <a:tailEnd len="sm" w="sm" type="none"/>
            </a:ln>
          </p:spPr>
          <p:txBody>
            <a:bodyPr anchorCtr="0" anchor="ctr" bIns="127875" lIns="127875" spcFirstLastPara="1" rIns="127875" wrap="square" tIns="127875">
              <a:noAutofit/>
            </a:bodyPr>
            <a:lstStyle/>
            <a:p>
              <a:pPr indent="0" lvl="0" marL="0" rtl="0" algn="l">
                <a:spcBef>
                  <a:spcPts val="0"/>
                </a:spcBef>
                <a:spcAft>
                  <a:spcPts val="0"/>
                </a:spcAft>
                <a:buNone/>
              </a:pPr>
              <a:r>
                <a:t/>
              </a:r>
              <a:endParaRPr sz="2000"/>
            </a:p>
          </p:txBody>
        </p:sp>
        <p:sp>
          <p:nvSpPr>
            <p:cNvPr id="1058" name="Google Shape;1058;p22"/>
            <p:cNvSpPr/>
            <p:nvPr/>
          </p:nvSpPr>
          <p:spPr>
            <a:xfrm>
              <a:off x="609600" y="304800"/>
              <a:ext cx="2475300" cy="409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59"/>
                <a:buFont typeface="Calibri"/>
                <a:buNone/>
              </a:pPr>
              <a:r>
                <a:rPr b="1" lang="en-US" sz="1859">
                  <a:solidFill>
                    <a:srgbClr val="FFFFFF"/>
                  </a:solidFill>
                  <a:latin typeface="Calibri"/>
                  <a:ea typeface="Calibri"/>
                  <a:cs typeface="Calibri"/>
                  <a:sym typeface="Calibri"/>
                </a:rPr>
                <a:t>Regresion Logistica</a:t>
              </a:r>
              <a:endParaRPr b="0" i="0" sz="1859" u="none" cap="none" strike="noStrike">
                <a:solidFill>
                  <a:schemeClr val="dk1"/>
                </a:solidFill>
                <a:latin typeface="Calibri"/>
                <a:ea typeface="Calibri"/>
                <a:cs typeface="Calibri"/>
                <a:sym typeface="Calibri"/>
              </a:endParaRPr>
            </a:p>
          </p:txBody>
        </p:sp>
      </p:grpSp>
      <p:pic>
        <p:nvPicPr>
          <p:cNvPr id="1059" name="Google Shape;1059;p22"/>
          <p:cNvPicPr preferRelativeResize="0"/>
          <p:nvPr/>
        </p:nvPicPr>
        <p:blipFill>
          <a:blip r:embed="rId3">
            <a:alphaModFix/>
          </a:blip>
          <a:stretch>
            <a:fillRect/>
          </a:stretch>
        </p:blipFill>
        <p:spPr>
          <a:xfrm>
            <a:off x="6637157" y="1876613"/>
            <a:ext cx="5445068" cy="386678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4" name="Shape 1064"/>
        <p:cNvGrpSpPr/>
        <p:nvPr/>
      </p:nvGrpSpPr>
      <p:grpSpPr>
        <a:xfrm>
          <a:off x="0" y="0"/>
          <a:ext cx="0" cy="0"/>
          <a:chOff x="0" y="0"/>
          <a:chExt cx="0" cy="0"/>
        </a:xfrm>
      </p:grpSpPr>
      <p:sp>
        <p:nvSpPr>
          <p:cNvPr id="1065" name="Google Shape;1065;g3a86323efb1_1_466"/>
          <p:cNvSpPr/>
          <p:nvPr/>
        </p:nvSpPr>
        <p:spPr>
          <a:xfrm>
            <a:off x="0" y="0"/>
            <a:ext cx="12192000" cy="1401900"/>
          </a:xfrm>
          <a:prstGeom prst="rect">
            <a:avLst/>
          </a:prstGeom>
          <a:solidFill>
            <a:srgbClr val="2F3C7E"/>
          </a:solidFill>
          <a:ln cap="flat" cmpd="sng" w="16925">
            <a:solidFill>
              <a:srgbClr val="2F3C7E"/>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6" name="Google Shape;1066;g3a86323efb1_1_466"/>
          <p:cNvSpPr/>
          <p:nvPr/>
        </p:nvSpPr>
        <p:spPr>
          <a:xfrm>
            <a:off x="609600" y="268224"/>
            <a:ext cx="10972800" cy="853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FFFFFF"/>
              </a:buClr>
              <a:buSzPts val="3500"/>
              <a:buFont typeface="Calibri"/>
              <a:buNone/>
            </a:pPr>
            <a:r>
              <a:rPr b="1" i="0" lang="en-US" sz="3500" u="none" cap="none" strike="noStrike">
                <a:solidFill>
                  <a:srgbClr val="FFFFFF"/>
                </a:solidFill>
                <a:latin typeface="Calibri"/>
                <a:ea typeface="Calibri"/>
                <a:cs typeface="Calibri"/>
                <a:sym typeface="Calibri"/>
              </a:rPr>
              <a:t>Interpretación — Factores de Riesgo</a:t>
            </a:r>
            <a:endParaRPr b="0" i="0" sz="3500" u="none" cap="none" strike="noStrike">
              <a:solidFill>
                <a:schemeClr val="dk1"/>
              </a:solidFill>
              <a:latin typeface="Calibri"/>
              <a:ea typeface="Calibri"/>
              <a:cs typeface="Calibri"/>
              <a:sym typeface="Calibri"/>
            </a:endParaRPr>
          </a:p>
        </p:txBody>
      </p:sp>
      <p:sp>
        <p:nvSpPr>
          <p:cNvPr id="1067" name="Google Shape;1067;g3a86323efb1_1_466"/>
          <p:cNvSpPr/>
          <p:nvPr/>
        </p:nvSpPr>
        <p:spPr>
          <a:xfrm>
            <a:off x="548640" y="1524000"/>
            <a:ext cx="11094900" cy="487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E293B"/>
              </a:buClr>
              <a:buSzPts val="1500"/>
              <a:buFont typeface="Calibri"/>
              <a:buNone/>
            </a:pPr>
            <a:r>
              <a:rPr b="0" i="0" lang="en-US" sz="1900" u="none" cap="none" strike="noStrike">
                <a:solidFill>
                  <a:srgbClr val="1E293B"/>
                </a:solidFill>
                <a:latin typeface="Calibri"/>
                <a:ea typeface="Calibri"/>
                <a:cs typeface="Calibri"/>
                <a:sym typeface="Calibri"/>
              </a:rPr>
              <a:t>Los coeficientes del modelo en escala log-odds indican la dirección e intensidad del efecto de cada variable:</a:t>
            </a:r>
            <a:endParaRPr b="0" i="0" sz="1900" u="none" cap="none" strike="noStrike">
              <a:solidFill>
                <a:schemeClr val="dk1"/>
              </a:solidFill>
              <a:latin typeface="Calibri"/>
              <a:ea typeface="Calibri"/>
              <a:cs typeface="Calibri"/>
              <a:sym typeface="Calibri"/>
            </a:endParaRPr>
          </a:p>
        </p:txBody>
      </p:sp>
      <p:sp>
        <p:nvSpPr>
          <p:cNvPr id="1068" name="Google Shape;1068;g3a86323efb1_1_466"/>
          <p:cNvSpPr/>
          <p:nvPr/>
        </p:nvSpPr>
        <p:spPr>
          <a:xfrm>
            <a:off x="487680" y="2133600"/>
            <a:ext cx="5242500" cy="42672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9" name="Google Shape;1069;g3a86323efb1_1_466"/>
          <p:cNvSpPr/>
          <p:nvPr/>
        </p:nvSpPr>
        <p:spPr>
          <a:xfrm>
            <a:off x="487680" y="2133600"/>
            <a:ext cx="5242500" cy="585300"/>
          </a:xfrm>
          <a:prstGeom prst="rect">
            <a:avLst/>
          </a:prstGeom>
          <a:solidFill>
            <a:srgbClr val="990011"/>
          </a:solidFill>
          <a:ln cap="flat" cmpd="sng" w="16925">
            <a:solidFill>
              <a:srgbClr val="99001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0" name="Google Shape;1070;g3a86323efb1_1_466"/>
          <p:cNvSpPr/>
          <p:nvPr/>
        </p:nvSpPr>
        <p:spPr>
          <a:xfrm>
            <a:off x="487680" y="2133600"/>
            <a:ext cx="5242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  INCREMENTAN el riesgo de Muerte</a:t>
            </a:r>
            <a:endParaRPr b="0" i="0" sz="1500" u="none" cap="none" strike="noStrike">
              <a:solidFill>
                <a:schemeClr val="dk1"/>
              </a:solidFill>
              <a:latin typeface="Calibri"/>
              <a:ea typeface="Calibri"/>
              <a:cs typeface="Calibri"/>
              <a:sym typeface="Calibri"/>
            </a:endParaRPr>
          </a:p>
        </p:txBody>
      </p:sp>
      <p:sp>
        <p:nvSpPr>
          <p:cNvPr id="1071" name="Google Shape;1071;g3a86323efb1_1_466"/>
          <p:cNvSpPr/>
          <p:nvPr/>
        </p:nvSpPr>
        <p:spPr>
          <a:xfrm>
            <a:off x="670560" y="282854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  Motocicleta / Bicicleta</a:t>
            </a:r>
            <a:endParaRPr b="0" i="0" sz="1500" u="none" cap="none" strike="noStrike">
              <a:solidFill>
                <a:schemeClr val="dk1"/>
              </a:solidFill>
              <a:latin typeface="Calibri"/>
              <a:ea typeface="Calibri"/>
              <a:cs typeface="Calibri"/>
              <a:sym typeface="Calibri"/>
            </a:endParaRPr>
          </a:p>
        </p:txBody>
      </p:sp>
      <p:sp>
        <p:nvSpPr>
          <p:cNvPr id="1072" name="Google Shape;1072;g3a86323efb1_1_466"/>
          <p:cNvSpPr/>
          <p:nvPr/>
        </p:nvSpPr>
        <p:spPr>
          <a:xfrm>
            <a:off x="670560" y="314553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Mayor vulnerabilidad estructural</a:t>
            </a:r>
            <a:endParaRPr b="0" i="0" sz="1300" u="none" cap="none" strike="noStrike">
              <a:solidFill>
                <a:schemeClr val="dk1"/>
              </a:solidFill>
              <a:latin typeface="Calibri"/>
              <a:ea typeface="Calibri"/>
              <a:cs typeface="Calibri"/>
              <a:sym typeface="Calibri"/>
            </a:endParaRPr>
          </a:p>
        </p:txBody>
      </p:sp>
      <p:sp>
        <p:nvSpPr>
          <p:cNvPr id="1073" name="Google Shape;1073;g3a86323efb1_1_466"/>
          <p:cNvSpPr/>
          <p:nvPr/>
        </p:nvSpPr>
        <p:spPr>
          <a:xfrm>
            <a:off x="670560" y="349910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  Horario nocturno (20–4 h)</a:t>
            </a:r>
            <a:endParaRPr b="0" i="0" sz="1500" u="none" cap="none" strike="noStrike">
              <a:solidFill>
                <a:schemeClr val="dk1"/>
              </a:solidFill>
              <a:latin typeface="Calibri"/>
              <a:ea typeface="Calibri"/>
              <a:cs typeface="Calibri"/>
              <a:sym typeface="Calibri"/>
            </a:endParaRPr>
          </a:p>
        </p:txBody>
      </p:sp>
      <p:sp>
        <p:nvSpPr>
          <p:cNvPr id="1074" name="Google Shape;1074;g3a86323efb1_1_466"/>
          <p:cNvSpPr/>
          <p:nvPr/>
        </p:nvSpPr>
        <p:spPr>
          <a:xfrm>
            <a:off x="670560" y="381609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Baja visibilidad y mayor velocidad</a:t>
            </a:r>
            <a:endParaRPr b="0" i="0" sz="1300" u="none" cap="none" strike="noStrike">
              <a:solidFill>
                <a:schemeClr val="dk1"/>
              </a:solidFill>
              <a:latin typeface="Calibri"/>
              <a:ea typeface="Calibri"/>
              <a:cs typeface="Calibri"/>
              <a:sym typeface="Calibri"/>
            </a:endParaRPr>
          </a:p>
        </p:txBody>
      </p:sp>
      <p:sp>
        <p:nvSpPr>
          <p:cNvPr id="1075" name="Google Shape;1075;g3a86323efb1_1_466"/>
          <p:cNvSpPr/>
          <p:nvPr/>
        </p:nvSpPr>
        <p:spPr>
          <a:xfrm>
            <a:off x="670560" y="416966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  Estado de embriaguez</a:t>
            </a:r>
            <a:endParaRPr b="0" i="0" sz="1500" u="none" cap="none" strike="noStrike">
              <a:solidFill>
                <a:schemeClr val="dk1"/>
              </a:solidFill>
              <a:latin typeface="Calibri"/>
              <a:ea typeface="Calibri"/>
              <a:cs typeface="Calibri"/>
              <a:sym typeface="Calibri"/>
            </a:endParaRPr>
          </a:p>
        </p:txBody>
      </p:sp>
      <p:sp>
        <p:nvSpPr>
          <p:cNvPr id="1076" name="Google Shape;1076;g3a86323efb1_1_466"/>
          <p:cNvSpPr/>
          <p:nvPr/>
        </p:nvSpPr>
        <p:spPr>
          <a:xfrm>
            <a:off x="670560" y="448665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Coeficiente positivo alto</a:t>
            </a:r>
            <a:endParaRPr b="0" i="0" sz="1300" u="none" cap="none" strike="noStrike">
              <a:solidFill>
                <a:schemeClr val="dk1"/>
              </a:solidFill>
              <a:latin typeface="Calibri"/>
              <a:ea typeface="Calibri"/>
              <a:cs typeface="Calibri"/>
              <a:sym typeface="Calibri"/>
            </a:endParaRPr>
          </a:p>
        </p:txBody>
      </p:sp>
      <p:sp>
        <p:nvSpPr>
          <p:cNvPr id="1077" name="Google Shape;1077;g3a86323efb1_1_466"/>
          <p:cNvSpPr/>
          <p:nvPr/>
        </p:nvSpPr>
        <p:spPr>
          <a:xfrm>
            <a:off x="670560" y="484022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  Sector Rural / Industrial</a:t>
            </a:r>
            <a:endParaRPr b="0" i="0" sz="1500" u="none" cap="none" strike="noStrike">
              <a:solidFill>
                <a:schemeClr val="dk1"/>
              </a:solidFill>
              <a:latin typeface="Calibri"/>
              <a:ea typeface="Calibri"/>
              <a:cs typeface="Calibri"/>
              <a:sym typeface="Calibri"/>
            </a:endParaRPr>
          </a:p>
        </p:txBody>
      </p:sp>
      <p:sp>
        <p:nvSpPr>
          <p:cNvPr id="1078" name="Google Shape;1078;g3a86323efb1_1_466"/>
          <p:cNvSpPr/>
          <p:nvPr/>
        </p:nvSpPr>
        <p:spPr>
          <a:xfrm>
            <a:off x="670560" y="515721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Mayor velocidad y lejanía de emergencias</a:t>
            </a:r>
            <a:endParaRPr b="0" i="0" sz="1300" u="none" cap="none" strike="noStrike">
              <a:solidFill>
                <a:schemeClr val="dk1"/>
              </a:solidFill>
              <a:latin typeface="Calibri"/>
              <a:ea typeface="Calibri"/>
              <a:cs typeface="Calibri"/>
              <a:sym typeface="Calibri"/>
            </a:endParaRPr>
          </a:p>
        </p:txBody>
      </p:sp>
      <p:sp>
        <p:nvSpPr>
          <p:cNvPr id="1079" name="Google Shape;1079;g3a86323efb1_1_466"/>
          <p:cNvSpPr/>
          <p:nvPr/>
        </p:nvSpPr>
        <p:spPr>
          <a:xfrm>
            <a:off x="670560" y="551078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990011"/>
              </a:buClr>
              <a:buSzPts val="1500"/>
              <a:buFont typeface="Calibri"/>
              <a:buNone/>
            </a:pPr>
            <a:r>
              <a:rPr b="1" i="0" lang="en-US" sz="1500" u="none" cap="none" strike="noStrike">
                <a:solidFill>
                  <a:srgbClr val="990011"/>
                </a:solidFill>
                <a:latin typeface="Calibri"/>
                <a:ea typeface="Calibri"/>
                <a:cs typeface="Calibri"/>
                <a:sym typeface="Calibri"/>
              </a:rPr>
              <a:t>+  Fin de semana</a:t>
            </a:r>
            <a:endParaRPr b="0" i="0" sz="1500" u="none" cap="none" strike="noStrike">
              <a:solidFill>
                <a:schemeClr val="dk1"/>
              </a:solidFill>
              <a:latin typeface="Calibri"/>
              <a:ea typeface="Calibri"/>
              <a:cs typeface="Calibri"/>
              <a:sym typeface="Calibri"/>
            </a:endParaRPr>
          </a:p>
        </p:txBody>
      </p:sp>
      <p:sp>
        <p:nvSpPr>
          <p:cNvPr id="1080" name="Google Shape;1080;g3a86323efb1_1_466"/>
          <p:cNvSpPr/>
          <p:nvPr/>
        </p:nvSpPr>
        <p:spPr>
          <a:xfrm>
            <a:off x="670560" y="582777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Conducción más arriesgada</a:t>
            </a:r>
            <a:endParaRPr b="0" i="0" sz="1300" u="none" cap="none" strike="noStrike">
              <a:solidFill>
                <a:schemeClr val="dk1"/>
              </a:solidFill>
              <a:latin typeface="Calibri"/>
              <a:ea typeface="Calibri"/>
              <a:cs typeface="Calibri"/>
              <a:sym typeface="Calibri"/>
            </a:endParaRPr>
          </a:p>
        </p:txBody>
      </p:sp>
      <p:sp>
        <p:nvSpPr>
          <p:cNvPr id="1081" name="Google Shape;1081;g3a86323efb1_1_466"/>
          <p:cNvSpPr/>
          <p:nvPr/>
        </p:nvSpPr>
        <p:spPr>
          <a:xfrm>
            <a:off x="6461760" y="2133600"/>
            <a:ext cx="5242500" cy="4267200"/>
          </a:xfrm>
          <a:prstGeom prst="rect">
            <a:avLst/>
          </a:prstGeom>
          <a:solidFill>
            <a:srgbClr val="FFFFFF"/>
          </a:solidFill>
          <a:ln cap="flat" cmpd="sng" w="16925">
            <a:solidFill>
              <a:srgbClr val="E2E8F0"/>
            </a:solidFill>
            <a:prstDash val="solid"/>
            <a:round/>
            <a:headEnd len="sm" w="sm" type="none"/>
            <a:tailEnd len="sm" w="sm" type="none"/>
          </a:ln>
          <a:effectLst>
            <a:outerShdw blurRad="135467" rotWithShape="0" algn="bl" dir="8100000" dist="50800">
              <a:srgbClr val="000000">
                <a:alpha val="1216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2" name="Google Shape;1082;g3a86323efb1_1_466"/>
          <p:cNvSpPr/>
          <p:nvPr/>
        </p:nvSpPr>
        <p:spPr>
          <a:xfrm>
            <a:off x="6461760" y="2133600"/>
            <a:ext cx="5242500" cy="585300"/>
          </a:xfrm>
          <a:prstGeom prst="rect">
            <a:avLst/>
          </a:prstGeom>
          <a:solidFill>
            <a:srgbClr val="166534"/>
          </a:solidFill>
          <a:ln cap="flat" cmpd="sng" w="16925">
            <a:solidFill>
              <a:srgbClr val="166534"/>
            </a:solidFill>
            <a:prstDash val="solid"/>
            <a:round/>
            <a:headEnd len="sm" w="sm" type="none"/>
            <a:tailEnd len="sm" w="sm" type="none"/>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3" name="Google Shape;1083;g3a86323efb1_1_466"/>
          <p:cNvSpPr/>
          <p:nvPr/>
        </p:nvSpPr>
        <p:spPr>
          <a:xfrm>
            <a:off x="6461760" y="2133600"/>
            <a:ext cx="5242500" cy="585300"/>
          </a:xfrm>
          <a:prstGeom prst="rect">
            <a:avLst/>
          </a:prstGeom>
          <a:noFill/>
          <a:ln>
            <a:noFill/>
          </a:ln>
        </p:spPr>
        <p:txBody>
          <a:bodyPr anchorCtr="0" anchor="ctr" bIns="60925" lIns="121900" spcFirstLastPara="1" rIns="121900" wrap="square" tIns="60925">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  REDUCEN el riesgo de Muerte</a:t>
            </a:r>
            <a:endParaRPr b="0" i="0" sz="1500" u="none" cap="none" strike="noStrike">
              <a:solidFill>
                <a:schemeClr val="dk1"/>
              </a:solidFill>
              <a:latin typeface="Calibri"/>
              <a:ea typeface="Calibri"/>
              <a:cs typeface="Calibri"/>
              <a:sym typeface="Calibri"/>
            </a:endParaRPr>
          </a:p>
        </p:txBody>
      </p:sp>
      <p:sp>
        <p:nvSpPr>
          <p:cNvPr id="1084" name="Google Shape;1084;g3a86323efb1_1_466"/>
          <p:cNvSpPr/>
          <p:nvPr/>
        </p:nvSpPr>
        <p:spPr>
          <a:xfrm>
            <a:off x="6644640" y="282854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  Automóvil / Campero</a:t>
            </a:r>
            <a:endParaRPr b="0" i="0" sz="1500" u="none" cap="none" strike="noStrike">
              <a:solidFill>
                <a:schemeClr val="dk1"/>
              </a:solidFill>
              <a:latin typeface="Calibri"/>
              <a:ea typeface="Calibri"/>
              <a:cs typeface="Calibri"/>
              <a:sym typeface="Calibri"/>
            </a:endParaRPr>
          </a:p>
        </p:txBody>
      </p:sp>
      <p:sp>
        <p:nvSpPr>
          <p:cNvPr id="1085" name="Google Shape;1085;g3a86323efb1_1_466"/>
          <p:cNvSpPr/>
          <p:nvPr/>
        </p:nvSpPr>
        <p:spPr>
          <a:xfrm>
            <a:off x="6644640" y="314553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Mayor protección estructural</a:t>
            </a:r>
            <a:endParaRPr b="0" i="0" sz="1300" u="none" cap="none" strike="noStrike">
              <a:solidFill>
                <a:schemeClr val="dk1"/>
              </a:solidFill>
              <a:latin typeface="Calibri"/>
              <a:ea typeface="Calibri"/>
              <a:cs typeface="Calibri"/>
              <a:sym typeface="Calibri"/>
            </a:endParaRPr>
          </a:p>
        </p:txBody>
      </p:sp>
      <p:sp>
        <p:nvSpPr>
          <p:cNvPr id="1086" name="Google Shape;1086;g3a86323efb1_1_466"/>
          <p:cNvSpPr/>
          <p:nvPr/>
        </p:nvSpPr>
        <p:spPr>
          <a:xfrm>
            <a:off x="6644640" y="349910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  Horario diurno (6–17 h)</a:t>
            </a:r>
            <a:endParaRPr b="0" i="0" sz="1500" u="none" cap="none" strike="noStrike">
              <a:solidFill>
                <a:schemeClr val="dk1"/>
              </a:solidFill>
              <a:latin typeface="Calibri"/>
              <a:ea typeface="Calibri"/>
              <a:cs typeface="Calibri"/>
              <a:sym typeface="Calibri"/>
            </a:endParaRPr>
          </a:p>
        </p:txBody>
      </p:sp>
      <p:sp>
        <p:nvSpPr>
          <p:cNvPr id="1087" name="Google Shape;1087;g3a86323efb1_1_466"/>
          <p:cNvSpPr/>
          <p:nvPr/>
        </p:nvSpPr>
        <p:spPr>
          <a:xfrm>
            <a:off x="6644640" y="381609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Buena visibilidad y tráfico controlado</a:t>
            </a:r>
            <a:endParaRPr b="0" i="0" sz="1300" u="none" cap="none" strike="noStrike">
              <a:solidFill>
                <a:schemeClr val="dk1"/>
              </a:solidFill>
              <a:latin typeface="Calibri"/>
              <a:ea typeface="Calibri"/>
              <a:cs typeface="Calibri"/>
              <a:sym typeface="Calibri"/>
            </a:endParaRPr>
          </a:p>
        </p:txBody>
      </p:sp>
      <p:sp>
        <p:nvSpPr>
          <p:cNvPr id="1088" name="Google Shape;1088;g3a86323efb1_1_466"/>
          <p:cNvSpPr/>
          <p:nvPr/>
        </p:nvSpPr>
        <p:spPr>
          <a:xfrm>
            <a:off x="6644640" y="416966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  Condición Normal / despejado</a:t>
            </a:r>
            <a:endParaRPr b="0" i="0" sz="1500" u="none" cap="none" strike="noStrike">
              <a:solidFill>
                <a:schemeClr val="dk1"/>
              </a:solidFill>
              <a:latin typeface="Calibri"/>
              <a:ea typeface="Calibri"/>
              <a:cs typeface="Calibri"/>
              <a:sym typeface="Calibri"/>
            </a:endParaRPr>
          </a:p>
        </p:txBody>
      </p:sp>
      <p:sp>
        <p:nvSpPr>
          <p:cNvPr id="1089" name="Google Shape;1089;g3a86323efb1_1_466"/>
          <p:cNvSpPr/>
          <p:nvPr/>
        </p:nvSpPr>
        <p:spPr>
          <a:xfrm>
            <a:off x="6644640" y="448665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Adherencia y frenado óptimos</a:t>
            </a:r>
            <a:endParaRPr b="0" i="0" sz="1300" u="none" cap="none" strike="noStrike">
              <a:solidFill>
                <a:schemeClr val="dk1"/>
              </a:solidFill>
              <a:latin typeface="Calibri"/>
              <a:ea typeface="Calibri"/>
              <a:cs typeface="Calibri"/>
              <a:sym typeface="Calibri"/>
            </a:endParaRPr>
          </a:p>
        </p:txBody>
      </p:sp>
      <p:sp>
        <p:nvSpPr>
          <p:cNvPr id="1090" name="Google Shape;1090;g3a86323efb1_1_466"/>
          <p:cNvSpPr/>
          <p:nvPr/>
        </p:nvSpPr>
        <p:spPr>
          <a:xfrm>
            <a:off x="6644640" y="484022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  Sector Residencial</a:t>
            </a:r>
            <a:endParaRPr b="0" i="0" sz="1500" u="none" cap="none" strike="noStrike">
              <a:solidFill>
                <a:schemeClr val="dk1"/>
              </a:solidFill>
              <a:latin typeface="Calibri"/>
              <a:ea typeface="Calibri"/>
              <a:cs typeface="Calibri"/>
              <a:sym typeface="Calibri"/>
            </a:endParaRPr>
          </a:p>
        </p:txBody>
      </p:sp>
      <p:sp>
        <p:nvSpPr>
          <p:cNvPr id="1091" name="Google Shape;1091;g3a86323efb1_1_466"/>
          <p:cNvSpPr/>
          <p:nvPr/>
        </p:nvSpPr>
        <p:spPr>
          <a:xfrm>
            <a:off x="6644640" y="515721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Velocidades bajas, mayor control</a:t>
            </a:r>
            <a:endParaRPr b="0" i="0" sz="1300" u="none" cap="none" strike="noStrike">
              <a:solidFill>
                <a:schemeClr val="dk1"/>
              </a:solidFill>
              <a:latin typeface="Calibri"/>
              <a:ea typeface="Calibri"/>
              <a:cs typeface="Calibri"/>
              <a:sym typeface="Calibri"/>
            </a:endParaRPr>
          </a:p>
        </p:txBody>
      </p:sp>
      <p:sp>
        <p:nvSpPr>
          <p:cNvPr id="1092" name="Google Shape;1092;g3a86323efb1_1_466"/>
          <p:cNvSpPr/>
          <p:nvPr/>
        </p:nvSpPr>
        <p:spPr>
          <a:xfrm>
            <a:off x="6644640" y="5510784"/>
            <a:ext cx="4876800" cy="3411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166534"/>
              </a:buClr>
              <a:buSzPts val="1500"/>
              <a:buFont typeface="Calibri"/>
              <a:buNone/>
            </a:pPr>
            <a:r>
              <a:rPr b="1" i="0" lang="en-US" sz="1500" u="none" cap="none" strike="noStrike">
                <a:solidFill>
                  <a:srgbClr val="166534"/>
                </a:solidFill>
                <a:latin typeface="Calibri"/>
                <a:ea typeface="Calibri"/>
                <a:cs typeface="Calibri"/>
                <a:sym typeface="Calibri"/>
              </a:rPr>
              <a:t>−  Edad 25–45 años</a:t>
            </a:r>
            <a:endParaRPr b="0" i="0" sz="1500" u="none" cap="none" strike="noStrike">
              <a:solidFill>
                <a:schemeClr val="dk1"/>
              </a:solidFill>
              <a:latin typeface="Calibri"/>
              <a:ea typeface="Calibri"/>
              <a:cs typeface="Calibri"/>
              <a:sym typeface="Calibri"/>
            </a:endParaRPr>
          </a:p>
        </p:txBody>
      </p:sp>
      <p:sp>
        <p:nvSpPr>
          <p:cNvPr id="1093" name="Google Shape;1093;g3a86323efb1_1_466"/>
          <p:cNvSpPr/>
          <p:nvPr/>
        </p:nvSpPr>
        <p:spPr>
          <a:xfrm>
            <a:off x="6644640" y="5827776"/>
            <a:ext cx="4876800" cy="268500"/>
          </a:xfrm>
          <a:prstGeom prst="rect">
            <a:avLst/>
          </a:prstGeom>
          <a:noFill/>
          <a:ln>
            <a:noFill/>
          </a:ln>
        </p:spPr>
        <p:txBody>
          <a:bodyPr anchorCtr="0" anchor="ctr" bIns="60925" lIns="121900" spcFirstLastPara="1" rIns="121900" wrap="square" tIns="60925">
            <a:noAutofit/>
          </a:bodyPr>
          <a:lstStyle/>
          <a:p>
            <a:pPr indent="0" lvl="0" marL="0" marR="0" rtl="0" algn="l">
              <a:spcBef>
                <a:spcPts val="0"/>
              </a:spcBef>
              <a:spcAft>
                <a:spcPts val="0"/>
              </a:spcAft>
              <a:buClr>
                <a:srgbClr val="64748B"/>
              </a:buClr>
              <a:buSzPts val="1300"/>
              <a:buFont typeface="Calibri"/>
              <a:buNone/>
            </a:pPr>
            <a:r>
              <a:rPr b="0" i="0" lang="en-US" sz="1300" u="none" cap="none" strike="noStrike">
                <a:solidFill>
                  <a:srgbClr val="64748B"/>
                </a:solidFill>
                <a:latin typeface="Calibri"/>
                <a:ea typeface="Calibri"/>
                <a:cs typeface="Calibri"/>
                <a:sym typeface="Calibri"/>
              </a:rPr>
              <a:t>Reflejos y experiencia óptimos</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8" name="Shape 1098"/>
        <p:cNvGrpSpPr/>
        <p:nvPr/>
      </p:nvGrpSpPr>
      <p:grpSpPr>
        <a:xfrm>
          <a:off x="0" y="0"/>
          <a:ext cx="0" cy="0"/>
          <a:chOff x="0" y="0"/>
          <a:chExt cx="0" cy="0"/>
        </a:xfrm>
      </p:grpSpPr>
      <p:sp>
        <p:nvSpPr>
          <p:cNvPr id="1099" name="Google Shape;1099;g3e1c05bb847_1_50"/>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00" name="Google Shape;1100;g3e1c05bb847_1_50"/>
          <p:cNvPicPr preferRelativeResize="0"/>
          <p:nvPr/>
        </p:nvPicPr>
        <p:blipFill rotWithShape="1">
          <a:blip r:embed="rId3">
            <a:alphaModFix/>
          </a:blip>
          <a:srcRect b="0" l="0" r="0" t="0"/>
          <a:stretch/>
        </p:blipFill>
        <p:spPr>
          <a:xfrm>
            <a:off x="0" y="0"/>
            <a:ext cx="12191694" cy="6858001"/>
          </a:xfrm>
          <a:prstGeom prst="rect">
            <a:avLst/>
          </a:prstGeom>
          <a:noFill/>
          <a:ln>
            <a:noFill/>
          </a:ln>
        </p:spPr>
      </p:pic>
      <p:sp>
        <p:nvSpPr>
          <p:cNvPr id="1101" name="Google Shape;1101;g3e1c05bb847_1_50"/>
          <p:cNvSpPr txBox="1"/>
          <p:nvPr/>
        </p:nvSpPr>
        <p:spPr>
          <a:xfrm>
            <a:off x="809244" y="190195"/>
            <a:ext cx="43443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Montserrat"/>
              <a:buNone/>
            </a:pPr>
            <a:r>
              <a:rPr b="1" i="0" lang="en-US" sz="2500" u="none" cap="none" strike="noStrike">
                <a:solidFill>
                  <a:srgbClr val="FFFFFF"/>
                </a:solidFill>
                <a:latin typeface="Montserrat"/>
                <a:ea typeface="Montserrat"/>
                <a:cs typeface="Montserrat"/>
                <a:sym typeface="Montserrat"/>
              </a:rPr>
              <a:t> </a:t>
            </a:r>
            <a:r>
              <a:rPr b="1" lang="en-US" sz="2500">
                <a:solidFill>
                  <a:schemeClr val="lt1"/>
                </a:solidFill>
                <a:latin typeface="Montserrat"/>
                <a:ea typeface="Montserrat"/>
                <a:cs typeface="Montserrat"/>
                <a:sym typeface="Montserrat"/>
              </a:rPr>
              <a:t> Conclusiones</a:t>
            </a:r>
            <a:endParaRPr b="1" sz="2500">
              <a:solidFill>
                <a:srgbClr val="FFFFFF"/>
              </a:solidFill>
              <a:latin typeface="Montserrat"/>
              <a:ea typeface="Montserrat"/>
              <a:cs typeface="Montserrat"/>
              <a:sym typeface="Montserrat"/>
            </a:endParaRPr>
          </a:p>
        </p:txBody>
      </p:sp>
      <p:pic>
        <p:nvPicPr>
          <p:cNvPr descr="preencoded.png" id="1102" name="Google Shape;1102;g3e1c05bb847_1_50"/>
          <p:cNvPicPr preferRelativeResize="0"/>
          <p:nvPr/>
        </p:nvPicPr>
        <p:blipFill rotWithShape="1">
          <a:blip r:embed="rId4">
            <a:alphaModFix/>
          </a:blip>
          <a:srcRect b="0" l="-885" r="-875" t="0"/>
          <a:stretch/>
        </p:blipFill>
        <p:spPr>
          <a:xfrm>
            <a:off x="381300" y="109362"/>
            <a:ext cx="451075" cy="641892"/>
          </a:xfrm>
          <a:prstGeom prst="rect">
            <a:avLst/>
          </a:prstGeom>
          <a:noFill/>
          <a:ln>
            <a:noFill/>
          </a:ln>
        </p:spPr>
      </p:pic>
      <p:sp>
        <p:nvSpPr>
          <p:cNvPr id="1103" name="Google Shape;1103;g3e1c05bb847_1_50"/>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1104" name="Google Shape;1104;g3e1c05bb847_1_50"/>
          <p:cNvGrpSpPr/>
          <p:nvPr/>
        </p:nvGrpSpPr>
        <p:grpSpPr>
          <a:xfrm>
            <a:off x="451275" y="1522086"/>
            <a:ext cx="11487300" cy="990300"/>
            <a:chOff x="451275" y="862018"/>
            <a:chExt cx="11487300" cy="990300"/>
          </a:xfrm>
        </p:grpSpPr>
        <p:sp>
          <p:nvSpPr>
            <p:cNvPr id="1105" name="Google Shape;1105;g3e1c05bb847_1_50"/>
            <p:cNvSpPr/>
            <p:nvPr/>
          </p:nvSpPr>
          <p:spPr>
            <a:xfrm>
              <a:off x="451275" y="862018"/>
              <a:ext cx="11487300" cy="9903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06" name="Google Shape;1106;g3e1c05bb847_1_50"/>
            <p:cNvPicPr preferRelativeResize="0"/>
            <p:nvPr/>
          </p:nvPicPr>
          <p:blipFill rotWithShape="1">
            <a:blip r:embed="rId5">
              <a:alphaModFix/>
            </a:blip>
            <a:srcRect b="0" l="-1771" r="-1771" t="0"/>
            <a:stretch/>
          </p:blipFill>
          <p:spPr>
            <a:xfrm>
              <a:off x="549078" y="1066765"/>
              <a:ext cx="451064" cy="580800"/>
            </a:xfrm>
            <a:prstGeom prst="rect">
              <a:avLst/>
            </a:prstGeom>
            <a:noFill/>
            <a:ln>
              <a:noFill/>
            </a:ln>
          </p:spPr>
        </p:pic>
        <p:grpSp>
          <p:nvGrpSpPr>
            <p:cNvPr id="1107" name="Google Shape;1107;g3e1c05bb847_1_50"/>
            <p:cNvGrpSpPr/>
            <p:nvPr/>
          </p:nvGrpSpPr>
          <p:grpSpPr>
            <a:xfrm>
              <a:off x="1153232" y="1117729"/>
              <a:ext cx="10570293" cy="580781"/>
              <a:chOff x="411480" y="4572000"/>
              <a:chExt cx="8321100" cy="457200"/>
            </a:xfrm>
          </p:grpSpPr>
          <p:sp>
            <p:nvSpPr>
              <p:cNvPr id="1108" name="Google Shape;1108;g3e1c05bb847_1_50"/>
              <p:cNvSpPr/>
              <p:nvPr/>
            </p:nvSpPr>
            <p:spPr>
              <a:xfrm>
                <a:off x="411480" y="4572000"/>
                <a:ext cx="8321100" cy="457200"/>
              </a:xfrm>
              <a:prstGeom prst="rect">
                <a:avLst/>
              </a:prstGeom>
              <a:solidFill>
                <a:srgbClr val="FEF3C7"/>
              </a:solidFill>
              <a:ln cap="flat" cmpd="sng" w="12900">
                <a:solidFill>
                  <a:srgbClr val="F59E0B"/>
                </a:solidFill>
                <a:prstDash val="solid"/>
                <a:round/>
                <a:headEnd len="sm" w="sm" type="none"/>
                <a:tailEnd len="sm" w="sm" type="none"/>
              </a:ln>
            </p:spPr>
            <p:txBody>
              <a:bodyPr anchorCtr="0" anchor="ctr" bIns="116150" lIns="116150" spcFirstLastPara="1" rIns="116150" wrap="square" tIns="116150">
                <a:noAutofit/>
              </a:bodyPr>
              <a:lstStyle/>
              <a:p>
                <a:pPr indent="0" lvl="0" marL="0" rtl="0" algn="l">
                  <a:spcBef>
                    <a:spcPts val="0"/>
                  </a:spcBef>
                  <a:spcAft>
                    <a:spcPts val="0"/>
                  </a:spcAft>
                  <a:buNone/>
                </a:pPr>
                <a:r>
                  <a:t/>
                </a:r>
                <a:endParaRPr sz="1700"/>
              </a:p>
            </p:txBody>
          </p:sp>
          <p:sp>
            <p:nvSpPr>
              <p:cNvPr id="1109" name="Google Shape;1109;g3e1c05bb847_1_50"/>
              <p:cNvSpPr/>
              <p:nvPr/>
            </p:nvSpPr>
            <p:spPr>
              <a:xfrm>
                <a:off x="548640" y="4572000"/>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200"/>
                  </a:buClr>
                  <a:buSzPts val="1270"/>
                  <a:buFont typeface="Calibri"/>
                  <a:buNone/>
                </a:pPr>
                <a:r>
                  <a:rPr lang="en-US" sz="1870">
                    <a:solidFill>
                      <a:srgbClr val="7A5200"/>
                    </a:solidFill>
                    <a:latin typeface="Calibri"/>
                    <a:ea typeface="Calibri"/>
                    <a:cs typeface="Calibri"/>
                    <a:sym typeface="Calibri"/>
                  </a:rPr>
                  <a:t>El modelo inicial de Random Forest, con el dataset, básicamente se entrena para predecir los heridos, dado el alto desbalance, y las técnicas de balanceo que determinan un sesgo en la cantidad de datos generados.</a:t>
                </a:r>
                <a:endParaRPr b="0" i="0" sz="1870" u="none" cap="none" strike="noStrike">
                  <a:solidFill>
                    <a:srgbClr val="000000"/>
                  </a:solidFill>
                  <a:latin typeface="Calibri"/>
                  <a:ea typeface="Calibri"/>
                  <a:cs typeface="Calibri"/>
                  <a:sym typeface="Calibri"/>
                </a:endParaRPr>
              </a:p>
            </p:txBody>
          </p:sp>
        </p:grpSp>
      </p:grpSp>
      <p:grpSp>
        <p:nvGrpSpPr>
          <p:cNvPr id="1110" name="Google Shape;1110;g3e1c05bb847_1_50"/>
          <p:cNvGrpSpPr/>
          <p:nvPr/>
        </p:nvGrpSpPr>
        <p:grpSpPr>
          <a:xfrm>
            <a:off x="451275" y="2783699"/>
            <a:ext cx="11487300" cy="990300"/>
            <a:chOff x="451275" y="2123631"/>
            <a:chExt cx="11487300" cy="990300"/>
          </a:xfrm>
        </p:grpSpPr>
        <p:sp>
          <p:nvSpPr>
            <p:cNvPr id="1111" name="Google Shape;1111;g3e1c05bb847_1_50"/>
            <p:cNvSpPr/>
            <p:nvPr/>
          </p:nvSpPr>
          <p:spPr>
            <a:xfrm>
              <a:off x="451275" y="2123631"/>
              <a:ext cx="11487300" cy="9903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12" name="Google Shape;1112;g3e1c05bb847_1_50"/>
            <p:cNvPicPr preferRelativeResize="0"/>
            <p:nvPr/>
          </p:nvPicPr>
          <p:blipFill rotWithShape="1">
            <a:blip r:embed="rId5">
              <a:alphaModFix/>
            </a:blip>
            <a:srcRect b="0" l="-1771" r="-1771" t="0"/>
            <a:stretch/>
          </p:blipFill>
          <p:spPr>
            <a:xfrm>
              <a:off x="576898" y="2328353"/>
              <a:ext cx="451064" cy="580800"/>
            </a:xfrm>
            <a:prstGeom prst="rect">
              <a:avLst/>
            </a:prstGeom>
            <a:noFill/>
            <a:ln>
              <a:noFill/>
            </a:ln>
          </p:spPr>
        </p:pic>
        <p:grpSp>
          <p:nvGrpSpPr>
            <p:cNvPr id="1113" name="Google Shape;1113;g3e1c05bb847_1_50"/>
            <p:cNvGrpSpPr/>
            <p:nvPr/>
          </p:nvGrpSpPr>
          <p:grpSpPr>
            <a:xfrm>
              <a:off x="1153232" y="2368742"/>
              <a:ext cx="10570293" cy="580781"/>
              <a:chOff x="411480" y="4572000"/>
              <a:chExt cx="8321100" cy="457200"/>
            </a:xfrm>
          </p:grpSpPr>
          <p:sp>
            <p:nvSpPr>
              <p:cNvPr id="1114" name="Google Shape;1114;g3e1c05bb847_1_50"/>
              <p:cNvSpPr/>
              <p:nvPr/>
            </p:nvSpPr>
            <p:spPr>
              <a:xfrm>
                <a:off x="411480" y="4572000"/>
                <a:ext cx="8321100" cy="457200"/>
              </a:xfrm>
              <a:prstGeom prst="rect">
                <a:avLst/>
              </a:prstGeom>
              <a:solidFill>
                <a:srgbClr val="FEF3C7"/>
              </a:solidFill>
              <a:ln cap="flat" cmpd="sng" w="12900">
                <a:solidFill>
                  <a:srgbClr val="F59E0B"/>
                </a:solidFill>
                <a:prstDash val="solid"/>
                <a:round/>
                <a:headEnd len="sm" w="sm" type="none"/>
                <a:tailEnd len="sm" w="sm" type="none"/>
              </a:ln>
            </p:spPr>
            <p:txBody>
              <a:bodyPr anchorCtr="0" anchor="ctr" bIns="116150" lIns="116150" spcFirstLastPara="1" rIns="116150" wrap="square" tIns="116150">
                <a:noAutofit/>
              </a:bodyPr>
              <a:lstStyle/>
              <a:p>
                <a:pPr indent="0" lvl="0" marL="0" rtl="0" algn="l">
                  <a:spcBef>
                    <a:spcPts val="0"/>
                  </a:spcBef>
                  <a:spcAft>
                    <a:spcPts val="0"/>
                  </a:spcAft>
                  <a:buNone/>
                </a:pPr>
                <a:r>
                  <a:t/>
                </a:r>
                <a:endParaRPr sz="2200"/>
              </a:p>
            </p:txBody>
          </p:sp>
          <p:sp>
            <p:nvSpPr>
              <p:cNvPr id="1115" name="Google Shape;1115;g3e1c05bb847_1_50"/>
              <p:cNvSpPr/>
              <p:nvPr/>
            </p:nvSpPr>
            <p:spPr>
              <a:xfrm>
                <a:off x="548640" y="4572000"/>
                <a:ext cx="81381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A5200"/>
                  </a:buClr>
                  <a:buSzPts val="1270"/>
                  <a:buFont typeface="Calibri"/>
                  <a:buNone/>
                </a:pPr>
                <a:r>
                  <a:rPr lang="en-US" sz="1870">
                    <a:solidFill>
                      <a:srgbClr val="7A5200"/>
                    </a:solidFill>
                    <a:latin typeface="Calibri"/>
                    <a:ea typeface="Calibri"/>
                    <a:cs typeface="Calibri"/>
                    <a:sym typeface="Calibri"/>
                  </a:rPr>
                  <a:t>Para regresion l</a:t>
                </a:r>
                <a:r>
                  <a:rPr lang="en-US" sz="1870">
                    <a:solidFill>
                      <a:srgbClr val="7A5200"/>
                    </a:solidFill>
                    <a:latin typeface="Calibri"/>
                    <a:ea typeface="Calibri"/>
                    <a:cs typeface="Calibri"/>
                    <a:sym typeface="Calibri"/>
                  </a:rPr>
                  <a:t>o</a:t>
                </a:r>
                <a:r>
                  <a:rPr lang="en-US" sz="1870">
                    <a:solidFill>
                      <a:srgbClr val="7A5200"/>
                    </a:solidFill>
                    <a:latin typeface="Calibri"/>
                    <a:ea typeface="Calibri"/>
                    <a:cs typeface="Calibri"/>
                    <a:sym typeface="Calibri"/>
                  </a:rPr>
                  <a:t>gistica: Dataset: 500 registros  |  130 Muertos (26%) + 370 Heridos (74%)  |  Train 400 / Test 100  |  Exactitud 89%  |  sin SMOTE</a:t>
                </a:r>
                <a:endParaRPr b="0" i="0" sz="1870" u="none" cap="none" strike="noStrike">
                  <a:solidFill>
                    <a:srgbClr val="000000"/>
                  </a:solidFill>
                  <a:latin typeface="Calibri"/>
                  <a:ea typeface="Calibri"/>
                  <a:cs typeface="Calibri"/>
                  <a:sym typeface="Calibri"/>
                </a:endParaRPr>
              </a:p>
            </p:txBody>
          </p:sp>
        </p:grpSp>
      </p:grpSp>
      <p:grpSp>
        <p:nvGrpSpPr>
          <p:cNvPr id="1116" name="Google Shape;1116;g3e1c05bb847_1_50"/>
          <p:cNvGrpSpPr/>
          <p:nvPr/>
        </p:nvGrpSpPr>
        <p:grpSpPr>
          <a:xfrm>
            <a:off x="451275" y="3929699"/>
            <a:ext cx="11487300" cy="990300"/>
            <a:chOff x="451275" y="3269631"/>
            <a:chExt cx="11487300" cy="990300"/>
          </a:xfrm>
        </p:grpSpPr>
        <p:sp>
          <p:nvSpPr>
            <p:cNvPr id="1117" name="Google Shape;1117;g3e1c05bb847_1_50"/>
            <p:cNvSpPr/>
            <p:nvPr/>
          </p:nvSpPr>
          <p:spPr>
            <a:xfrm>
              <a:off x="451275" y="3269631"/>
              <a:ext cx="11487300" cy="9903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18" name="Google Shape;1118;g3e1c05bb847_1_50"/>
            <p:cNvPicPr preferRelativeResize="0"/>
            <p:nvPr/>
          </p:nvPicPr>
          <p:blipFill rotWithShape="1">
            <a:blip r:embed="rId5">
              <a:alphaModFix/>
            </a:blip>
            <a:srcRect b="0" l="-1771" r="-1771" t="0"/>
            <a:stretch/>
          </p:blipFill>
          <p:spPr>
            <a:xfrm>
              <a:off x="549078" y="3474378"/>
              <a:ext cx="451064" cy="580800"/>
            </a:xfrm>
            <a:prstGeom prst="rect">
              <a:avLst/>
            </a:prstGeom>
            <a:noFill/>
            <a:ln>
              <a:noFill/>
            </a:ln>
          </p:spPr>
        </p:pic>
        <p:grpSp>
          <p:nvGrpSpPr>
            <p:cNvPr id="1119" name="Google Shape;1119;g3e1c05bb847_1_50"/>
            <p:cNvGrpSpPr/>
            <p:nvPr/>
          </p:nvGrpSpPr>
          <p:grpSpPr>
            <a:xfrm>
              <a:off x="1153232" y="3525342"/>
              <a:ext cx="10570293" cy="580781"/>
              <a:chOff x="411480" y="4572000"/>
              <a:chExt cx="8321100" cy="457200"/>
            </a:xfrm>
          </p:grpSpPr>
          <p:sp>
            <p:nvSpPr>
              <p:cNvPr id="1120" name="Google Shape;1120;g3e1c05bb847_1_50"/>
              <p:cNvSpPr/>
              <p:nvPr/>
            </p:nvSpPr>
            <p:spPr>
              <a:xfrm>
                <a:off x="411480" y="4572000"/>
                <a:ext cx="8321100" cy="457200"/>
              </a:xfrm>
              <a:prstGeom prst="rect">
                <a:avLst/>
              </a:prstGeom>
              <a:solidFill>
                <a:srgbClr val="FEF3C7"/>
              </a:solidFill>
              <a:ln cap="flat" cmpd="sng" w="12900">
                <a:solidFill>
                  <a:srgbClr val="F59E0B"/>
                </a:solidFill>
                <a:prstDash val="solid"/>
                <a:round/>
                <a:headEnd len="sm" w="sm" type="none"/>
                <a:tailEnd len="sm" w="sm" type="none"/>
              </a:ln>
            </p:spPr>
            <p:txBody>
              <a:bodyPr anchorCtr="0" anchor="ctr" bIns="116150" lIns="116150" spcFirstLastPara="1" rIns="116150" wrap="square" tIns="116150">
                <a:noAutofit/>
              </a:bodyPr>
              <a:lstStyle/>
              <a:p>
                <a:pPr indent="0" lvl="0" marL="0" rtl="0" algn="l">
                  <a:spcBef>
                    <a:spcPts val="0"/>
                  </a:spcBef>
                  <a:spcAft>
                    <a:spcPts val="0"/>
                  </a:spcAft>
                  <a:buNone/>
                </a:pPr>
                <a:r>
                  <a:t/>
                </a:r>
                <a:endParaRPr sz="1700"/>
              </a:p>
            </p:txBody>
          </p:sp>
          <p:sp>
            <p:nvSpPr>
              <p:cNvPr id="1121" name="Google Shape;1121;g3e1c05bb847_1_50"/>
              <p:cNvSpPr/>
              <p:nvPr/>
            </p:nvSpPr>
            <p:spPr>
              <a:xfrm>
                <a:off x="548640" y="4572000"/>
                <a:ext cx="81381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870">
                    <a:solidFill>
                      <a:srgbClr val="7A5200"/>
                    </a:solidFill>
                    <a:latin typeface="Calibri"/>
                    <a:ea typeface="Calibri"/>
                    <a:cs typeface="Calibri"/>
                    <a:sym typeface="Calibri"/>
                  </a:rPr>
                  <a:t>Sin SMOTE: mejora la proporción de Muertos al 26%, se eliminó la dependencia de datos sintéticos, mejorando la validez.</a:t>
                </a:r>
                <a:endParaRPr sz="1870">
                  <a:solidFill>
                    <a:srgbClr val="7A5200"/>
                  </a:solidFill>
                  <a:latin typeface="Calibri"/>
                  <a:ea typeface="Calibri"/>
                  <a:cs typeface="Calibri"/>
                  <a:sym typeface="Calibri"/>
                </a:endParaRPr>
              </a:p>
            </p:txBody>
          </p:sp>
        </p:grpSp>
      </p:grpSp>
      <p:grpSp>
        <p:nvGrpSpPr>
          <p:cNvPr id="1122" name="Google Shape;1122;g3e1c05bb847_1_50"/>
          <p:cNvGrpSpPr/>
          <p:nvPr/>
        </p:nvGrpSpPr>
        <p:grpSpPr>
          <a:xfrm>
            <a:off x="451275" y="5146374"/>
            <a:ext cx="11487300" cy="990300"/>
            <a:chOff x="451275" y="3269631"/>
            <a:chExt cx="11487300" cy="990300"/>
          </a:xfrm>
        </p:grpSpPr>
        <p:sp>
          <p:nvSpPr>
            <p:cNvPr id="1123" name="Google Shape;1123;g3e1c05bb847_1_50"/>
            <p:cNvSpPr/>
            <p:nvPr/>
          </p:nvSpPr>
          <p:spPr>
            <a:xfrm>
              <a:off x="451275" y="3269631"/>
              <a:ext cx="11487300" cy="9903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24" name="Google Shape;1124;g3e1c05bb847_1_50"/>
            <p:cNvPicPr preferRelativeResize="0"/>
            <p:nvPr/>
          </p:nvPicPr>
          <p:blipFill rotWithShape="1">
            <a:blip r:embed="rId5">
              <a:alphaModFix/>
            </a:blip>
            <a:srcRect b="0" l="-1771" r="-1771" t="0"/>
            <a:stretch/>
          </p:blipFill>
          <p:spPr>
            <a:xfrm>
              <a:off x="549078" y="3474378"/>
              <a:ext cx="451064" cy="580800"/>
            </a:xfrm>
            <a:prstGeom prst="rect">
              <a:avLst/>
            </a:prstGeom>
            <a:noFill/>
            <a:ln>
              <a:noFill/>
            </a:ln>
          </p:spPr>
        </p:pic>
        <p:grpSp>
          <p:nvGrpSpPr>
            <p:cNvPr id="1125" name="Google Shape;1125;g3e1c05bb847_1_50"/>
            <p:cNvGrpSpPr/>
            <p:nvPr/>
          </p:nvGrpSpPr>
          <p:grpSpPr>
            <a:xfrm>
              <a:off x="1153232" y="3525342"/>
              <a:ext cx="10570293" cy="580781"/>
              <a:chOff x="411480" y="4572000"/>
              <a:chExt cx="8321100" cy="457200"/>
            </a:xfrm>
          </p:grpSpPr>
          <p:sp>
            <p:nvSpPr>
              <p:cNvPr id="1126" name="Google Shape;1126;g3e1c05bb847_1_50"/>
              <p:cNvSpPr/>
              <p:nvPr/>
            </p:nvSpPr>
            <p:spPr>
              <a:xfrm>
                <a:off x="411480" y="4572000"/>
                <a:ext cx="8321100" cy="457200"/>
              </a:xfrm>
              <a:prstGeom prst="rect">
                <a:avLst/>
              </a:prstGeom>
              <a:solidFill>
                <a:srgbClr val="FEF3C7"/>
              </a:solidFill>
              <a:ln cap="flat" cmpd="sng" w="12900">
                <a:solidFill>
                  <a:srgbClr val="F59E0B"/>
                </a:solidFill>
                <a:prstDash val="solid"/>
                <a:round/>
                <a:headEnd len="sm" w="sm" type="none"/>
                <a:tailEnd len="sm" w="sm" type="none"/>
              </a:ln>
            </p:spPr>
            <p:txBody>
              <a:bodyPr anchorCtr="0" anchor="ctr" bIns="116150" lIns="116150" spcFirstLastPara="1" rIns="116150" wrap="square" tIns="116150">
                <a:noAutofit/>
              </a:bodyPr>
              <a:lstStyle/>
              <a:p>
                <a:pPr indent="0" lvl="0" marL="0" rtl="0" algn="l">
                  <a:spcBef>
                    <a:spcPts val="0"/>
                  </a:spcBef>
                  <a:spcAft>
                    <a:spcPts val="0"/>
                  </a:spcAft>
                  <a:buNone/>
                </a:pPr>
                <a:r>
                  <a:t/>
                </a:r>
                <a:endParaRPr sz="1700"/>
              </a:p>
            </p:txBody>
          </p:sp>
          <p:sp>
            <p:nvSpPr>
              <p:cNvPr id="1127" name="Google Shape;1127;g3e1c05bb847_1_50"/>
              <p:cNvSpPr/>
              <p:nvPr/>
            </p:nvSpPr>
            <p:spPr>
              <a:xfrm>
                <a:off x="548640" y="4572000"/>
                <a:ext cx="81381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US" sz="1870">
                    <a:solidFill>
                      <a:srgbClr val="7A5200"/>
                    </a:solidFill>
                    <a:latin typeface="Calibri"/>
                    <a:ea typeface="Calibri"/>
                    <a:cs typeface="Calibri"/>
                    <a:sym typeface="Calibri"/>
                  </a:rPr>
                  <a:t>El mejor modelo es el de regresión logística, utilizando el dataset de 500 registro, teniendo en cuenta que esta simplificacion del dataset buscar predecir las muertes.</a:t>
                </a:r>
                <a:endParaRPr sz="1870">
                  <a:solidFill>
                    <a:srgbClr val="7A5200"/>
                  </a:solidFill>
                  <a:latin typeface="Calibri"/>
                  <a:ea typeface="Calibri"/>
                  <a:cs typeface="Calibri"/>
                  <a:sym typeface="Calibri"/>
                </a:endParaRPr>
              </a:p>
            </p:txBody>
          </p:sp>
        </p:gr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2" name="Shape 1132"/>
        <p:cNvGrpSpPr/>
        <p:nvPr/>
      </p:nvGrpSpPr>
      <p:grpSpPr>
        <a:xfrm>
          <a:off x="0" y="0"/>
          <a:ext cx="0" cy="0"/>
          <a:chOff x="0" y="0"/>
          <a:chExt cx="0" cy="0"/>
        </a:xfrm>
      </p:grpSpPr>
      <p:sp>
        <p:nvSpPr>
          <p:cNvPr id="1133" name="Google Shape;1133;g3e1bc356872_0_0"/>
          <p:cNvSpPr/>
          <p:nvPr/>
        </p:nvSpPr>
        <p:spPr>
          <a:xfrm>
            <a:off x="0" y="0"/>
            <a:ext cx="12191700" cy="6858000"/>
          </a:xfrm>
          <a:prstGeom prst="rect">
            <a:avLst/>
          </a:prstGeom>
          <a:solidFill>
            <a:srgbClr val="0F172A"/>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preencoded.png" id="1134" name="Google Shape;1134;g3e1bc356872_0_0"/>
          <p:cNvPicPr preferRelativeResize="0"/>
          <p:nvPr/>
        </p:nvPicPr>
        <p:blipFill rotWithShape="1">
          <a:blip r:embed="rId3">
            <a:alphaModFix/>
          </a:blip>
          <a:srcRect b="0" l="0" r="0" t="0"/>
          <a:stretch/>
        </p:blipFill>
        <p:spPr>
          <a:xfrm>
            <a:off x="6" y="0"/>
            <a:ext cx="12191694" cy="6858001"/>
          </a:xfrm>
          <a:prstGeom prst="rect">
            <a:avLst/>
          </a:prstGeom>
          <a:noFill/>
          <a:ln>
            <a:noFill/>
          </a:ln>
        </p:spPr>
      </p:pic>
      <p:sp>
        <p:nvSpPr>
          <p:cNvPr id="1135" name="Google Shape;1135;g3e1bc356872_0_0"/>
          <p:cNvSpPr txBox="1"/>
          <p:nvPr/>
        </p:nvSpPr>
        <p:spPr>
          <a:xfrm>
            <a:off x="981269" y="317745"/>
            <a:ext cx="4344300" cy="400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2100"/>
              <a:buFont typeface="Montserrat"/>
              <a:buNone/>
            </a:pPr>
            <a:r>
              <a:rPr b="1" i="0" lang="en-US" sz="2500" u="none" cap="none" strike="noStrike">
                <a:solidFill>
                  <a:srgbClr val="FFFFFF"/>
                </a:solidFill>
                <a:latin typeface="Montserrat"/>
                <a:ea typeface="Montserrat"/>
                <a:cs typeface="Montserrat"/>
                <a:sym typeface="Montserrat"/>
              </a:rPr>
              <a:t> </a:t>
            </a:r>
            <a:r>
              <a:rPr b="1" lang="en-US" sz="2500">
                <a:solidFill>
                  <a:srgbClr val="FFFFFF"/>
                </a:solidFill>
                <a:latin typeface="Montserrat"/>
                <a:ea typeface="Montserrat"/>
                <a:cs typeface="Montserrat"/>
                <a:sym typeface="Montserrat"/>
              </a:rPr>
              <a:t>Referencias</a:t>
            </a:r>
            <a:endParaRPr b="0" i="0" sz="2500" u="none" cap="none" strike="noStrike">
              <a:solidFill>
                <a:schemeClr val="dk1"/>
              </a:solidFill>
              <a:latin typeface="Calibri"/>
              <a:ea typeface="Calibri"/>
              <a:cs typeface="Calibri"/>
              <a:sym typeface="Calibri"/>
            </a:endParaRPr>
          </a:p>
        </p:txBody>
      </p:sp>
      <p:pic>
        <p:nvPicPr>
          <p:cNvPr descr="preencoded.png" id="1136" name="Google Shape;1136;g3e1bc356872_0_0"/>
          <p:cNvPicPr preferRelativeResize="0"/>
          <p:nvPr/>
        </p:nvPicPr>
        <p:blipFill rotWithShape="1">
          <a:blip r:embed="rId4">
            <a:alphaModFix/>
          </a:blip>
          <a:srcRect b="0" l="-885" r="-875" t="0"/>
          <a:stretch/>
        </p:blipFill>
        <p:spPr>
          <a:xfrm>
            <a:off x="381301" y="252375"/>
            <a:ext cx="491617" cy="552100"/>
          </a:xfrm>
          <a:prstGeom prst="rect">
            <a:avLst/>
          </a:prstGeom>
          <a:noFill/>
          <a:ln>
            <a:noFill/>
          </a:ln>
        </p:spPr>
      </p:pic>
      <p:sp>
        <p:nvSpPr>
          <p:cNvPr id="1137" name="Google Shape;1137;g3e1bc356872_0_0"/>
          <p:cNvSpPr/>
          <p:nvPr/>
        </p:nvSpPr>
        <p:spPr>
          <a:xfrm>
            <a:off x="381305" y="6476695"/>
            <a:ext cx="11430000" cy="9000"/>
          </a:xfrm>
          <a:prstGeom prst="rect">
            <a:avLst/>
          </a:prstGeom>
          <a:solidFill>
            <a:srgbClr val="FFFFFF">
              <a:alpha val="10200"/>
            </a:srgbClr>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8" name="Google Shape;1138;g3e1bc356872_0_0"/>
          <p:cNvSpPr/>
          <p:nvPr/>
        </p:nvSpPr>
        <p:spPr>
          <a:xfrm>
            <a:off x="1217723" y="952825"/>
            <a:ext cx="9918600" cy="14100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9" name="Google Shape;1139;g3e1bc356872_0_0"/>
          <p:cNvSpPr txBox="1"/>
          <p:nvPr/>
        </p:nvSpPr>
        <p:spPr>
          <a:xfrm>
            <a:off x="3163646" y="1210939"/>
            <a:ext cx="5864400" cy="58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5"/>
              <a:buFont typeface="Montserrat"/>
              <a:buNone/>
            </a:pPr>
            <a:r>
              <a:rPr b="1" lang="en-US" sz="2536">
                <a:solidFill>
                  <a:srgbClr val="FFFFFF"/>
                </a:solidFill>
                <a:latin typeface="Montserrat"/>
                <a:ea typeface="Montserrat"/>
                <a:cs typeface="Montserrat"/>
                <a:sym typeface="Montserrat"/>
              </a:rPr>
              <a:t>Secretaría de movilidad envigado</a:t>
            </a:r>
            <a:endParaRPr b="0" i="0" sz="2036" u="none" cap="none" strike="noStrike">
              <a:solidFill>
                <a:schemeClr val="dk1"/>
              </a:solidFill>
              <a:latin typeface="Calibri"/>
              <a:ea typeface="Calibri"/>
              <a:cs typeface="Calibri"/>
              <a:sym typeface="Calibri"/>
            </a:endParaRPr>
          </a:p>
        </p:txBody>
      </p:sp>
      <p:sp>
        <p:nvSpPr>
          <p:cNvPr id="1140" name="Google Shape;1140;g3e1bc356872_0_0"/>
          <p:cNvSpPr txBox="1"/>
          <p:nvPr/>
        </p:nvSpPr>
        <p:spPr>
          <a:xfrm>
            <a:off x="3246750" y="1704206"/>
            <a:ext cx="1513500" cy="400500"/>
          </a:xfrm>
          <a:prstGeom prst="rect">
            <a:avLst/>
          </a:prstGeom>
          <a:noFill/>
          <a:ln>
            <a:noFill/>
          </a:ln>
        </p:spPr>
        <p:txBody>
          <a:bodyPr anchorCtr="0" anchor="ctr" bIns="0" lIns="0" spcFirstLastPara="1" rIns="0" wrap="square" tIns="0">
            <a:noAutofit/>
          </a:bodyPr>
          <a:lstStyle/>
          <a:p>
            <a:pPr indent="-355600" lvl="0" marL="457200" marR="0" rtl="0" algn="l">
              <a:lnSpc>
                <a:spcPct val="100000"/>
              </a:lnSpc>
              <a:spcBef>
                <a:spcPts val="0"/>
              </a:spcBef>
              <a:spcAft>
                <a:spcPts val="0"/>
              </a:spcAft>
              <a:buClr>
                <a:srgbClr val="FF6F00"/>
              </a:buClr>
              <a:buSzPts val="2000"/>
              <a:buFont typeface="Montserrat"/>
              <a:buChar char="●"/>
            </a:pPr>
            <a:r>
              <a:rPr b="1" lang="en-US" sz="2000">
                <a:solidFill>
                  <a:srgbClr val="FF6F00"/>
                </a:solidFill>
                <a:latin typeface="Montserrat"/>
                <a:ea typeface="Montserrat"/>
                <a:cs typeface="Montserrat"/>
                <a:sym typeface="Montserrat"/>
              </a:rPr>
              <a:t>Dataset</a:t>
            </a:r>
            <a:endParaRPr b="0" i="0" sz="3901" u="none" cap="none" strike="noStrike">
              <a:solidFill>
                <a:schemeClr val="dk1"/>
              </a:solidFill>
              <a:latin typeface="Calibri"/>
              <a:ea typeface="Calibri"/>
              <a:cs typeface="Calibri"/>
              <a:sym typeface="Calibri"/>
            </a:endParaRPr>
          </a:p>
        </p:txBody>
      </p:sp>
      <p:grpSp>
        <p:nvGrpSpPr>
          <p:cNvPr id="1141" name="Google Shape;1141;g3e1bc356872_0_0"/>
          <p:cNvGrpSpPr/>
          <p:nvPr/>
        </p:nvGrpSpPr>
        <p:grpSpPr>
          <a:xfrm>
            <a:off x="1364635" y="1195614"/>
            <a:ext cx="964765" cy="964765"/>
            <a:chOff x="8264347" y="2671877"/>
            <a:chExt cx="381300" cy="381300"/>
          </a:xfrm>
        </p:grpSpPr>
        <p:sp>
          <p:nvSpPr>
            <p:cNvPr id="1142" name="Google Shape;1142;g3e1bc356872_0_0"/>
            <p:cNvSpPr/>
            <p:nvPr/>
          </p:nvSpPr>
          <p:spPr>
            <a:xfrm>
              <a:off x="8264347" y="2671877"/>
              <a:ext cx="381300" cy="381300"/>
            </a:xfrm>
            <a:prstGeom prst="ellipse">
              <a:avLst/>
            </a:prstGeom>
            <a:solidFill>
              <a:srgbClr val="FFFFFF">
                <a:alpha val="10200"/>
              </a:srgbClr>
            </a:solidFill>
            <a:ln cap="flat" cmpd="sng" w="72250">
              <a:solidFill>
                <a:srgbClr val="FFFFFF">
                  <a:alpha val="0"/>
                </a:srgbClr>
              </a:solidFill>
              <a:prstDash val="solid"/>
              <a:round/>
              <a:headEnd len="sm" w="sm" type="none"/>
              <a:tailEnd len="sm" w="sm" type="none"/>
            </a:ln>
          </p:spPr>
          <p:txBody>
            <a:bodyPr anchorCtr="0" anchor="t" bIns="115625" lIns="231325" spcFirstLastPara="1" rIns="231325" wrap="square" tIns="115625">
              <a:noAutofit/>
            </a:bodyPr>
            <a:lstStyle/>
            <a:p>
              <a:pPr indent="0" lvl="0" marL="0" marR="0" rtl="0" algn="l">
                <a:lnSpc>
                  <a:spcPct val="100000"/>
                </a:lnSpc>
                <a:spcBef>
                  <a:spcPts val="0"/>
                </a:spcBef>
                <a:spcAft>
                  <a:spcPts val="0"/>
                </a:spcAft>
                <a:buClr>
                  <a:srgbClr val="000000"/>
                </a:buClr>
                <a:buSzPts val="4554"/>
                <a:buFont typeface="Arial"/>
                <a:buNone/>
              </a:pPr>
              <a:r>
                <a:t/>
              </a:r>
              <a:endParaRPr b="0" i="0" sz="4554" u="none" cap="none" strike="noStrike">
                <a:solidFill>
                  <a:schemeClr val="dk1"/>
                </a:solidFill>
                <a:latin typeface="Calibri"/>
                <a:ea typeface="Calibri"/>
                <a:cs typeface="Calibri"/>
                <a:sym typeface="Calibri"/>
              </a:endParaRPr>
            </a:p>
          </p:txBody>
        </p:sp>
        <p:pic>
          <p:nvPicPr>
            <p:cNvPr descr="preencoded.png" id="1143" name="Google Shape;1143;g3e1bc356872_0_0"/>
            <p:cNvPicPr preferRelativeResize="0"/>
            <p:nvPr/>
          </p:nvPicPr>
          <p:blipFill rotWithShape="1">
            <a:blip r:embed="rId5">
              <a:alphaModFix/>
            </a:blip>
            <a:srcRect b="0" l="0" r="0" t="0"/>
            <a:stretch/>
          </p:blipFill>
          <p:spPr>
            <a:xfrm>
              <a:off x="8369503" y="2776118"/>
              <a:ext cx="171907" cy="171907"/>
            </a:xfrm>
            <a:prstGeom prst="rect">
              <a:avLst/>
            </a:prstGeom>
            <a:noFill/>
            <a:ln cap="flat" cmpd="sng" w="72250">
              <a:solidFill>
                <a:srgbClr val="FFFFFF"/>
              </a:solidFill>
              <a:prstDash val="solid"/>
              <a:round/>
              <a:headEnd len="sm" w="sm" type="none"/>
              <a:tailEnd len="sm" w="sm" type="none"/>
            </a:ln>
          </p:spPr>
        </p:pic>
      </p:grpSp>
      <p:grpSp>
        <p:nvGrpSpPr>
          <p:cNvPr id="1144" name="Google Shape;1144;g3e1bc356872_0_0"/>
          <p:cNvGrpSpPr/>
          <p:nvPr/>
        </p:nvGrpSpPr>
        <p:grpSpPr>
          <a:xfrm>
            <a:off x="1217726" y="4879700"/>
            <a:ext cx="9918652" cy="1410000"/>
            <a:chOff x="381295" y="952800"/>
            <a:chExt cx="7444200" cy="1410000"/>
          </a:xfrm>
        </p:grpSpPr>
        <p:sp>
          <p:nvSpPr>
            <p:cNvPr id="1145" name="Google Shape;1145;g3e1bc356872_0_0"/>
            <p:cNvSpPr/>
            <p:nvPr/>
          </p:nvSpPr>
          <p:spPr>
            <a:xfrm>
              <a:off x="381295" y="952800"/>
              <a:ext cx="7444200" cy="14100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6" name="Google Shape;1146;g3e1bc356872_0_0"/>
            <p:cNvSpPr txBox="1"/>
            <p:nvPr/>
          </p:nvSpPr>
          <p:spPr>
            <a:xfrm>
              <a:off x="1825053" y="1024245"/>
              <a:ext cx="5864400" cy="58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1305"/>
                <a:buFont typeface="Montserrat"/>
                <a:buNone/>
              </a:pPr>
              <a:r>
                <a:rPr b="1" lang="en-US" sz="2536">
                  <a:solidFill>
                    <a:srgbClr val="FFFFFF"/>
                  </a:solidFill>
                  <a:latin typeface="Montserrat"/>
                  <a:ea typeface="Montserrat"/>
                  <a:cs typeface="Montserrat"/>
                  <a:sym typeface="Montserrat"/>
                </a:rPr>
                <a:t>Repositorios</a:t>
              </a:r>
              <a:endParaRPr b="0" i="0" sz="2036" u="none" cap="none" strike="noStrike">
                <a:solidFill>
                  <a:schemeClr val="dk1"/>
                </a:solidFill>
                <a:latin typeface="Calibri"/>
                <a:ea typeface="Calibri"/>
                <a:cs typeface="Calibri"/>
                <a:sym typeface="Calibri"/>
              </a:endParaRPr>
            </a:p>
          </p:txBody>
        </p:sp>
        <p:sp>
          <p:nvSpPr>
            <p:cNvPr id="1147" name="Google Shape;1147;g3e1bc356872_0_0"/>
            <p:cNvSpPr txBox="1"/>
            <p:nvPr/>
          </p:nvSpPr>
          <p:spPr>
            <a:xfrm>
              <a:off x="1836439" y="1496630"/>
              <a:ext cx="5157300" cy="706800"/>
            </a:xfrm>
            <a:prstGeom prst="rect">
              <a:avLst/>
            </a:prstGeom>
            <a:noFill/>
            <a:ln>
              <a:noFill/>
            </a:ln>
          </p:spPr>
          <p:txBody>
            <a:bodyPr anchorCtr="0" anchor="ctr" bIns="0" lIns="0" spcFirstLastPara="1" rIns="0" wrap="square" tIns="0">
              <a:noAutofit/>
            </a:bodyPr>
            <a:lstStyle/>
            <a:p>
              <a:pPr indent="-355600" lvl="0" marL="457200" marR="0" rtl="0" algn="l">
                <a:lnSpc>
                  <a:spcPct val="100000"/>
                </a:lnSpc>
                <a:spcBef>
                  <a:spcPts val="0"/>
                </a:spcBef>
                <a:spcAft>
                  <a:spcPts val="0"/>
                </a:spcAft>
                <a:buClr>
                  <a:srgbClr val="FF6F00"/>
                </a:buClr>
                <a:buSzPts val="2000"/>
                <a:buFont typeface="Montserrat"/>
                <a:buChar char="●"/>
              </a:pPr>
              <a:r>
                <a:rPr b="1" lang="en-US" sz="2000">
                  <a:solidFill>
                    <a:srgbClr val="FF6F00"/>
                  </a:solidFill>
                  <a:latin typeface="Montserrat"/>
                  <a:ea typeface="Montserrat"/>
                  <a:cs typeface="Montserrat"/>
                  <a:sym typeface="Montserrat"/>
                </a:rPr>
                <a:t>Github.com/mrbedoya/ml-2026</a:t>
              </a:r>
              <a:endParaRPr b="1" sz="2000">
                <a:solidFill>
                  <a:srgbClr val="FF6F00"/>
                </a:solidFill>
                <a:latin typeface="Montserrat"/>
                <a:ea typeface="Montserrat"/>
                <a:cs typeface="Montserrat"/>
                <a:sym typeface="Montserrat"/>
              </a:endParaRPr>
            </a:p>
            <a:p>
              <a:pPr indent="-355600" lvl="0" marL="457200" rtl="0" algn="l">
                <a:spcBef>
                  <a:spcPts val="0"/>
                </a:spcBef>
                <a:spcAft>
                  <a:spcPts val="0"/>
                </a:spcAft>
                <a:buClr>
                  <a:srgbClr val="FF6F00"/>
                </a:buClr>
                <a:buSzPts val="2000"/>
                <a:buFont typeface="Montserrat"/>
                <a:buChar char="●"/>
              </a:pPr>
              <a:r>
                <a:rPr b="1" lang="en-US" sz="2000">
                  <a:solidFill>
                    <a:srgbClr val="FF6F00"/>
                  </a:solidFill>
                  <a:latin typeface="Montserrat"/>
                  <a:ea typeface="Montserrat"/>
                  <a:cs typeface="Montserrat"/>
                  <a:sym typeface="Montserrat"/>
                </a:rPr>
                <a:t>G</a:t>
              </a:r>
              <a:r>
                <a:rPr b="1" lang="en-US" sz="2000">
                  <a:solidFill>
                    <a:srgbClr val="FF6F00"/>
                  </a:solidFill>
                  <a:latin typeface="Montserrat"/>
                  <a:ea typeface="Montserrat"/>
                  <a:cs typeface="Montserrat"/>
                  <a:sym typeface="Montserrat"/>
                </a:rPr>
                <a:t>ithub.com/yorbisUdeA/udea</a:t>
              </a:r>
              <a:endParaRPr b="1" sz="2000">
                <a:solidFill>
                  <a:srgbClr val="FF6F00"/>
                </a:solidFill>
                <a:latin typeface="Montserrat"/>
                <a:ea typeface="Montserrat"/>
                <a:cs typeface="Montserrat"/>
                <a:sym typeface="Montserrat"/>
              </a:endParaRPr>
            </a:p>
          </p:txBody>
        </p:sp>
      </p:grpSp>
      <p:sp>
        <p:nvSpPr>
          <p:cNvPr id="1148" name="Google Shape;1148;g3e1bc356872_0_0"/>
          <p:cNvSpPr/>
          <p:nvPr/>
        </p:nvSpPr>
        <p:spPr>
          <a:xfrm>
            <a:off x="1217725" y="2970525"/>
            <a:ext cx="9918600" cy="1410000"/>
          </a:xfrm>
          <a:prstGeom prst="roundRect">
            <a:avLst>
              <a:gd fmla="val 10516" name="adj"/>
            </a:avLst>
          </a:prstGeom>
          <a:solidFill>
            <a:srgbClr val="FFFFFF">
              <a:alpha val="10200"/>
            </a:srgbClr>
          </a:solidFill>
          <a:ln cap="flat" cmpd="sng" w="12700">
            <a:solidFill>
              <a:srgbClr val="FFFFFF">
                <a:alpha val="20000"/>
              </a:srgbClr>
            </a:solidFill>
            <a:prstDash val="solid"/>
            <a:round/>
            <a:headEnd len="sm" w="sm" type="none"/>
            <a:tailEnd len="sm" w="sm" type="none"/>
          </a:ln>
          <a:effectLst>
            <a:outerShdw blurRad="63500" rotWithShape="0" algn="bl" dir="16200000" dist="38100">
              <a:srgbClr val="000000">
                <a:alpha val="10200"/>
              </a:srgbClr>
            </a:outerShdw>
          </a:effectLst>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9" name="Google Shape;1149;g3e1bc356872_0_0"/>
          <p:cNvSpPr txBox="1"/>
          <p:nvPr/>
        </p:nvSpPr>
        <p:spPr>
          <a:xfrm>
            <a:off x="3163641" y="3090646"/>
            <a:ext cx="5864400" cy="580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2536">
                <a:solidFill>
                  <a:srgbClr val="FFFFFF"/>
                </a:solidFill>
                <a:latin typeface="Montserrat"/>
                <a:ea typeface="Montserrat"/>
                <a:cs typeface="Montserrat"/>
                <a:sym typeface="Montserrat"/>
              </a:rPr>
              <a:t>Entornos de desarrollo</a:t>
            </a:r>
            <a:endParaRPr b="1" sz="2536">
              <a:solidFill>
                <a:srgbClr val="FFFFFF"/>
              </a:solidFill>
              <a:latin typeface="Montserrat"/>
              <a:ea typeface="Montserrat"/>
              <a:cs typeface="Montserrat"/>
              <a:sym typeface="Montserrat"/>
            </a:endParaRPr>
          </a:p>
        </p:txBody>
      </p:sp>
      <p:sp>
        <p:nvSpPr>
          <p:cNvPr id="1150" name="Google Shape;1150;g3e1bc356872_0_0"/>
          <p:cNvSpPr txBox="1"/>
          <p:nvPr/>
        </p:nvSpPr>
        <p:spPr>
          <a:xfrm>
            <a:off x="3163651" y="3548975"/>
            <a:ext cx="5698200" cy="674400"/>
          </a:xfrm>
          <a:prstGeom prst="rect">
            <a:avLst/>
          </a:prstGeom>
          <a:noFill/>
          <a:ln>
            <a:noFill/>
          </a:ln>
        </p:spPr>
        <p:txBody>
          <a:bodyPr anchorCtr="0" anchor="ctr" bIns="0" lIns="0" spcFirstLastPara="1" rIns="0" wrap="square" tIns="0">
            <a:noAutofit/>
          </a:bodyPr>
          <a:lstStyle/>
          <a:p>
            <a:pPr indent="-355600" lvl="0" marL="457200" marR="0" rtl="0" algn="l">
              <a:lnSpc>
                <a:spcPct val="100000"/>
              </a:lnSpc>
              <a:spcBef>
                <a:spcPts val="0"/>
              </a:spcBef>
              <a:spcAft>
                <a:spcPts val="0"/>
              </a:spcAft>
              <a:buClr>
                <a:srgbClr val="FF6F00"/>
              </a:buClr>
              <a:buSzPts val="2000"/>
              <a:buFont typeface="Montserrat"/>
              <a:buChar char="●"/>
            </a:pPr>
            <a:r>
              <a:rPr b="1" lang="en-US" sz="2000">
                <a:solidFill>
                  <a:srgbClr val="FF6F00"/>
                </a:solidFill>
                <a:latin typeface="Montserrat"/>
                <a:ea typeface="Montserrat"/>
                <a:cs typeface="Montserrat"/>
                <a:sym typeface="Montserrat"/>
              </a:rPr>
              <a:t>Google Colab</a:t>
            </a:r>
            <a:endParaRPr b="1" sz="2000">
              <a:solidFill>
                <a:srgbClr val="FF6F00"/>
              </a:solidFill>
              <a:latin typeface="Montserrat"/>
              <a:ea typeface="Montserrat"/>
              <a:cs typeface="Montserrat"/>
              <a:sym typeface="Montserrat"/>
            </a:endParaRPr>
          </a:p>
          <a:p>
            <a:pPr indent="-355600" lvl="0" marL="457200" marR="0" rtl="0" algn="l">
              <a:lnSpc>
                <a:spcPct val="100000"/>
              </a:lnSpc>
              <a:spcBef>
                <a:spcPts val="0"/>
              </a:spcBef>
              <a:spcAft>
                <a:spcPts val="0"/>
              </a:spcAft>
              <a:buClr>
                <a:srgbClr val="FF6F00"/>
              </a:buClr>
              <a:buSzPts val="2000"/>
              <a:buFont typeface="Montserrat"/>
              <a:buChar char="●"/>
            </a:pPr>
            <a:r>
              <a:rPr b="1" lang="en-US" sz="2000">
                <a:solidFill>
                  <a:srgbClr val="FF6F00"/>
                </a:solidFill>
                <a:latin typeface="Montserrat"/>
                <a:ea typeface="Montserrat"/>
                <a:cs typeface="Montserrat"/>
                <a:sym typeface="Montserrat"/>
              </a:rPr>
              <a:t>Visual Studio Code</a:t>
            </a:r>
            <a:endParaRPr b="1" sz="2000">
              <a:solidFill>
                <a:srgbClr val="FF6F00"/>
              </a:solidFill>
              <a:latin typeface="Montserrat"/>
              <a:ea typeface="Montserrat"/>
              <a:cs typeface="Montserrat"/>
              <a:sym typeface="Montserrat"/>
            </a:endParaRPr>
          </a:p>
        </p:txBody>
      </p:sp>
      <p:pic>
        <p:nvPicPr>
          <p:cNvPr id="1151" name="Google Shape;1151;g3e1bc356872_0_0"/>
          <p:cNvPicPr preferRelativeResize="0"/>
          <p:nvPr/>
        </p:nvPicPr>
        <p:blipFill>
          <a:blip r:embed="rId6">
            <a:alphaModFix/>
          </a:blip>
          <a:stretch>
            <a:fillRect/>
          </a:stretch>
        </p:blipFill>
        <p:spPr>
          <a:xfrm>
            <a:off x="1410516" y="3414116"/>
            <a:ext cx="964751" cy="552100"/>
          </a:xfrm>
          <a:prstGeom prst="rect">
            <a:avLst/>
          </a:prstGeom>
          <a:noFill/>
          <a:ln>
            <a:noFill/>
          </a:ln>
        </p:spPr>
      </p:pic>
      <p:pic>
        <p:nvPicPr>
          <p:cNvPr id="1152" name="Google Shape;1152;g3e1bc356872_0_0"/>
          <p:cNvPicPr preferRelativeResize="0"/>
          <p:nvPr/>
        </p:nvPicPr>
        <p:blipFill>
          <a:blip r:embed="rId7">
            <a:alphaModFix/>
          </a:blip>
          <a:stretch>
            <a:fillRect/>
          </a:stretch>
        </p:blipFill>
        <p:spPr>
          <a:xfrm>
            <a:off x="1482672" y="5140076"/>
            <a:ext cx="843387" cy="8433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2026-04-07T18:17:39Z</dcterms:created>
  <dc:creator>Visual Extract to PPTX Converter</dc:creator>
</cp:coreProperties>
</file>